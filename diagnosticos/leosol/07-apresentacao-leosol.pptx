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qualquer coisa, quero comecar pelo que esta certo. Voce fecha 35% de tudo que apresenta. Isso e bom. Muita gente em Franca nao chega perto disso.
Entao o problema da LEOSOL nao e vender. Voce sabe vender. O problema e o que acontece antes da proposta - e uma coisa que eu vou te mostrar aqui e que 40 dos seus 60 leads somem todo mes num pedaco do funil que ninguem na empresa mede.
E ja vou adiantar duas coisas. PRIMEIRA: eu nao vim te prometer os R$ 300 mil. Arrumar o funil nao te leva la, e eu vou te mostrar com numero onde ele para. SEGUNDA: o que eu quero desta reuniao nao e assinatura. E 45 minutos da sua agenda ate sexta.
[SE CONTESTAR '35% e pouco'] Pode ser que voce ache pouco, e a gente pode subir. Mas repara: e a unica etapa do seu funil que tem numero dos dois lados. As tres do meio nao tem.
[TRANSICAO] Deixa eu te mostrar a foto dos seus ultimos 30 dias.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e a sua empresa no ultimo mes, com os SEUS numeros, nao com os meus.
Sessenta leads. Vinte propostas. Sete contratos. R$ 140 mil faturados, R$ 42 mil de margem. Cada contrato seu vale R$ 6 mil de margem - esse numero a gente vai usar o resto da reuniao inteira.
E olha a faixa aqui embaixo, porque ela importa. Voce fecha 35%. Voce responde em 10 minutos, e no seu mercado so 7 em cada 100 empresas respondem em menos de 5 - isso e referencia do nosso material, nao e garantia, mas da a ordem de grandeza. E voce construiu seis anos de indicacao, que e o canal mais barato e que mais converte no setor inteiro.
Nada disso vai ser mexido. O que a gente vai mexer e no pedaco do meio.
[SE CONTESTAR 'esse mes foi fraco/forte'] Otimo que voce falou. Essa e literalmente uma das perguntas da call: esse mes foi tipico? Tudo o que eu mostro hoje e multiplicado por R$ 20 mil de ticket e 30% de margem. Se o mes foi atipico, todos os meus numeros se mexem junto - e ai eu refaco na sua frente.
[TRANSICAO] Agora, esse mesmo funil, com o que ele realmente tem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esta o buraco. Sessenta entram, vinte viram proposta. Quarenta somem.
E eu nao sei te dizer onde - nem voce. Porque essas tres caixinhas do meio nao existem em lugar nenhum. Nao tem planilha, nao tem sistema, nao tem anotacao.
E olha, isso nao e UM problema. Sao QUATRO problemas diferentes, e a gente nao sabe qual e o seu. Ou o cara nunca foi respondido de verdade. Ou foi respondido e nao tinha perfil - e ai o problema nem e seu, e de quem esta te mandando lead. Ou tinha perfil e nao avancou. Ou voce foi la, olhou o telhado e nao mandou proposta.
Quatro causas, quatro correcoes, quatro precos diferentes. Enquanto isso nao tiver numero, qualquer um que te venda solucao aqui esta chutando. Inclusive eu.
[PERGUNTAR E CALAR A BOCA] Chutando agora, sem pensar muito: dos 40 leads que nao viraram proposta no mes passado, quantos voce chegou a falar de verdade?
[SE CONTESTAR 'esses 40 sao so curioso'] Pode ser que voce esteja certo. E por isso que minha conta comeca em 10% de recuperacao e nao em 100% - eu ja parti do principio de que boa parte e lixo mesmo. Mas nem voce nem eu sabemos qual parte. E se der que eram todos curiosos, otimo: quer dizer que sua qualificacao funciona e o problema muda de lugar - vira geracao. Ai eu troco a prioridade do plano na sua frente.
[TRANSICAO] E tem um segundo buraco, que nao e de processo. E de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Voces sao cinco. E quem vende e um: voce.
Voce prospecta, responde, qualifica, visita, dimensiona, faz a proposta, negocia, fecha e ainda entrega para a obra. Mais tocar a empresa, o banco e a homologacao.
Vinte propostas por mes e uma por dia util, feita por essa pessoa. Nao e falta de vontade - e que o dia tem o tamanho que tem.
E tem uma conta que eu quero deixar aqui sem drama: se voce ficar duas semanas fora, por qualquer motivo, isso e uns R$ 70 mil de faturamento que nao acontecem. Nao porque a empresa e ruim. Porque nao tem ninguem que consiga pegar uma oportunidade no meio, ja que nada esta registrado.
[PERGUNTAR E CALAR A BOCA] Se amanha eu te tirasse toda a triagem da mao, quantas propostas por mes voce faria? 20 ainda, ou mais?
[SE CONTESTAR 'eu faco mais que 20 se precisar'] Isso e exatamente o que eu preciso saber, e e a pergunta que eu vou te fazer na call. Se o seu teto for 30 e nao 20, a conta de capacidade muda para melhor, e a urgencia de contratar gente cai bastante. Eu montei tudo assumindo 20 porque foi o que apareceu no mes. Se for 30, eu refaco.
[TRANSICAO] Tem um terceiro ponto, e nesse eu preciso te perguntar antes de afirmar qualquer coisa.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E UMA PERGUNTA. FACA E ESPERE. NAO PREENCHA O SILENCIO.]
Eu pesquisei o mercado de Franca na semana passada e achei sete concorrentes com site, Instagram ou ficha no Google. A LEOSOL eu nao achei em busca nenhuma.
E eu nao vou afirmar que voce nao tem - eu nao achei, que e diferente. Entao a pergunta e essa, e e sua a resposta: hoje a LEOSOL tem site? Tem Instagram? Tem ficha no Google Meu Negocio?
[SE ELE DISSER QUE NAO TEM] Entao olha o que provavelmente esta acontecendo. Voce perde por 'preco e concorrencia', certo? Eu acho que boa parte dessa perda nao e preco. E que a pessoa recebeu sua indicacao, foi conferir seu nome antes de gastar R$ 20 mil, achou sete empresas e nao achou voce. Ela nao te comparou por preco. Ela te comparou por quem parece existir. E isso custa tempo para arrumar, nao custa verba.
[SE ELE DISSER QUE TEM] Melhor ainda, entao a gente parte de mais alto. Mas repara: se eu, procurando de proposito, nao achei - o seu cliente, que procura com pressa, tambem nao acha. O problema deixa de ser criar e passa a ser fazer aparecer. Muda a tarefa, nao muda a direcao. E fica mais barato.
[TRANSICAO] Agora eu vou colocar dinheiro em cima disso tudo. E vou separar em dois, porque sao duas coisas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ao dinheiro. E eu vou te dar o numero mais baixo dos tres que eu calculei, de proposito.
Dos 40 leads que somem, se a gente recuperar so 10% - dez por cento, o piso - e desses voce fechar os seus 35% de sempre, da R$ 8.400 de margem por mes. A conta esta aberta ai embaixo: tres dos quatro numeros sao SEUS, informados por voce. O unico que eu estimei foi a taxa de recuperacao, e ela e justamente a que multiplica tudo. Por isso eu peguei o piso.
Mais R$ 2.500 de proposta que morre no silencio. Total: R$ 10.900 por mes. R$ 130 mil por ano.
E eu preciso ser honesto sobre o tamanho da minha incerteza: essa faixa vai de R$ 10.900 a R$ 29.200. Eu estou te apresentando a ponta de baixo. Fechar essa faixa e a primeira coisa que o plano entrega.
[SE CONTESTAR 'de onde saiu esse 10%'] Saiu de mim, nao de voce - e estimativa, e esta escrito ai. Eu escolhi 10 porque parti do principio de que a maior parte dos seus 40 leads e curioso mesmo. Se voce me disser agora que acha que da 5%, eu refaco aqui: 40 vezes 5% da 2 leads, vezes 35% da 0,7 contrato, vezes R$ 6 mil da R$ 4.200 por mes. Continua sendo R$ 50 mil por ano. Quer que eu use 5%?
[TRANSICAO] E agora o segundo numero. E eu quero muito que voce me segure aqui, porque e onde quase todo mundo 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 O SLIDE QUE DECIDE A VENDA. SE VOCE SOMAR OS DOIS NUMEROS EM QUALQUER MOMENTO DA REUNIAO, O DONO DERRUBA TUDO.]
Aqui e onde eu podia te enganar e nao vou.
Voce tem meta de R$ 300 mil e faz R$ 140 mil. Faltam R$ 160 mil de faturamento por mes, que na sua margem de 30% sao R$ 48 mil de margem. Por ano, R$ 576 mil.
Agora presta atencao: isso NAO SOMA com os R$ 10.900 do slide anterior. Se eu somasse, eu ia te falar em R$ 58.900 por mes, e voce ia me derrubar em trinta segundos dizendo 'isso e mais do que eu deixei de faturar'. E voce estaria certo.
Os R$ 48 mil sao o buraco inteiro. Os R$ 10.900 estao DENTRO dele. Recuperar os R$ 10.900 diminui os R$ 48 mil, nao empilha em cima.
A leitura certa e essa aqui na caixa: voce perde R$ 10.900 por mes de dinheiro que ja esta dentro da sua casa. E deixa de fazer outros R$ 37.100 por mes que nunca chegaram a entrar, porque nao tem quem venda. Dez mil e novecentos mais trinta e sete mil e cem: quarenta e oito mil.
Os dois primeiros a gente ataca com processo. Os R$ 37.100 exigem mais gente e mais lead - e disso eu falo daqui a pouco, sem enrolar.
[SE CONTESTAR 'esses R$ 48 mil nao sao perda, e meta minha'] Concordo, e por isso eu nao chamo de perda no mesmo lugar que o outro. Nao e dinheiro que escapou - e dinheiro que nunca chegou. Eu coloco os dois no mesmo slide justamente para voce ver que eles nao se somam.
[TRANSICAO] E ja que a gente esta falando de honestidade: tem duas coisas aqui que eu podia te vender e nao vou.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voce chamar mais tres empresas para essa conversa, duas vao te vender isso aqui.
A primeira e velocidade de resposta. 'Responda em um minuto.' Eu calculei o que os seus 10 minutos custam: R$ 950 por mes. E o menor numero do meu diagnostico inteiro. A gente vai arrumar isso porque vem junto e e barato, mas dez minutos nao derruba dois tercos de um funil. Quem te vender velocidade como a solucao da LEOSOL esta vendendo a coisa errada.
A segunda e follow-up. Na maioria das integradoras, e a maior perda. NA SUA NAO E - e eu prefiro te falar isso antes de voce descobrir sozinho. Voce so perde 13 propostas por mes. Cadencia perfeita em cima de 13 propostas rende R$ 2.500. E pouco.
Eu recomendo mesmo assim, mas no dia 31 e pelo motivo certo: e infraestrutura para quando suas propostas dobrarem, e e o que finalmente vai colocar seu pedido de indicacao num sistema em vez de na sua memoria.
[SE CONTESTAR 'entao por que voce esta me cobrando por isso'] Boa. Se na call voce me disser que ja faz cadencia hoje, esse componente cai de preco ou sai do mes 1. Esta escrito na proposta, na secao de riscos. Eu nao vou cobrar por consertar o que ja esta consertado.
[TRANSICAO] Agora, a perda que eu nao consegui medir - e que pode ser maior que todas as que eu 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aqui eu nao consegui medir, e por isso nao coloquei em nenhum total. Mas eu preciso te mostrar.
Voce perde por preco - foi o unico motivo de perda que voce me deu. Se perde por preco, e quase certo que da desconto. E voce nao sabe quanto da, em media, porque isso nao e registrado.
Entao eu nao chutei o seu desconto. Eu fiz a regua e VOCE preenche: cada ponto percentual de desconto medio nas suas 7 vendas custa R$ 1.400 de margem por mes. R$ 16.800 por ano. Por ponto.
Se o seu desconto medio for 8%, ele te custa R$ 11.200 por mes - mais do que todo o vazamento do funil que eu calculei.
[PERGUNTAR E CALAR A BOCA] Das suas ultimas 7 vendas, em quantas voce mexeu no preco? E quanto, mais ou menos?
[SE CONTESTAR 'eu quase nao dou desconto'] Perfeito, entao isso vira zero e a gente segue. E tem uma razao para isso ser urgente mesmo se for zero: hoje quem da desconto e voce, e voce sente cada real no bolso. No dia em que entrar um vendedor, isso deixa de ser verdade. A regra de comissao precisa estar escrita antes desse dia, nao depois.
[TRANSICAO] Agora a pergunta que interessa: o que precisa acontecer para chegar nos R$ 300 mil?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Sua meta sao R$ 300 mil, que sao 15 contratos por mes. Hoje voce faz 7.
Com as suas taxas de hoje, 15 contratos exigem 129 leads por mes. Voce tem 60. Ou seja: voce precisaria mais que dobrar a entrada, numa empresa que vive de indicacao - e indicacao nao se compra para bater setembro. E inviavel, e eu acho que voce ja sabia disso.
Agora, com o meio do funil arrumado, os mesmos 15 contratos pedem 75 leads. Quinze a mais do que ja entram na sua porta.
Essa e a diferenca entre 'eu preciso de uma maquina de leads que eu nao tenho' e 'eu preciso de um quarto a mais de leads e de um processo que nao deixe dois tercos cairem no caminho'. E por isso que arrumar o processo primeiro e o que deixa o marketing barato depois.
[SE CONTESTAR 'essas taxas corrigidas sao chute seu'] Sao projecao, e esta escrito ai embaixo. Eu subi lead-para-proposta de 33 para 50 e proposta-para-contrato de 35 so para 40 - repara que na etapa em que voce ja e bom eu quase nao mexi, de proposito. Se voce achar 50 otimista, me da o numero que voce acredita e eu recalculo os leads necessarios aqui na sua frente.
[TRANSICAO] Mas tem uma coisa nesse slide que eu nao posso deixar voce acreditar.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e o slide que eu podia ter tirado do deck, e e o que eu mais faco questao de mostrar.
Mesmo no meu cenario mais OTIMISTA - nao o provavel, o otimista - arrumar o seu funil leva a LEOSOL para uns R$ 237 mil por mes. A meta e R$ 300 mil. Falta um pedaco, e esse pedaco nao e processo.
O motivo e aritmetico: mesmo com as taxas corrigidas, 15 contratos pedem 38 propostas por mes. Sua agenda comporta 20. Nenhum sistema do mundo faz uma pessoa apresentar 38 propostas por mes.
Entao a meta pede tres coisas juntas: processo, um quarto a mais de leads, e mais um par de maos vendendo. Eu ataco a primeira agora, preparo a segunda e forco voce a decidir a terceira com numero na mao, no mes dois.
Quem te vender R$ 300 mil com software esta te vendendo mentira. Eu prefiro perder a venda a te prometer isso.
[SE PERGUNTAR 'entao para que eu faco isso'] Para sair de R$ 140 mil e ir para uma faixa de R$ 180 a R$ 208 mil em 90 dias, sem comprar um lead a mais. E para descobrir, com numero, exatamente quanta gente e quantos leads faltam para o resto - que hoje voce nao sabe. Contratar vendedor sem saber isso e a decisao mais cara que voce pode tomar este ano.
[TRANSICAO] E tem uma coisa acontecendo em Franca agora que joga a favor.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Isso nao e argumento de vendedor, e conta de luz. A CPFL subiu 18,75% na alta tensao em abril, 9,15% na baixa, e foi a quarta alta nos ultimos seis reajustes. Isso e motivo REAL para voce ligar para todo orcamento antigo que esta parado na sua gaveta - nao e 'oi, viu minha mensagem'.
E olha o resto do slide. Eu olhei sete concorrentes seus em Franca. Nenhum publica prazo de instalacao. Nenhum publica garantia detalhada. Nenhum publica simulacao de financiamento com taxa real. Nenhum promete tempo de resposta.
Voce tem seis anos de obra entregue e responde em dez minutos. E ninguem em Franca sabe disso. Dizer em voz alta o que ja e verdade e a coisa mais barata do mapa inteiro.
E as duas franquias nacionais que estao aqui tem nota publica fraca. Quando o concorrente grande tem nota baixa, voce nao briga por preco. Briga por confianca.
[SE CONTESTAR 'mas eu nao vendo para industria'] E eu nao estou te propondo isso agora. Franca tem 650 fabricas de calcado e a conta delas subiu 18,75% - isso e uma oportunidade real e eu deixei mapeada. Mas e ciclo de 60 a 90 dias, material tecnico que voce nao tem, e uma agenda que ja nao da conta do residencial que voce SABE vender. Fica guardado para depois dos 90 dias.
[TRANSICAO] Beleza. Isso e o diagnostico. Deixa eu te mostrar o que a gente faz, na ordem.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coisas, nessa ordem, e uma quarta que fica trancada.
No dia 1 entram duas: a mentoria comercial e o atendimento do seu WhatsApp. As duas juntas, porque uma nao funciona sem a outra.
No dia 31 entra a cadencia de proposta - aquela que eu te disse que vale pouco hoje e e infraestrutura para depois.
E a geracao de leads NAO ENTRA AGORA. Ela tem um gatilho escrito, com numero: so quando lead-para-proposta bater 45% por dois meses seguidos. Enquanto dois tercos do que entra some, cada real que voce poe em anuncio entrega um terco do que poderia.
E olha a faixa de baixo, porque proposta que recomenda tudo nao e recomendacao, e catalogo. Midia paga: nao. Fabrica de calcado: nao agora. Site novo: nao antes de a gente confirmar o que voce ja tem. E nao contrata vendedor antes de a regra de comissao estar escrita - isso depois so se resolve com briga.
[PERGUNTAR] Se essas 20 propostas por mes virassem 30, o que quebra primeiro na sua operacao - a obra, a homologacao, ou voce?
[SE CONTESTAR 'eu queria mais leads, e para isso que te chamei'] Eu sei, e por isso que eu nao vou te vender isso hoje. Voce tem 60 leads e perde 40. Se eu te trouxer 60 novos, voce perde 40 novos e me paga por isso. Vou te dar o gatilho por escrito: no dia em que lead-para-proposta estiver em 45% por dois meses, eu mesmo trago a proposta de geracao.
[TRANSICAO] Deixa eu te mostrar como isso aparece na sua semana, na pratica.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Isso aqui e a parte que NAO e software e e a que mais vale.
Toda segunda-feira, meia hora, mesma hora, voce senta com essa ficha preenchida na frente. Sete linhas. E responde cinco perguntas: estou no ritmo da meta? qual etapa esta abaixo? qual o principal motivo de perda? quem precisa de treino? o que a gente testa esta semana? E ninguem levanta sem uma acao, um responsavel e uma data.
Hoje esses sete numeros moram na sua cabeca, e tres deles nao moram nem la.
Junto com isso vem duas decisoes que eu nao tomo por voce, mas eu desenho: a politica de desconto escrita, com teto e com o que se pede em troca; e a regra de comissao calculada sobre margem, nao sobre faturamento. As duas prontas ate o dia 30, antes de existir vendedor. Corrigir isso depois nao e ajuste, e conflito.
Eu preciso de 30 minutos seus por semana. Sem remarcar. E o item que mais derruba programa como esse, e nao tem substituto.
[SE CONTESTAR 'nao tenho meia hora por semana'] Entao eu prefiro que a gente nao comece. Falo serio. Sem essa meia hora, o resto vira ferramenta ligada sem ninguem olhando, e daqui a tres meses voce me chama para dizer que nao funcionou - com razao. Meia hora por semana e 2 horas por mes, contra as 17 horas por mes que a gente estima que voce gasta hoje triando lead que nao vira proposta.
[TRANSICAO] E essas 17 horas sao exatamente o que a proxima parte devolve para voce.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Hoje todo lead cai direto no seu celular. Nao tem filtro entre 'curioso' e 'pronto'.
O que muda: todo lead que chegar - WhatsApp, formulario, telefone, dez da noite de domingo inclusive - e respondido em menos de um minuto. A primeira coisa que ele pede e a foto da conta de luz, que sozinha resolve consumo, endereco, titularidade e tipo de ligacao sem o cara ter que digitar nada.
Se a conta nao vier, ele confere oito coisas, uma pergunta por vez. E para na hora em que algo elimina o lead - se nao e o titular, se e apartamento sem telhado, se esta fora do seu raio, a conversa acaba ali E FICA REGISTRADO O PORQUE.
Ai voce nao recebe mais 60 conversas. Recebe uma lista dividida: A e quente e vai para a sua mesa em 24 horas. B e morno, entra em 48 a 72 horas. C nao entra na sua agenda agora.
E aqui esta a parte que vale mais que tudo: esse registro e o que acende a luz nas tres etapas cegas. No dia 30, pela primeira vez em 6 anos, voce vai saber onde os 40 leads morrem. Aquela faixa de R$ 8.400 a R$ 21.000 vira UM numero. Esse e o entregavel do primeiro mes - nao e faturamento. E enxergar.
[SE CONTESTAR 'meu cliente vai perceber que nao sou eu respondendo'] Vai perceber que foi respondido rapido e que quem respondeu foi direto ao ponto. E na primeira coisa que exigir voce - objecao, negociacao, visita - e voce que entra, do mesmo jeito de sempre. Diagnostico, apresentacao e fechamento continuam 100% seus. Isso nao fecha venda nenhuma. Isso te entrega o cara pronto para voce fechar. Voce e a peca cara aqui, e hoje voce esta gastando essa peca triando curioso.
[TRANSICAO] Vamos ao investimento.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[LEVAR ESTE SLIDE PREENCHIDO. NENHUM PRECO PODE SER INVENTADO NA SALA. Se o preco nao estiver definido ate a reuniao, deixar 'preencher' na tela e dizer: 'o valor eu te trago junto com os numeros fechados, depois da call' - e coerente com o resto do fecho.]
A conta e simples e voce confere sozinho: investimento por mes dividido pela margem que volta por mes.
E eu vou usar o numero mais pessimista que eu tenho, os R$ 10.900. Nao os R$ 17 mil do cenario provavel, nao os R$ 29 mil do otimista. O piso.
Entao: enquanto o investimento mensal ficar abaixo de R$ 10.900, isso se paga dentro do proprio mes. Se for metade disso, se paga em quinze dias e volta duas vezes. Se for um terco, dez dias.
E repara no que eu DEIXEI FORA dessa conta de proposito: nao tem um real dos R$ 48 mil da meta, porque este plano sozinho nao entrega isso. E nao tem nada da politica de desconto, que pode valer R$ 5.600 por mes se o seu desconto medio for 8% e a gente derrubar para 4% - e isso nao custa software nenhum, e uma decisao sua.
A comparacao que interessa nao e com zero. E com o que ja esta saindo: R$ 130 mil por ano vazando, 480 leads por ano que entram e somem sem deixar rastro.
[SE CONTESTAR 'esta caro'] Caro comparado a que? Se for comparado a outra proposta, me mostra que eu comparo linha a linha. Se for comparado ao que a LEOSOL fatura, ai eu te peco para comparar com o que SAI: R$ 10.900 por mes vao embora hoje, no meu numero mais conservador. E tem uma linha que dinheiro nenhum recupera depois - o historico que voce nao mediu nao volta.
[TRANSICAO] Deixa eu te mostrar como a gente prova que esta funcionando, mes a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primeiro mes eu NAO te prometo faturamento. Prometo R$ 140 mil, o mesmo de hoje. O que o mes 1 entrega e enxergar e decidir: as tres etapas com numero, o desconto escrito, a comissao definida, a resposta abaixo de cinco minutos medida - nao estimada.
No mes 2 a gente corrige o ponto que a medicao apontar. E aqui tem uma coisa importante: a correcao MUDA conforme o numero. Se der que os 40 leads morriam sem contato, e uma coisa. Se der que nao tinham perfil, o problema e de origem de lead e eu troco a prioridade do mes 2 na sua frente, com o numero na mesa. Esta escrito na proposta.
No mes 3, faixa de R$ 180 a R$ 208 mil, e ai a gente decide juntos se abre a torneira de leads.
Tudo isso e projecao, nao e promessa de contrato. E tudo e conferivel na ficha toda segunda-feira. Se em quatro semanas nao tiver melhorado nada, voce vai ver isso antes de mim.
[SE CONTESTAR 'e se nao der resultado'] Voce vai saber antes do dia 30, e vai saber por numero, nao por sensacao. Essa e a diferenca. Hoje, se as suas vendas cairem, voce nao consegue nem dizer se foi entrada de lead, qualificacao ou proposta. A partir do dia 30, consegue. E se o programa nao estiver entregando, o mesmo painel que mostra isso esta na sua mao para me cobrar.
[TRANSICAO] Entao o que eu quero de voce hoje e uma coisa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nao vou te pedir para fechar hoje. Vou te pedir 45 minutos.
Essas sete perguntas sao as que transformam toda faixa que eu te mostrei hoje em numero unico. Enquanto elas nao forem respondidas, minhas faixas ficam largas - e eu prefiro faixa larga a numero bonito que eu nao consigo defender.
Depois dessa call eu volto com os numeros fechados, e AI voce decide se contrata. E mais honesto assim, e e mais facil para voce decidir.
Entao: quinta ou sexta? Manha ou fim da tarde? Eu bloqueio agora e te mando o convite antes de sair daqui.
[FECHAMENTO ASSUMIDO - nunca 'fecha comigo?'] Fechado. Quinta as 9. Eu te mando o convite e a folha com as sete perguntas hoje a noite, para voce ja ir pensando. E se alguma resposta voce nao tiver, tudo bem - 'eu nao sei' ja e uma resposta util para mim.
[SE DISSER 'me manda por e-mail que eu vejo'] Mando sim, e mando ainda hoje. Mas essas sete perguntas so voce responde, e por telefone leva 45 minutos - por e-mail leva tres semanas e a metade nao volta. Me da o pior horario da sua semana, o que voce acha que ninguem ia querer. Sexta as sete da manha serve?
[NAO SAIR DA SALA SEM DATA E HORA FECHADAS. Se a reuniao terminar sem isso, a reuniao nao terminou.]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94360" y="548640"/>
            <a:ext cx="11002975" cy="274320"/>
          </a:xfrm>
          <a:prstGeom prst="rect">
            <a:avLst/>
          </a:prstGeom>
          <a:noFill/>
          <a:ln/>
        </p:spPr>
        <p:txBody>
          <a:bodyPr wrap="square" lIns="0" tIns="0" rIns="0" bIns="0" rtlCol="0" anchor="t"/>
          <a:lstStyle/>
          <a:p>
            <a:pPr algn="l" indent="0" marL="0">
              <a:lnSpc>
                <a:spcPct val="115000"/>
              </a:lnSpc>
              <a:buNone/>
            </a:pPr>
            <a:r>
              <a:rPr lang="en-US" sz="1100" b="1" dirty="0">
                <a:solidFill>
                  <a:srgbClr val="E8833A"/>
                </a:solidFill>
                <a:latin typeface="Calibri" pitchFamily="34" charset="0"/>
                <a:ea typeface="Calibri" pitchFamily="34" charset="-122"/>
                <a:cs typeface="Calibri" pitchFamily="34" charset="-120"/>
              </a:rPr>
              <a:t>DIAGNÓSTICO WATTIQ 360   ·   LEOSOL   ·   FRANCA/SP</a:t>
            </a:r>
            <a:endParaRPr lang="en-US" sz="1100" dirty="0"/>
          </a:p>
        </p:txBody>
      </p:sp>
      <p:sp>
        <p:nvSpPr>
          <p:cNvPr id="3" name="Text 1"/>
          <p:cNvSpPr txBox="1"/>
          <p:nvPr/>
        </p:nvSpPr>
        <p:spPr>
          <a:xfrm>
            <a:off x="594360" y="1325880"/>
            <a:ext cx="4114800" cy="2103120"/>
          </a:xfrm>
          <a:prstGeom prst="rect">
            <a:avLst/>
          </a:prstGeom>
          <a:noFill/>
          <a:ln/>
        </p:spPr>
        <p:txBody>
          <a:bodyPr wrap="square" lIns="0" tIns="0" rIns="0" bIns="0" rtlCol="0" anchor="ctr"/>
          <a:lstStyle/>
          <a:p>
            <a:pPr algn="l" indent="0" marL="0">
              <a:buNone/>
            </a:pPr>
            <a:r>
              <a:rPr lang="en-US" sz="11800" b="1" dirty="0">
                <a:solidFill>
                  <a:srgbClr val="FFFFFF"/>
                </a:solidFill>
                <a:latin typeface="Calibri" pitchFamily="34" charset="0"/>
                <a:ea typeface="Calibri" pitchFamily="34" charset="-122"/>
                <a:cs typeface="Calibri" pitchFamily="34" charset="-120"/>
              </a:rPr>
              <a:t>35%</a:t>
            </a:r>
            <a:endParaRPr lang="en-US" sz="11800" dirty="0"/>
          </a:p>
        </p:txBody>
      </p:sp>
      <p:sp>
        <p:nvSpPr>
          <p:cNvPr id="4" name="Text 2"/>
          <p:cNvSpPr txBox="1"/>
          <p:nvPr/>
        </p:nvSpPr>
        <p:spPr>
          <a:xfrm>
            <a:off x="594360" y="3520440"/>
            <a:ext cx="4114800" cy="731520"/>
          </a:xfrm>
          <a:prstGeom prst="rect">
            <a:avLst/>
          </a:prstGeom>
          <a:noFill/>
          <a:ln/>
        </p:spPr>
        <p:txBody>
          <a:bodyPr wrap="square" lIns="0" tIns="0" rIns="0" bIns="0" rtlCol="0" anchor="t"/>
          <a:lstStyle/>
          <a:p>
            <a:pPr algn="l" indent="0" marL="0">
              <a:lnSpc>
                <a:spcPct val="115000"/>
              </a:lnSpc>
              <a:buNone/>
            </a:pPr>
            <a:r>
              <a:rPr lang="en-US" sz="1300" dirty="0">
                <a:solidFill>
                  <a:srgbClr val="9AA6B2"/>
                </a:solidFill>
                <a:latin typeface="Calibri" pitchFamily="34" charset="0"/>
                <a:ea typeface="Calibri" pitchFamily="34" charset="-122"/>
                <a:cs typeface="Calibri" pitchFamily="34" charset="-120"/>
              </a:rPr>
              <a:t>proposta → contrato</a:t>
            </a:r>
            <a:endParaRPr lang="en-US" sz="1300" dirty="0"/>
          </a:p>
          <a:p>
            <a:pPr algn="l" indent="0" marL="0">
              <a:lnSpc>
                <a:spcPct val="115000"/>
              </a:lnSpc>
              <a:buNone/>
            </a:pPr>
            <a:r>
              <a:rPr lang="en-US" sz="1300" dirty="0">
                <a:solidFill>
                  <a:srgbClr val="9AA6B2"/>
                </a:solidFill>
                <a:latin typeface="Calibri" pitchFamily="34" charset="0"/>
                <a:ea typeface="Calibri" pitchFamily="34" charset="-122"/>
                <a:cs typeface="Calibri" pitchFamily="34" charset="-120"/>
              </a:rPr>
              <a:t>últimos 30 dias</a:t>
            </a:r>
            <a:endParaRPr lang="en-US" sz="1300" dirty="0"/>
          </a:p>
        </p:txBody>
      </p:sp>
      <p:sp>
        <p:nvSpPr>
          <p:cNvPr id="5" name="Shape 3"/>
          <p:cNvSpPr/>
          <p:nvPr/>
        </p:nvSpPr>
        <p:spPr>
          <a:xfrm>
            <a:off x="4983480" y="1371600"/>
            <a:ext cx="18288" cy="3017520"/>
          </a:xfrm>
          <a:prstGeom prst="rect">
            <a:avLst/>
          </a:prstGeom>
          <a:solidFill>
            <a:srgbClr val="2E3A4A"/>
          </a:solidFill>
          <a:ln/>
        </p:spPr>
      </p:sp>
      <p:sp>
        <p:nvSpPr>
          <p:cNvPr id="6" name="Text 4"/>
          <p:cNvSpPr txBox="1"/>
          <p:nvPr/>
        </p:nvSpPr>
        <p:spPr>
          <a:xfrm>
            <a:off x="5394960" y="1371600"/>
            <a:ext cx="6199632" cy="2331720"/>
          </a:xfrm>
          <a:prstGeom prst="rect">
            <a:avLst/>
          </a:prstGeom>
          <a:noFill/>
          <a:ln/>
        </p:spPr>
        <p:txBody>
          <a:bodyPr wrap="square" lIns="0" tIns="0" rIns="0" bIns="0" rtlCol="0" anchor="t"/>
          <a:lstStyle/>
          <a:p>
            <a:pPr algn="l" indent="0" marL="0">
              <a:lnSpc>
                <a:spcPct val="95000"/>
              </a:lnSpc>
              <a:buNone/>
            </a:pPr>
            <a:r>
              <a:rPr lang="en-US" sz="3600" b="1" dirty="0">
                <a:solidFill>
                  <a:srgbClr val="FFFFFF"/>
                </a:solidFill>
                <a:latin typeface="Cambria" pitchFamily="34" charset="0"/>
                <a:ea typeface="Cambria" pitchFamily="34" charset="-122"/>
                <a:cs typeface="Cambria" pitchFamily="34" charset="-120"/>
              </a:rPr>
              <a:t>Você fecha 35% do que</a:t>
            </a:r>
            <a:endParaRPr lang="en-US" sz="3600" dirty="0"/>
          </a:p>
          <a:p>
            <a:pPr algn="l" indent="0" marL="0">
              <a:lnSpc>
                <a:spcPct val="95000"/>
              </a:lnSpc>
              <a:buNone/>
            </a:pPr>
            <a:r>
              <a:rPr lang="en-US" sz="3600" b="1" dirty="0">
                <a:solidFill>
                  <a:srgbClr val="FFFFFF"/>
                </a:solidFill>
                <a:latin typeface="Cambria" pitchFamily="34" charset="0"/>
                <a:ea typeface="Cambria" pitchFamily="34" charset="-122"/>
                <a:cs typeface="Cambria" pitchFamily="34" charset="-120"/>
              </a:rPr>
              <a:t>apresenta. O problema</a:t>
            </a:r>
            <a:endParaRPr lang="en-US" sz="3600" dirty="0"/>
          </a:p>
          <a:p>
            <a:pPr algn="l" indent="0" marL="0">
              <a:lnSpc>
                <a:spcPct val="95000"/>
              </a:lnSpc>
              <a:buNone/>
            </a:pPr>
            <a:r>
              <a:rPr lang="en-US" sz="3600" b="1" dirty="0">
                <a:solidFill>
                  <a:srgbClr val="FFFFFF"/>
                </a:solidFill>
                <a:latin typeface="Cambria" pitchFamily="34" charset="0"/>
                <a:ea typeface="Cambria" pitchFamily="34" charset="-122"/>
                <a:cs typeface="Cambria" pitchFamily="34" charset="-120"/>
              </a:rPr>
              <a:t>não é vender.</a:t>
            </a:r>
            <a:endParaRPr lang="en-US" sz="3600" dirty="0"/>
          </a:p>
        </p:txBody>
      </p:sp>
      <p:sp>
        <p:nvSpPr>
          <p:cNvPr id="7" name="Text 5"/>
          <p:cNvSpPr txBox="1"/>
          <p:nvPr/>
        </p:nvSpPr>
        <p:spPr>
          <a:xfrm>
            <a:off x="5394960" y="3840480"/>
            <a:ext cx="6199632" cy="365760"/>
          </a:xfrm>
          <a:prstGeom prst="rect">
            <a:avLst/>
          </a:prstGeom>
          <a:noFill/>
          <a:ln/>
        </p:spPr>
        <p:txBody>
          <a:bodyPr wrap="square" lIns="0" tIns="0" rIns="0" bIns="0" rtlCol="0" anchor="t"/>
          <a:lstStyle/>
          <a:p>
            <a:pPr algn="l" indent="0" marL="0">
              <a:lnSpc>
                <a:spcPct val="115000"/>
              </a:lnSpc>
              <a:buNone/>
            </a:pPr>
            <a:r>
              <a:rPr lang="en-US" sz="1500" b="1" dirty="0">
                <a:solidFill>
                  <a:srgbClr val="E8833A"/>
                </a:solidFill>
                <a:latin typeface="Calibri" pitchFamily="34" charset="0"/>
                <a:ea typeface="Calibri" pitchFamily="34" charset="-122"/>
                <a:cs typeface="Calibri" pitchFamily="34" charset="-120"/>
              </a:rPr>
              <a:t>O problema é o que acontece antes dela.</a:t>
            </a:r>
            <a:endParaRPr lang="en-US" sz="1500" dirty="0"/>
          </a:p>
        </p:txBody>
      </p:sp>
      <p:sp>
        <p:nvSpPr>
          <p:cNvPr id="8" name="Text 6"/>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9AA6B2"/>
                </a:solidFill>
                <a:latin typeface="Calibri" pitchFamily="34" charset="0"/>
                <a:ea typeface="Calibri" pitchFamily="34" charset="-122"/>
                <a:cs typeface="Calibri" pitchFamily="34" charset="-120"/>
              </a:rPr>
              <a:t>informado pelo dono na coleta de 07/09/2026 · confiança alta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3000" b="1" dirty="0">
                <a:solidFill>
                  <a:srgbClr val="1B2430"/>
                </a:solidFill>
                <a:latin typeface="Cambria" pitchFamily="34" charset="0"/>
                <a:ea typeface="Cambria" pitchFamily="34" charset="-122"/>
                <a:cs typeface="Cambria" pitchFamily="34" charset="-120"/>
              </a:rPr>
              <a:t>60 leads entraram. 7 viraram contrato.</a:t>
            </a:r>
            <a:endParaRPr lang="en-US" sz="3000" dirty="0"/>
          </a:p>
        </p:txBody>
      </p:sp>
      <p:sp>
        <p:nvSpPr>
          <p:cNvPr id="3" name="Shape 1"/>
          <p:cNvSpPr/>
          <p:nvPr/>
        </p:nvSpPr>
        <p:spPr>
          <a:xfrm>
            <a:off x="594360" y="1600200"/>
            <a:ext cx="3246120" cy="1417320"/>
          </a:xfrm>
          <a:prstGeom prst="roundRect">
            <a:avLst>
              <a:gd name="adj" fmla="val 5161"/>
            </a:avLst>
          </a:prstGeom>
          <a:solidFill>
            <a:srgbClr val="F4F6F8"/>
          </a:solidFill>
          <a:ln w="12700">
            <a:solidFill>
              <a:srgbClr val="DCE2E8"/>
            </a:solidFill>
            <a:prstDash val="solid"/>
          </a:ln>
        </p:spPr>
      </p:sp>
      <p:sp>
        <p:nvSpPr>
          <p:cNvPr id="4" name="Text 2"/>
          <p:cNvSpPr txBox="1"/>
          <p:nvPr/>
        </p:nvSpPr>
        <p:spPr>
          <a:xfrm>
            <a:off x="594360" y="1828800"/>
            <a:ext cx="3246120" cy="777240"/>
          </a:xfrm>
          <a:prstGeom prst="rect">
            <a:avLst/>
          </a:prstGeom>
          <a:noFill/>
          <a:ln/>
        </p:spPr>
        <p:txBody>
          <a:bodyPr wrap="square" lIns="0" tIns="0" rIns="0" bIns="0" rtlCol="0" anchor="t"/>
          <a:lstStyle/>
          <a:p>
            <a:pPr algn="ctr" indent="0" marL="0">
              <a:lnSpc>
                <a:spcPct val="115000"/>
              </a:lnSpc>
              <a:buNone/>
            </a:pPr>
            <a:r>
              <a:rPr lang="en-US" sz="4000" b="1" dirty="0">
                <a:solidFill>
                  <a:srgbClr val="1B2430"/>
                </a:solidFill>
                <a:latin typeface="Calibri" pitchFamily="34" charset="0"/>
                <a:ea typeface="Calibri" pitchFamily="34" charset="-122"/>
                <a:cs typeface="Calibri" pitchFamily="34" charset="-120"/>
              </a:rPr>
              <a:t>60</a:t>
            </a:r>
            <a:endParaRPr lang="en-US" sz="4000" dirty="0"/>
          </a:p>
        </p:txBody>
      </p:sp>
      <p:sp>
        <p:nvSpPr>
          <p:cNvPr id="5" name="Text 3"/>
          <p:cNvSpPr txBox="1"/>
          <p:nvPr/>
        </p:nvSpPr>
        <p:spPr>
          <a:xfrm>
            <a:off x="594360" y="2578608"/>
            <a:ext cx="3246120" cy="320040"/>
          </a:xfrm>
          <a:prstGeom prst="rect">
            <a:avLst/>
          </a:prstGeom>
          <a:noFill/>
          <a:ln/>
        </p:spPr>
        <p:txBody>
          <a:bodyPr wrap="square" lIns="0" tIns="0" rIns="0" bIns="0" rtlCol="0" anchor="t"/>
          <a:lstStyle/>
          <a:p>
            <a:pPr algn="ctr" indent="0" marL="0">
              <a:lnSpc>
                <a:spcPct val="115000"/>
              </a:lnSpc>
              <a:buNone/>
            </a:pPr>
            <a:r>
              <a:rPr lang="en-US" sz="1250" dirty="0">
                <a:solidFill>
                  <a:srgbClr val="6B7785"/>
                </a:solidFill>
                <a:latin typeface="Calibri" pitchFamily="34" charset="0"/>
                <a:ea typeface="Calibri" pitchFamily="34" charset="-122"/>
                <a:cs typeface="Calibri" pitchFamily="34" charset="-120"/>
              </a:rPr>
              <a:t>leads</a:t>
            </a:r>
            <a:endParaRPr lang="en-US" sz="1250" dirty="0"/>
          </a:p>
        </p:txBody>
      </p:sp>
      <p:sp>
        <p:nvSpPr>
          <p:cNvPr id="6" name="Text 4"/>
          <p:cNvSpPr txBox="1"/>
          <p:nvPr/>
        </p:nvSpPr>
        <p:spPr>
          <a:xfrm>
            <a:off x="3886200" y="1965960"/>
            <a:ext cx="457200" cy="548640"/>
          </a:xfrm>
          <a:prstGeom prst="rect">
            <a:avLst/>
          </a:prstGeom>
          <a:noFill/>
          <a:ln/>
        </p:spPr>
        <p:txBody>
          <a:bodyPr wrap="square" lIns="0" tIns="0" rIns="0" bIns="0" rtlCol="0" anchor="t"/>
          <a:lstStyle/>
          <a:p>
            <a:pPr algn="ctr" indent="0" marL="0">
              <a:lnSpc>
                <a:spcPct val="115000"/>
              </a:lnSpc>
              <a:buNone/>
            </a:pPr>
            <a:r>
              <a:rPr lang="en-US" sz="2400" dirty="0">
                <a:solidFill>
                  <a:srgbClr val="6B7785"/>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4389120" y="1600200"/>
            <a:ext cx="3246120" cy="1417320"/>
          </a:xfrm>
          <a:prstGeom prst="roundRect">
            <a:avLst>
              <a:gd name="adj" fmla="val 5161"/>
            </a:avLst>
          </a:prstGeom>
          <a:solidFill>
            <a:srgbClr val="F4F6F8"/>
          </a:solidFill>
          <a:ln w="12700">
            <a:solidFill>
              <a:srgbClr val="DCE2E8"/>
            </a:solidFill>
            <a:prstDash val="solid"/>
          </a:ln>
        </p:spPr>
      </p:sp>
      <p:sp>
        <p:nvSpPr>
          <p:cNvPr id="8" name="Text 6"/>
          <p:cNvSpPr txBox="1"/>
          <p:nvPr/>
        </p:nvSpPr>
        <p:spPr>
          <a:xfrm>
            <a:off x="4389120" y="1828800"/>
            <a:ext cx="3246120" cy="777240"/>
          </a:xfrm>
          <a:prstGeom prst="rect">
            <a:avLst/>
          </a:prstGeom>
          <a:noFill/>
          <a:ln/>
        </p:spPr>
        <p:txBody>
          <a:bodyPr wrap="square" lIns="0" tIns="0" rIns="0" bIns="0" rtlCol="0" anchor="t"/>
          <a:lstStyle/>
          <a:p>
            <a:pPr algn="ctr" indent="0" marL="0">
              <a:lnSpc>
                <a:spcPct val="115000"/>
              </a:lnSpc>
              <a:buNone/>
            </a:pPr>
            <a:r>
              <a:rPr lang="en-US" sz="4000" b="1" dirty="0">
                <a:solidFill>
                  <a:srgbClr val="1B2430"/>
                </a:solidFill>
                <a:latin typeface="Calibri" pitchFamily="34" charset="0"/>
                <a:ea typeface="Calibri" pitchFamily="34" charset="-122"/>
                <a:cs typeface="Calibri" pitchFamily="34" charset="-120"/>
              </a:rPr>
              <a:t>20</a:t>
            </a:r>
            <a:endParaRPr lang="en-US" sz="4000" dirty="0"/>
          </a:p>
        </p:txBody>
      </p:sp>
      <p:sp>
        <p:nvSpPr>
          <p:cNvPr id="9" name="Text 7"/>
          <p:cNvSpPr txBox="1"/>
          <p:nvPr/>
        </p:nvSpPr>
        <p:spPr>
          <a:xfrm>
            <a:off x="4389120" y="2578608"/>
            <a:ext cx="3246120" cy="320040"/>
          </a:xfrm>
          <a:prstGeom prst="rect">
            <a:avLst/>
          </a:prstGeom>
          <a:noFill/>
          <a:ln/>
        </p:spPr>
        <p:txBody>
          <a:bodyPr wrap="square" lIns="0" tIns="0" rIns="0" bIns="0" rtlCol="0" anchor="t"/>
          <a:lstStyle/>
          <a:p>
            <a:pPr algn="ctr" indent="0" marL="0">
              <a:lnSpc>
                <a:spcPct val="115000"/>
              </a:lnSpc>
              <a:buNone/>
            </a:pPr>
            <a:r>
              <a:rPr lang="en-US" sz="1250" dirty="0">
                <a:solidFill>
                  <a:srgbClr val="6B7785"/>
                </a:solidFill>
                <a:latin typeface="Calibri" pitchFamily="34" charset="0"/>
                <a:ea typeface="Calibri" pitchFamily="34" charset="-122"/>
                <a:cs typeface="Calibri" pitchFamily="34" charset="-120"/>
              </a:rPr>
              <a:t>propostas</a:t>
            </a:r>
            <a:endParaRPr lang="en-US" sz="1250" dirty="0"/>
          </a:p>
        </p:txBody>
      </p:sp>
      <p:sp>
        <p:nvSpPr>
          <p:cNvPr id="10" name="Text 8"/>
          <p:cNvSpPr txBox="1"/>
          <p:nvPr/>
        </p:nvSpPr>
        <p:spPr>
          <a:xfrm>
            <a:off x="7680960" y="1965960"/>
            <a:ext cx="457200" cy="548640"/>
          </a:xfrm>
          <a:prstGeom prst="rect">
            <a:avLst/>
          </a:prstGeom>
          <a:noFill/>
          <a:ln/>
        </p:spPr>
        <p:txBody>
          <a:bodyPr wrap="square" lIns="0" tIns="0" rIns="0" bIns="0" rtlCol="0" anchor="t"/>
          <a:lstStyle/>
          <a:p>
            <a:pPr algn="ctr" indent="0" marL="0">
              <a:lnSpc>
                <a:spcPct val="115000"/>
              </a:lnSpc>
              <a:buNone/>
            </a:pPr>
            <a:r>
              <a:rPr lang="en-US" sz="2400" dirty="0">
                <a:solidFill>
                  <a:srgbClr val="6B7785"/>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8183880" y="1600200"/>
            <a:ext cx="3246120" cy="1417320"/>
          </a:xfrm>
          <a:prstGeom prst="roundRect">
            <a:avLst>
              <a:gd name="adj" fmla="val 5161"/>
            </a:avLst>
          </a:prstGeom>
          <a:solidFill>
            <a:srgbClr val="1B2430"/>
          </a:solidFill>
          <a:ln/>
        </p:spPr>
      </p:sp>
      <p:sp>
        <p:nvSpPr>
          <p:cNvPr id="12" name="Text 10"/>
          <p:cNvSpPr txBox="1"/>
          <p:nvPr/>
        </p:nvSpPr>
        <p:spPr>
          <a:xfrm>
            <a:off x="8183880" y="1828800"/>
            <a:ext cx="3246120" cy="777240"/>
          </a:xfrm>
          <a:prstGeom prst="rect">
            <a:avLst/>
          </a:prstGeom>
          <a:noFill/>
          <a:ln/>
        </p:spPr>
        <p:txBody>
          <a:bodyPr wrap="square" lIns="0" tIns="0" rIns="0" bIns="0" rtlCol="0" anchor="t"/>
          <a:lstStyle/>
          <a:p>
            <a:pPr algn="ctr" indent="0" marL="0">
              <a:lnSpc>
                <a:spcPct val="115000"/>
              </a:lnSpc>
              <a:buNone/>
            </a:pPr>
            <a:r>
              <a:rPr lang="en-US" sz="4000" b="1" dirty="0">
                <a:solidFill>
                  <a:srgbClr val="FFFFFF"/>
                </a:solidFill>
                <a:latin typeface="Calibri" pitchFamily="34" charset="0"/>
                <a:ea typeface="Calibri" pitchFamily="34" charset="-122"/>
                <a:cs typeface="Calibri" pitchFamily="34" charset="-120"/>
              </a:rPr>
              <a:t>7</a:t>
            </a:r>
            <a:endParaRPr lang="en-US" sz="4000" dirty="0"/>
          </a:p>
        </p:txBody>
      </p:sp>
      <p:sp>
        <p:nvSpPr>
          <p:cNvPr id="13" name="Text 11"/>
          <p:cNvSpPr txBox="1"/>
          <p:nvPr/>
        </p:nvSpPr>
        <p:spPr>
          <a:xfrm>
            <a:off x="8183880" y="2578608"/>
            <a:ext cx="3246120" cy="320040"/>
          </a:xfrm>
          <a:prstGeom prst="rect">
            <a:avLst/>
          </a:prstGeom>
          <a:noFill/>
          <a:ln/>
        </p:spPr>
        <p:txBody>
          <a:bodyPr wrap="square" lIns="0" tIns="0" rIns="0" bIns="0" rtlCol="0" anchor="t"/>
          <a:lstStyle/>
          <a:p>
            <a:pPr algn="ctr" indent="0" marL="0">
              <a:lnSpc>
                <a:spcPct val="115000"/>
              </a:lnSpc>
              <a:buNone/>
            </a:pPr>
            <a:r>
              <a:rPr lang="en-US" sz="1250" dirty="0">
                <a:solidFill>
                  <a:srgbClr val="9AA6B2"/>
                </a:solidFill>
                <a:latin typeface="Calibri" pitchFamily="34" charset="0"/>
                <a:ea typeface="Calibri" pitchFamily="34" charset="-122"/>
                <a:cs typeface="Calibri" pitchFamily="34" charset="-120"/>
              </a:rPr>
              <a:t>contratos</a:t>
            </a:r>
            <a:endParaRPr lang="en-US" sz="1250" dirty="0"/>
          </a:p>
        </p:txBody>
      </p:sp>
      <p:sp>
        <p:nvSpPr>
          <p:cNvPr id="14" name="Text 12"/>
          <p:cNvSpPr txBox="1"/>
          <p:nvPr/>
        </p:nvSpPr>
        <p:spPr>
          <a:xfrm>
            <a:off x="594360" y="3291840"/>
            <a:ext cx="5303520" cy="365760"/>
          </a:xfrm>
          <a:prstGeom prst="rect">
            <a:avLst/>
          </a:prstGeom>
          <a:noFill/>
          <a:ln/>
        </p:spPr>
        <p:txBody>
          <a:bodyPr wrap="square" lIns="0" tIns="0" rIns="0" bIns="0" rtlCol="0" anchor="t"/>
          <a:lstStyle/>
          <a:p>
            <a:pPr algn="l" indent="0" marL="0">
              <a:lnSpc>
                <a:spcPct val="115000"/>
              </a:lnSpc>
              <a:buNone/>
            </a:pPr>
            <a:r>
              <a:rPr lang="en-US" sz="1700" b="1" dirty="0">
                <a:solidFill>
                  <a:srgbClr val="1B2430"/>
                </a:solidFill>
                <a:latin typeface="Calibri" pitchFamily="34" charset="0"/>
                <a:ea typeface="Calibri" pitchFamily="34" charset="-122"/>
                <a:cs typeface="Calibri" pitchFamily="34" charset="-120"/>
              </a:rPr>
              <a:t>R$ 140.000  faturados</a:t>
            </a:r>
            <a:endParaRPr lang="en-US" sz="1700" dirty="0"/>
          </a:p>
        </p:txBody>
      </p:sp>
      <p:sp>
        <p:nvSpPr>
          <p:cNvPr id="15" name="Text 13"/>
          <p:cNvSpPr txBox="1"/>
          <p:nvPr/>
        </p:nvSpPr>
        <p:spPr>
          <a:xfrm>
            <a:off x="594360" y="3703320"/>
            <a:ext cx="6766560" cy="365760"/>
          </a:xfrm>
          <a:prstGeom prst="rect">
            <a:avLst/>
          </a:prstGeom>
          <a:noFill/>
          <a:ln/>
        </p:spPr>
        <p:txBody>
          <a:bodyPr wrap="square" lIns="0" tIns="0" rIns="0" bIns="0" rtlCol="0" anchor="t"/>
          <a:lstStyle/>
          <a:p>
            <a:pPr algn="l" indent="0" marL="0">
              <a:lnSpc>
                <a:spcPct val="115000"/>
              </a:lnSpc>
              <a:buNone/>
            </a:pPr>
            <a:r>
              <a:rPr lang="en-US" sz="1300" dirty="0">
                <a:solidFill>
                  <a:srgbClr val="6B7785"/>
                </a:solidFill>
                <a:latin typeface="Calibri" pitchFamily="34" charset="0"/>
                <a:ea typeface="Calibri" pitchFamily="34" charset="-122"/>
                <a:cs typeface="Calibri" pitchFamily="34" charset="-120"/>
              </a:rPr>
              <a:t>R$ 42.000  de margem   ·   R$ 6.000 de margem por contrato</a:t>
            </a:r>
            <a:endParaRPr lang="en-US" sz="1300" dirty="0"/>
          </a:p>
        </p:txBody>
      </p:sp>
      <p:sp>
        <p:nvSpPr>
          <p:cNvPr id="16" name="Shape 14"/>
          <p:cNvSpPr/>
          <p:nvPr/>
        </p:nvSpPr>
        <p:spPr>
          <a:xfrm>
            <a:off x="594360" y="4343400"/>
            <a:ext cx="11002975" cy="1234440"/>
          </a:xfrm>
          <a:prstGeom prst="roundRect">
            <a:avLst>
              <a:gd name="adj" fmla="val 5926"/>
            </a:avLst>
          </a:prstGeom>
          <a:solidFill>
            <a:srgbClr val="F4F6F8"/>
          </a:solidFill>
          <a:ln/>
        </p:spPr>
      </p:sp>
      <p:sp>
        <p:nvSpPr>
          <p:cNvPr id="17" name="Text 15"/>
          <p:cNvSpPr txBox="1"/>
          <p:nvPr/>
        </p:nvSpPr>
        <p:spPr>
          <a:xfrm>
            <a:off x="914400" y="4553712"/>
            <a:ext cx="3657600" cy="274320"/>
          </a:xfrm>
          <a:prstGeom prst="rect">
            <a:avLst/>
          </a:prstGeom>
          <a:noFill/>
          <a:ln/>
        </p:spPr>
        <p:txBody>
          <a:bodyPr wrap="square" lIns="0" tIns="0" rIns="0" bIns="0" rtlCol="0" anchor="t"/>
          <a:lstStyle/>
          <a:p>
            <a:pPr algn="l" indent="0" marL="0">
              <a:lnSpc>
                <a:spcPct val="115000"/>
              </a:lnSpc>
              <a:buNone/>
            </a:pPr>
            <a:r>
              <a:rPr lang="en-US" sz="1000" b="1" dirty="0">
                <a:solidFill>
                  <a:srgbClr val="2E7D6B"/>
                </a:solidFill>
                <a:latin typeface="Calibri" pitchFamily="34" charset="0"/>
                <a:ea typeface="Calibri" pitchFamily="34" charset="-122"/>
                <a:cs typeface="Calibri" pitchFamily="34" charset="-120"/>
              </a:rPr>
              <a:t>O QUE JÁ ESTÁ CERTO</a:t>
            </a:r>
            <a:endParaRPr lang="en-US" sz="1000" dirty="0"/>
          </a:p>
        </p:txBody>
      </p:sp>
      <p:sp>
        <p:nvSpPr>
          <p:cNvPr id="18" name="Text 16"/>
          <p:cNvSpPr txBox="1"/>
          <p:nvPr/>
        </p:nvSpPr>
        <p:spPr>
          <a:xfrm>
            <a:off x="914400" y="4864608"/>
            <a:ext cx="3200400" cy="365760"/>
          </a:xfrm>
          <a:prstGeom prst="rect">
            <a:avLst/>
          </a:prstGeom>
          <a:noFill/>
          <a:ln/>
        </p:spPr>
        <p:txBody>
          <a:bodyPr wrap="square" lIns="0" tIns="0" rIns="0" bIns="0" rtlCol="0" anchor="t"/>
          <a:lstStyle/>
          <a:p>
            <a:pPr algn="l" indent="0" marL="0">
              <a:lnSpc>
                <a:spcPct val="115000"/>
              </a:lnSpc>
              <a:buNone/>
            </a:pPr>
            <a:r>
              <a:rPr lang="en-US" sz="1900" b="1" dirty="0">
                <a:solidFill>
                  <a:srgbClr val="2E7D6B"/>
                </a:solidFill>
                <a:latin typeface="Calibri" pitchFamily="34" charset="0"/>
                <a:ea typeface="Calibri" pitchFamily="34" charset="-122"/>
                <a:cs typeface="Calibri" pitchFamily="34" charset="-120"/>
              </a:rPr>
              <a:t>35%</a:t>
            </a:r>
            <a:endParaRPr lang="en-US" sz="1900" dirty="0"/>
          </a:p>
        </p:txBody>
      </p:sp>
      <p:sp>
        <p:nvSpPr>
          <p:cNvPr id="19" name="Text 17"/>
          <p:cNvSpPr txBox="1"/>
          <p:nvPr/>
        </p:nvSpPr>
        <p:spPr>
          <a:xfrm>
            <a:off x="914400" y="5230368"/>
            <a:ext cx="3200400" cy="320040"/>
          </a:xfrm>
          <a:prstGeom prst="rect">
            <a:avLst/>
          </a:prstGeom>
          <a:noFill/>
          <a:ln/>
        </p:spPr>
        <p:txBody>
          <a:bodyPr wrap="square" lIns="0" tIns="0" rIns="0" bIns="0" rtlCol="0" anchor="t"/>
          <a:lstStyle/>
          <a:p>
            <a:pPr algn="l" indent="0" marL="0">
              <a:lnSpc>
                <a:spcPct val="115000"/>
              </a:lnSpc>
              <a:buNone/>
            </a:pPr>
            <a:r>
              <a:rPr lang="en-US" sz="1100" dirty="0">
                <a:solidFill>
                  <a:srgbClr val="6B7785"/>
                </a:solidFill>
                <a:latin typeface="Calibri" pitchFamily="34" charset="0"/>
                <a:ea typeface="Calibri" pitchFamily="34" charset="-122"/>
                <a:cs typeface="Calibri" pitchFamily="34" charset="-120"/>
              </a:rPr>
              <a:t>de fechamento sobre proposta</a:t>
            </a:r>
            <a:endParaRPr lang="en-US" sz="1100" dirty="0"/>
          </a:p>
        </p:txBody>
      </p:sp>
      <p:sp>
        <p:nvSpPr>
          <p:cNvPr id="20" name="Text 18"/>
          <p:cNvSpPr txBox="1"/>
          <p:nvPr/>
        </p:nvSpPr>
        <p:spPr>
          <a:xfrm>
            <a:off x="4434840" y="4864608"/>
            <a:ext cx="3200400" cy="365760"/>
          </a:xfrm>
          <a:prstGeom prst="rect">
            <a:avLst/>
          </a:prstGeom>
          <a:noFill/>
          <a:ln/>
        </p:spPr>
        <p:txBody>
          <a:bodyPr wrap="square" lIns="0" tIns="0" rIns="0" bIns="0" rtlCol="0" anchor="t"/>
          <a:lstStyle/>
          <a:p>
            <a:pPr algn="l" indent="0" marL="0">
              <a:lnSpc>
                <a:spcPct val="115000"/>
              </a:lnSpc>
              <a:buNone/>
            </a:pPr>
            <a:r>
              <a:rPr lang="en-US" sz="1900" b="1" dirty="0">
                <a:solidFill>
                  <a:srgbClr val="2E7D6B"/>
                </a:solidFill>
                <a:latin typeface="Calibri" pitchFamily="34" charset="0"/>
                <a:ea typeface="Calibri" pitchFamily="34" charset="-122"/>
                <a:cs typeface="Calibri" pitchFamily="34" charset="-120"/>
              </a:rPr>
              <a:t>10 min</a:t>
            </a:r>
            <a:endParaRPr lang="en-US" sz="1900" dirty="0"/>
          </a:p>
        </p:txBody>
      </p:sp>
      <p:sp>
        <p:nvSpPr>
          <p:cNvPr id="21" name="Text 19"/>
          <p:cNvSpPr txBox="1"/>
          <p:nvPr/>
        </p:nvSpPr>
        <p:spPr>
          <a:xfrm>
            <a:off x="4434840" y="5230368"/>
            <a:ext cx="3200400" cy="320040"/>
          </a:xfrm>
          <a:prstGeom prst="rect">
            <a:avLst/>
          </a:prstGeom>
          <a:noFill/>
          <a:ln/>
        </p:spPr>
        <p:txBody>
          <a:bodyPr wrap="square" lIns="0" tIns="0" rIns="0" bIns="0" rtlCol="0" anchor="t"/>
          <a:lstStyle/>
          <a:p>
            <a:pPr algn="l" indent="0" marL="0">
              <a:lnSpc>
                <a:spcPct val="115000"/>
              </a:lnSpc>
              <a:buNone/>
            </a:pPr>
            <a:r>
              <a:rPr lang="en-US" sz="1100" dirty="0">
                <a:solidFill>
                  <a:srgbClr val="6B7785"/>
                </a:solidFill>
                <a:latin typeface="Calibri" pitchFamily="34" charset="0"/>
                <a:ea typeface="Calibri" pitchFamily="34" charset="-122"/>
                <a:cs typeface="Calibri" pitchFamily="34" charset="-120"/>
              </a:rPr>
              <a:t>de primeira resposta</a:t>
            </a:r>
            <a:endParaRPr lang="en-US" sz="1100" dirty="0"/>
          </a:p>
        </p:txBody>
      </p:sp>
      <p:sp>
        <p:nvSpPr>
          <p:cNvPr id="22" name="Text 20"/>
          <p:cNvSpPr txBox="1"/>
          <p:nvPr/>
        </p:nvSpPr>
        <p:spPr>
          <a:xfrm>
            <a:off x="7955280" y="4864608"/>
            <a:ext cx="3200400" cy="365760"/>
          </a:xfrm>
          <a:prstGeom prst="rect">
            <a:avLst/>
          </a:prstGeom>
          <a:noFill/>
          <a:ln/>
        </p:spPr>
        <p:txBody>
          <a:bodyPr wrap="square" lIns="0" tIns="0" rIns="0" bIns="0" rtlCol="0" anchor="t"/>
          <a:lstStyle/>
          <a:p>
            <a:pPr algn="l" indent="0" marL="0">
              <a:lnSpc>
                <a:spcPct val="115000"/>
              </a:lnSpc>
              <a:buNone/>
            </a:pPr>
            <a:r>
              <a:rPr lang="en-US" sz="1900" b="1" dirty="0">
                <a:solidFill>
                  <a:srgbClr val="2E7D6B"/>
                </a:solidFill>
                <a:latin typeface="Calibri" pitchFamily="34" charset="0"/>
                <a:ea typeface="Calibri" pitchFamily="34" charset="-122"/>
                <a:cs typeface="Calibri" pitchFamily="34" charset="-120"/>
              </a:rPr>
              <a:t>6 anos</a:t>
            </a:r>
            <a:endParaRPr lang="en-US" sz="1900" dirty="0"/>
          </a:p>
        </p:txBody>
      </p:sp>
      <p:sp>
        <p:nvSpPr>
          <p:cNvPr id="23" name="Text 21"/>
          <p:cNvSpPr txBox="1"/>
          <p:nvPr/>
        </p:nvSpPr>
        <p:spPr>
          <a:xfrm>
            <a:off x="7955280" y="5230368"/>
            <a:ext cx="3200400" cy="320040"/>
          </a:xfrm>
          <a:prstGeom prst="rect">
            <a:avLst/>
          </a:prstGeom>
          <a:noFill/>
          <a:ln/>
        </p:spPr>
        <p:txBody>
          <a:bodyPr wrap="square" lIns="0" tIns="0" rIns="0" bIns="0" rtlCol="0" anchor="t"/>
          <a:lstStyle/>
          <a:p>
            <a:pPr algn="l" indent="0" marL="0">
              <a:lnSpc>
                <a:spcPct val="115000"/>
              </a:lnSpc>
              <a:buNone/>
            </a:pPr>
            <a:r>
              <a:rPr lang="en-US" sz="1100" dirty="0">
                <a:solidFill>
                  <a:srgbClr val="6B7785"/>
                </a:solidFill>
                <a:latin typeface="Calibri" pitchFamily="34" charset="0"/>
                <a:ea typeface="Calibri" pitchFamily="34" charset="-122"/>
                <a:cs typeface="Calibri" pitchFamily="34" charset="-120"/>
              </a:rPr>
              <a:t>de indicação construída</a:t>
            </a:r>
            <a:endParaRPr lang="en-US" sz="1100" dirty="0"/>
          </a:p>
        </p:txBody>
      </p:sp>
      <p:sp>
        <p:nvSpPr>
          <p:cNvPr id="24" name="Text 22"/>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todos os números informados pelo dono em 07/09/2026 · ticket médio R$ 20.000 · margem 30% · confiança alta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Entre o lead e a proposta, 40 pessoas somem —</a:t>
            </a:r>
            <a:endParaRPr lang="en-US" sz="2700" dirty="0"/>
          </a:p>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e ninguém sabe onde</a:t>
            </a:r>
            <a:endParaRPr lang="en-US" sz="2700" dirty="0"/>
          </a:p>
        </p:txBody>
      </p:sp>
      <p:sp>
        <p:nvSpPr>
          <p:cNvPr id="3" name="Shape 1"/>
          <p:cNvSpPr/>
          <p:nvPr/>
        </p:nvSpPr>
        <p:spPr>
          <a:xfrm>
            <a:off x="594360" y="1874520"/>
            <a:ext cx="1673352" cy="1097280"/>
          </a:xfrm>
          <a:prstGeom prst="roundRect">
            <a:avLst>
              <a:gd name="adj" fmla="val 6667"/>
            </a:avLst>
          </a:prstGeom>
          <a:solidFill>
            <a:srgbClr val="F4F6F8"/>
          </a:solidFill>
          <a:ln w="12700">
            <a:solidFill>
              <a:srgbClr val="DCE2E8"/>
            </a:solidFill>
            <a:prstDash val="solid"/>
          </a:ln>
        </p:spPr>
      </p:sp>
      <p:sp>
        <p:nvSpPr>
          <p:cNvPr id="4" name="Text 2"/>
          <p:cNvSpPr txBox="1"/>
          <p:nvPr/>
        </p:nvSpPr>
        <p:spPr>
          <a:xfrm>
            <a:off x="594360" y="2029968"/>
            <a:ext cx="1673352" cy="502920"/>
          </a:xfrm>
          <a:prstGeom prst="rect">
            <a:avLst/>
          </a:prstGeom>
          <a:noFill/>
          <a:ln/>
        </p:spPr>
        <p:txBody>
          <a:bodyPr wrap="square" lIns="0" tIns="0" rIns="0" bIns="0" rtlCol="0" anchor="t"/>
          <a:lstStyle/>
          <a:p>
            <a:pPr algn="ctr" indent="0" marL="0">
              <a:lnSpc>
                <a:spcPct val="115000"/>
              </a:lnSpc>
              <a:buNone/>
            </a:pPr>
            <a:r>
              <a:rPr lang="en-US" sz="2400" b="1" dirty="0">
                <a:solidFill>
                  <a:srgbClr val="1B2430"/>
                </a:solidFill>
                <a:latin typeface="Calibri" pitchFamily="34" charset="0"/>
                <a:ea typeface="Calibri" pitchFamily="34" charset="-122"/>
                <a:cs typeface="Calibri" pitchFamily="34" charset="-120"/>
              </a:rPr>
              <a:t>60</a:t>
            </a:r>
            <a:endParaRPr lang="en-US" sz="2400" dirty="0"/>
          </a:p>
        </p:txBody>
      </p:sp>
      <p:sp>
        <p:nvSpPr>
          <p:cNvPr id="5" name="Text 3"/>
          <p:cNvSpPr txBox="1"/>
          <p:nvPr/>
        </p:nvSpPr>
        <p:spPr>
          <a:xfrm>
            <a:off x="594360" y="2560320"/>
            <a:ext cx="1673352" cy="292608"/>
          </a:xfrm>
          <a:prstGeom prst="rect">
            <a:avLst/>
          </a:prstGeom>
          <a:noFill/>
          <a:ln/>
        </p:spPr>
        <p:txBody>
          <a:bodyPr wrap="square" lIns="0" tIns="0" rIns="0" bIns="0" rtlCol="0" anchor="t"/>
          <a:lstStyle/>
          <a:p>
            <a:pPr algn="ctr" indent="0" marL="0">
              <a:lnSpc>
                <a:spcPct val="115000"/>
              </a:lnSpc>
              <a:buNone/>
            </a:pPr>
            <a:r>
              <a:rPr lang="en-US" sz="900" dirty="0">
                <a:solidFill>
                  <a:srgbClr val="6B7785"/>
                </a:solidFill>
                <a:latin typeface="Calibri" pitchFamily="34" charset="0"/>
                <a:ea typeface="Calibri" pitchFamily="34" charset="-122"/>
                <a:cs typeface="Calibri" pitchFamily="34" charset="-120"/>
              </a:rPr>
              <a:t>leads</a:t>
            </a:r>
            <a:endParaRPr lang="en-US" sz="900" dirty="0"/>
          </a:p>
        </p:txBody>
      </p:sp>
      <p:sp>
        <p:nvSpPr>
          <p:cNvPr id="6" name="Shape 4"/>
          <p:cNvSpPr/>
          <p:nvPr/>
        </p:nvSpPr>
        <p:spPr>
          <a:xfrm>
            <a:off x="2459736" y="1874520"/>
            <a:ext cx="1673352" cy="1097280"/>
          </a:xfrm>
          <a:prstGeom prst="roundRect">
            <a:avLst>
              <a:gd name="adj" fmla="val 6667"/>
            </a:avLst>
          </a:prstGeom>
          <a:solidFill>
            <a:srgbClr val="EDEFF2"/>
          </a:solidFill>
          <a:ln w="12700">
            <a:solidFill>
              <a:srgbClr val="C7CFD8"/>
            </a:solidFill>
            <a:prstDash val="solid"/>
          </a:ln>
        </p:spPr>
      </p:sp>
      <p:sp>
        <p:nvSpPr>
          <p:cNvPr id="7" name="Text 5"/>
          <p:cNvSpPr txBox="1"/>
          <p:nvPr/>
        </p:nvSpPr>
        <p:spPr>
          <a:xfrm>
            <a:off x="2459736" y="2029968"/>
            <a:ext cx="1673352" cy="502920"/>
          </a:xfrm>
          <a:prstGeom prst="rect">
            <a:avLst/>
          </a:prstGeom>
          <a:noFill/>
          <a:ln/>
        </p:spPr>
        <p:txBody>
          <a:bodyPr wrap="square" lIns="0" tIns="0" rIns="0" bIns="0" rtlCol="0" anchor="t"/>
          <a:lstStyle/>
          <a:p>
            <a:pPr algn="ctr" indent="0" marL="0">
              <a:lnSpc>
                <a:spcPct val="115000"/>
              </a:lnSpc>
              <a:buNone/>
            </a:pPr>
            <a:r>
              <a:rPr lang="en-US" sz="2600" b="1" dirty="0">
                <a:solidFill>
                  <a:srgbClr val="AAB4BF"/>
                </a:solidFill>
                <a:latin typeface="Calibri" pitchFamily="34" charset="0"/>
                <a:ea typeface="Calibri" pitchFamily="34" charset="-122"/>
                <a:cs typeface="Calibri" pitchFamily="34" charset="-120"/>
              </a:rPr>
              <a:t>?</a:t>
            </a:r>
            <a:endParaRPr lang="en-US" sz="2600" dirty="0"/>
          </a:p>
        </p:txBody>
      </p:sp>
      <p:sp>
        <p:nvSpPr>
          <p:cNvPr id="8" name="Text 6"/>
          <p:cNvSpPr txBox="1"/>
          <p:nvPr/>
        </p:nvSpPr>
        <p:spPr>
          <a:xfrm>
            <a:off x="2459736" y="2560320"/>
            <a:ext cx="1673352" cy="292608"/>
          </a:xfrm>
          <a:prstGeom prst="rect">
            <a:avLst/>
          </a:prstGeom>
          <a:noFill/>
          <a:ln/>
        </p:spPr>
        <p:txBody>
          <a:bodyPr wrap="square" lIns="0" tIns="0" rIns="0" bIns="0" rtlCol="0" anchor="t"/>
          <a:lstStyle/>
          <a:p>
            <a:pPr algn="ctr" indent="0" marL="0">
              <a:lnSpc>
                <a:spcPct val="115000"/>
              </a:lnSpc>
              <a:buNone/>
            </a:pPr>
            <a:r>
              <a:rPr lang="en-US" sz="900" dirty="0">
                <a:solidFill>
                  <a:srgbClr val="AAB4BF"/>
                </a:solidFill>
                <a:latin typeface="Calibri" pitchFamily="34" charset="0"/>
                <a:ea typeface="Calibri" pitchFamily="34" charset="-122"/>
                <a:cs typeface="Calibri" pitchFamily="34" charset="-120"/>
              </a:rPr>
              <a:t>contato efetivo</a:t>
            </a:r>
            <a:endParaRPr lang="en-US" sz="900" dirty="0"/>
          </a:p>
        </p:txBody>
      </p:sp>
      <p:sp>
        <p:nvSpPr>
          <p:cNvPr id="9" name="Shape 7"/>
          <p:cNvSpPr/>
          <p:nvPr/>
        </p:nvSpPr>
        <p:spPr>
          <a:xfrm>
            <a:off x="4325112" y="1874520"/>
            <a:ext cx="1673352" cy="1097280"/>
          </a:xfrm>
          <a:prstGeom prst="roundRect">
            <a:avLst>
              <a:gd name="adj" fmla="val 6667"/>
            </a:avLst>
          </a:prstGeom>
          <a:solidFill>
            <a:srgbClr val="EDEFF2"/>
          </a:solidFill>
          <a:ln w="12700">
            <a:solidFill>
              <a:srgbClr val="C7CFD8"/>
            </a:solidFill>
            <a:prstDash val="solid"/>
          </a:ln>
        </p:spPr>
      </p:sp>
      <p:sp>
        <p:nvSpPr>
          <p:cNvPr id="10" name="Text 8"/>
          <p:cNvSpPr txBox="1"/>
          <p:nvPr/>
        </p:nvSpPr>
        <p:spPr>
          <a:xfrm>
            <a:off x="4325112" y="2029968"/>
            <a:ext cx="1673352" cy="502920"/>
          </a:xfrm>
          <a:prstGeom prst="rect">
            <a:avLst/>
          </a:prstGeom>
          <a:noFill/>
          <a:ln/>
        </p:spPr>
        <p:txBody>
          <a:bodyPr wrap="square" lIns="0" tIns="0" rIns="0" bIns="0" rtlCol="0" anchor="t"/>
          <a:lstStyle/>
          <a:p>
            <a:pPr algn="ctr" indent="0" marL="0">
              <a:lnSpc>
                <a:spcPct val="115000"/>
              </a:lnSpc>
              <a:buNone/>
            </a:pPr>
            <a:r>
              <a:rPr lang="en-US" sz="2600" b="1" dirty="0">
                <a:solidFill>
                  <a:srgbClr val="AAB4BF"/>
                </a:solidFill>
                <a:latin typeface="Calibri" pitchFamily="34" charset="0"/>
                <a:ea typeface="Calibri" pitchFamily="34" charset="-122"/>
                <a:cs typeface="Calibri" pitchFamily="34" charset="-120"/>
              </a:rPr>
              <a:t>?</a:t>
            </a:r>
            <a:endParaRPr lang="en-US" sz="2600" dirty="0"/>
          </a:p>
        </p:txBody>
      </p:sp>
      <p:sp>
        <p:nvSpPr>
          <p:cNvPr id="11" name="Text 9"/>
          <p:cNvSpPr txBox="1"/>
          <p:nvPr/>
        </p:nvSpPr>
        <p:spPr>
          <a:xfrm>
            <a:off x="4325112" y="2560320"/>
            <a:ext cx="1673352" cy="292608"/>
          </a:xfrm>
          <a:prstGeom prst="rect">
            <a:avLst/>
          </a:prstGeom>
          <a:noFill/>
          <a:ln/>
        </p:spPr>
        <p:txBody>
          <a:bodyPr wrap="square" lIns="0" tIns="0" rIns="0" bIns="0" rtlCol="0" anchor="t"/>
          <a:lstStyle/>
          <a:p>
            <a:pPr algn="ctr" indent="0" marL="0">
              <a:lnSpc>
                <a:spcPct val="115000"/>
              </a:lnSpc>
              <a:buNone/>
            </a:pPr>
            <a:r>
              <a:rPr lang="en-US" sz="900" dirty="0">
                <a:solidFill>
                  <a:srgbClr val="AAB4BF"/>
                </a:solidFill>
                <a:latin typeface="Calibri" pitchFamily="34" charset="0"/>
                <a:ea typeface="Calibri" pitchFamily="34" charset="-122"/>
                <a:cs typeface="Calibri" pitchFamily="34" charset="-120"/>
              </a:rPr>
              <a:t>qualificados</a:t>
            </a:r>
            <a:endParaRPr lang="en-US" sz="900" dirty="0"/>
          </a:p>
        </p:txBody>
      </p:sp>
      <p:sp>
        <p:nvSpPr>
          <p:cNvPr id="12" name="Shape 10"/>
          <p:cNvSpPr/>
          <p:nvPr/>
        </p:nvSpPr>
        <p:spPr>
          <a:xfrm>
            <a:off x="6190488" y="1874520"/>
            <a:ext cx="1673352" cy="1097280"/>
          </a:xfrm>
          <a:prstGeom prst="roundRect">
            <a:avLst>
              <a:gd name="adj" fmla="val 6667"/>
            </a:avLst>
          </a:prstGeom>
          <a:solidFill>
            <a:srgbClr val="EDEFF2"/>
          </a:solidFill>
          <a:ln w="12700">
            <a:solidFill>
              <a:srgbClr val="C7CFD8"/>
            </a:solidFill>
            <a:prstDash val="solid"/>
          </a:ln>
        </p:spPr>
      </p:sp>
      <p:sp>
        <p:nvSpPr>
          <p:cNvPr id="13" name="Text 11"/>
          <p:cNvSpPr txBox="1"/>
          <p:nvPr/>
        </p:nvSpPr>
        <p:spPr>
          <a:xfrm>
            <a:off x="6190488" y="2029968"/>
            <a:ext cx="1673352" cy="502920"/>
          </a:xfrm>
          <a:prstGeom prst="rect">
            <a:avLst/>
          </a:prstGeom>
          <a:noFill/>
          <a:ln/>
        </p:spPr>
        <p:txBody>
          <a:bodyPr wrap="square" lIns="0" tIns="0" rIns="0" bIns="0" rtlCol="0" anchor="t"/>
          <a:lstStyle/>
          <a:p>
            <a:pPr algn="ctr" indent="0" marL="0">
              <a:lnSpc>
                <a:spcPct val="115000"/>
              </a:lnSpc>
              <a:buNone/>
            </a:pPr>
            <a:r>
              <a:rPr lang="en-US" sz="2600" b="1" dirty="0">
                <a:solidFill>
                  <a:srgbClr val="AAB4BF"/>
                </a:solidFill>
                <a:latin typeface="Calibri" pitchFamily="34" charset="0"/>
                <a:ea typeface="Calibri" pitchFamily="34" charset="-122"/>
                <a:cs typeface="Calibri" pitchFamily="34" charset="-120"/>
              </a:rPr>
              <a:t>?</a:t>
            </a:r>
            <a:endParaRPr lang="en-US" sz="2600" dirty="0"/>
          </a:p>
        </p:txBody>
      </p:sp>
      <p:sp>
        <p:nvSpPr>
          <p:cNvPr id="14" name="Text 12"/>
          <p:cNvSpPr txBox="1"/>
          <p:nvPr/>
        </p:nvSpPr>
        <p:spPr>
          <a:xfrm>
            <a:off x="6190488" y="2560320"/>
            <a:ext cx="1673352" cy="292608"/>
          </a:xfrm>
          <a:prstGeom prst="rect">
            <a:avLst/>
          </a:prstGeom>
          <a:noFill/>
          <a:ln/>
        </p:spPr>
        <p:txBody>
          <a:bodyPr wrap="square" lIns="0" tIns="0" rIns="0" bIns="0" rtlCol="0" anchor="t"/>
          <a:lstStyle/>
          <a:p>
            <a:pPr algn="ctr" indent="0" marL="0">
              <a:lnSpc>
                <a:spcPct val="115000"/>
              </a:lnSpc>
              <a:buNone/>
            </a:pPr>
            <a:r>
              <a:rPr lang="en-US" sz="900" dirty="0">
                <a:solidFill>
                  <a:srgbClr val="AAB4BF"/>
                </a:solidFill>
                <a:latin typeface="Calibri" pitchFamily="34" charset="0"/>
                <a:ea typeface="Calibri" pitchFamily="34" charset="-122"/>
                <a:cs typeface="Calibri" pitchFamily="34" charset="-120"/>
              </a:rPr>
              <a:t>diagnósticos</a:t>
            </a:r>
            <a:endParaRPr lang="en-US" sz="900" dirty="0"/>
          </a:p>
        </p:txBody>
      </p:sp>
      <p:sp>
        <p:nvSpPr>
          <p:cNvPr id="15" name="Shape 13"/>
          <p:cNvSpPr/>
          <p:nvPr/>
        </p:nvSpPr>
        <p:spPr>
          <a:xfrm>
            <a:off x="8055864" y="1874520"/>
            <a:ext cx="1673352" cy="1097280"/>
          </a:xfrm>
          <a:prstGeom prst="roundRect">
            <a:avLst>
              <a:gd name="adj" fmla="val 6667"/>
            </a:avLst>
          </a:prstGeom>
          <a:solidFill>
            <a:srgbClr val="F4F6F8"/>
          </a:solidFill>
          <a:ln w="12700">
            <a:solidFill>
              <a:srgbClr val="DCE2E8"/>
            </a:solidFill>
            <a:prstDash val="solid"/>
          </a:ln>
        </p:spPr>
      </p:sp>
      <p:sp>
        <p:nvSpPr>
          <p:cNvPr id="16" name="Text 14"/>
          <p:cNvSpPr txBox="1"/>
          <p:nvPr/>
        </p:nvSpPr>
        <p:spPr>
          <a:xfrm>
            <a:off x="8055864" y="2029968"/>
            <a:ext cx="1673352" cy="502920"/>
          </a:xfrm>
          <a:prstGeom prst="rect">
            <a:avLst/>
          </a:prstGeom>
          <a:noFill/>
          <a:ln/>
        </p:spPr>
        <p:txBody>
          <a:bodyPr wrap="square" lIns="0" tIns="0" rIns="0" bIns="0" rtlCol="0" anchor="t"/>
          <a:lstStyle/>
          <a:p>
            <a:pPr algn="ctr" indent="0" marL="0">
              <a:lnSpc>
                <a:spcPct val="115000"/>
              </a:lnSpc>
              <a:buNone/>
            </a:pPr>
            <a:r>
              <a:rPr lang="en-US" sz="2400" b="1" dirty="0">
                <a:solidFill>
                  <a:srgbClr val="1B2430"/>
                </a:solidFill>
                <a:latin typeface="Calibri" pitchFamily="34" charset="0"/>
                <a:ea typeface="Calibri" pitchFamily="34" charset="-122"/>
                <a:cs typeface="Calibri" pitchFamily="34" charset="-120"/>
              </a:rPr>
              <a:t>20</a:t>
            </a:r>
            <a:endParaRPr lang="en-US" sz="2400" dirty="0"/>
          </a:p>
        </p:txBody>
      </p:sp>
      <p:sp>
        <p:nvSpPr>
          <p:cNvPr id="17" name="Text 15"/>
          <p:cNvSpPr txBox="1"/>
          <p:nvPr/>
        </p:nvSpPr>
        <p:spPr>
          <a:xfrm>
            <a:off x="8055864" y="2560320"/>
            <a:ext cx="1673352" cy="292608"/>
          </a:xfrm>
          <a:prstGeom prst="rect">
            <a:avLst/>
          </a:prstGeom>
          <a:noFill/>
          <a:ln/>
        </p:spPr>
        <p:txBody>
          <a:bodyPr wrap="square" lIns="0" tIns="0" rIns="0" bIns="0" rtlCol="0" anchor="t"/>
          <a:lstStyle/>
          <a:p>
            <a:pPr algn="ctr" indent="0" marL="0">
              <a:lnSpc>
                <a:spcPct val="115000"/>
              </a:lnSpc>
              <a:buNone/>
            </a:pPr>
            <a:r>
              <a:rPr lang="en-US" sz="900" dirty="0">
                <a:solidFill>
                  <a:srgbClr val="6B7785"/>
                </a:solidFill>
                <a:latin typeface="Calibri" pitchFamily="34" charset="0"/>
                <a:ea typeface="Calibri" pitchFamily="34" charset="-122"/>
                <a:cs typeface="Calibri" pitchFamily="34" charset="-120"/>
              </a:rPr>
              <a:t>propostas</a:t>
            </a:r>
            <a:endParaRPr lang="en-US" sz="900" dirty="0"/>
          </a:p>
        </p:txBody>
      </p:sp>
      <p:sp>
        <p:nvSpPr>
          <p:cNvPr id="18" name="Shape 16"/>
          <p:cNvSpPr/>
          <p:nvPr/>
        </p:nvSpPr>
        <p:spPr>
          <a:xfrm>
            <a:off x="9921240" y="1874520"/>
            <a:ext cx="1673352" cy="1097280"/>
          </a:xfrm>
          <a:prstGeom prst="roundRect">
            <a:avLst>
              <a:gd name="adj" fmla="val 6667"/>
            </a:avLst>
          </a:prstGeom>
          <a:solidFill>
            <a:srgbClr val="F4F6F8"/>
          </a:solidFill>
          <a:ln w="12700">
            <a:solidFill>
              <a:srgbClr val="DCE2E8"/>
            </a:solidFill>
            <a:prstDash val="solid"/>
          </a:ln>
        </p:spPr>
      </p:sp>
      <p:sp>
        <p:nvSpPr>
          <p:cNvPr id="19" name="Text 17"/>
          <p:cNvSpPr txBox="1"/>
          <p:nvPr/>
        </p:nvSpPr>
        <p:spPr>
          <a:xfrm>
            <a:off x="9921240" y="2029968"/>
            <a:ext cx="1673352" cy="502920"/>
          </a:xfrm>
          <a:prstGeom prst="rect">
            <a:avLst/>
          </a:prstGeom>
          <a:noFill/>
          <a:ln/>
        </p:spPr>
        <p:txBody>
          <a:bodyPr wrap="square" lIns="0" tIns="0" rIns="0" bIns="0" rtlCol="0" anchor="t"/>
          <a:lstStyle/>
          <a:p>
            <a:pPr algn="ctr" indent="0" marL="0">
              <a:lnSpc>
                <a:spcPct val="115000"/>
              </a:lnSpc>
              <a:buNone/>
            </a:pPr>
            <a:r>
              <a:rPr lang="en-US" sz="2400" b="1" dirty="0">
                <a:solidFill>
                  <a:srgbClr val="1B2430"/>
                </a:solidFill>
                <a:latin typeface="Calibri" pitchFamily="34" charset="0"/>
                <a:ea typeface="Calibri" pitchFamily="34" charset="-122"/>
                <a:cs typeface="Calibri" pitchFamily="34" charset="-120"/>
              </a:rPr>
              <a:t>7</a:t>
            </a:r>
            <a:endParaRPr lang="en-US" sz="2400" dirty="0"/>
          </a:p>
        </p:txBody>
      </p:sp>
      <p:sp>
        <p:nvSpPr>
          <p:cNvPr id="20" name="Text 18"/>
          <p:cNvSpPr txBox="1"/>
          <p:nvPr/>
        </p:nvSpPr>
        <p:spPr>
          <a:xfrm>
            <a:off x="9921240" y="2560320"/>
            <a:ext cx="1673352" cy="292608"/>
          </a:xfrm>
          <a:prstGeom prst="rect">
            <a:avLst/>
          </a:prstGeom>
          <a:noFill/>
          <a:ln/>
        </p:spPr>
        <p:txBody>
          <a:bodyPr wrap="square" lIns="0" tIns="0" rIns="0" bIns="0" rtlCol="0" anchor="t"/>
          <a:lstStyle/>
          <a:p>
            <a:pPr algn="ctr" indent="0" marL="0">
              <a:lnSpc>
                <a:spcPct val="115000"/>
              </a:lnSpc>
              <a:buNone/>
            </a:pPr>
            <a:r>
              <a:rPr lang="en-US" sz="900" dirty="0">
                <a:solidFill>
                  <a:srgbClr val="6B7785"/>
                </a:solidFill>
                <a:latin typeface="Calibri" pitchFamily="34" charset="0"/>
                <a:ea typeface="Calibri" pitchFamily="34" charset="-122"/>
                <a:cs typeface="Calibri" pitchFamily="34" charset="-120"/>
              </a:rPr>
              <a:t>contratos</a:t>
            </a:r>
            <a:endParaRPr lang="en-US" sz="900" dirty="0"/>
          </a:p>
        </p:txBody>
      </p:sp>
      <p:sp>
        <p:nvSpPr>
          <p:cNvPr id="21" name="Text 19"/>
          <p:cNvSpPr txBox="1"/>
          <p:nvPr/>
        </p:nvSpPr>
        <p:spPr>
          <a:xfrm>
            <a:off x="2459736" y="3035808"/>
            <a:ext cx="5394960" cy="274320"/>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estas três etapas não são medidas hoje</a:t>
            </a:r>
            <a:endParaRPr lang="en-US" sz="1050" dirty="0"/>
          </a:p>
        </p:txBody>
      </p:sp>
      <p:sp>
        <p:nvSpPr>
          <p:cNvPr id="22" name="Text 20"/>
          <p:cNvSpPr txBox="1"/>
          <p:nvPr/>
        </p:nvSpPr>
        <p:spPr>
          <a:xfrm>
            <a:off x="594360" y="3611880"/>
            <a:ext cx="2286000" cy="1371600"/>
          </a:xfrm>
          <a:prstGeom prst="rect">
            <a:avLst/>
          </a:prstGeom>
          <a:noFill/>
          <a:ln/>
        </p:spPr>
        <p:txBody>
          <a:bodyPr wrap="square" lIns="0" tIns="0" rIns="0" bIns="0" rtlCol="0" anchor="ctr"/>
          <a:lstStyle/>
          <a:p>
            <a:pPr algn="l" indent="0" marL="0">
              <a:buNone/>
            </a:pPr>
            <a:r>
              <a:rPr lang="en-US" sz="8800" b="1" dirty="0">
                <a:solidFill>
                  <a:srgbClr val="E8833A"/>
                </a:solidFill>
                <a:latin typeface="Calibri" pitchFamily="34" charset="0"/>
                <a:ea typeface="Calibri" pitchFamily="34" charset="-122"/>
                <a:cs typeface="Calibri" pitchFamily="34" charset="-120"/>
              </a:rPr>
              <a:t>40</a:t>
            </a:r>
            <a:endParaRPr lang="en-US" sz="8800" dirty="0"/>
          </a:p>
        </p:txBody>
      </p:sp>
      <p:sp>
        <p:nvSpPr>
          <p:cNvPr id="23" name="Text 21"/>
          <p:cNvSpPr txBox="1"/>
          <p:nvPr/>
        </p:nvSpPr>
        <p:spPr>
          <a:xfrm>
            <a:off x="2971800" y="3794760"/>
            <a:ext cx="4206240" cy="914400"/>
          </a:xfrm>
          <a:prstGeom prst="rect">
            <a:avLst/>
          </a:prstGeom>
          <a:noFill/>
          <a:ln/>
        </p:spPr>
        <p:txBody>
          <a:bodyPr wrap="square" lIns="0" tIns="0" rIns="0" bIns="0" rtlCol="0" anchor="ctr"/>
          <a:lstStyle/>
          <a:p>
            <a:pPr algn="l" indent="0" marL="0">
              <a:lnSpc>
                <a:spcPct val="115000"/>
              </a:lnSpc>
              <a:buNone/>
            </a:pPr>
            <a:r>
              <a:rPr lang="en-US" sz="1400" b="1" dirty="0">
                <a:solidFill>
                  <a:srgbClr val="1B2430"/>
                </a:solidFill>
                <a:latin typeface="Calibri" pitchFamily="34" charset="0"/>
                <a:ea typeface="Calibri" pitchFamily="34" charset="-122"/>
                <a:cs typeface="Calibri" pitchFamily="34" charset="-120"/>
              </a:rPr>
              <a:t>leads por mês entram e não viram proposta — 66,7% de tudo que chega</a:t>
            </a:r>
            <a:endParaRPr lang="en-US" sz="1400" dirty="0"/>
          </a:p>
        </p:txBody>
      </p:sp>
      <p:sp>
        <p:nvSpPr>
          <p:cNvPr id="24" name="Shape 22"/>
          <p:cNvSpPr/>
          <p:nvPr/>
        </p:nvSpPr>
        <p:spPr>
          <a:xfrm>
            <a:off x="7452360" y="3611880"/>
            <a:ext cx="4142232" cy="2286000"/>
          </a:xfrm>
          <a:prstGeom prst="roundRect">
            <a:avLst>
              <a:gd name="adj" fmla="val 3200"/>
            </a:avLst>
          </a:prstGeom>
          <a:solidFill>
            <a:srgbClr val="F4F6F8"/>
          </a:solidFill>
          <a:ln/>
        </p:spPr>
      </p:sp>
      <p:sp>
        <p:nvSpPr>
          <p:cNvPr id="25" name="Text 23"/>
          <p:cNvSpPr txBox="1"/>
          <p:nvPr/>
        </p:nvSpPr>
        <p:spPr>
          <a:xfrm>
            <a:off x="7772400" y="3822192"/>
            <a:ext cx="3566160" cy="274320"/>
          </a:xfrm>
          <a:prstGeom prst="rect">
            <a:avLst/>
          </a:prstGeom>
          <a:noFill/>
          <a:ln/>
        </p:spPr>
        <p:txBody>
          <a:bodyPr wrap="square" lIns="0" tIns="0" rIns="0" bIns="0" rtlCol="0" anchor="t"/>
          <a:lstStyle/>
          <a:p>
            <a:pPr algn="l" indent="0" marL="0">
              <a:lnSpc>
                <a:spcPct val="115000"/>
              </a:lnSpc>
              <a:buNone/>
            </a:pPr>
            <a:r>
              <a:rPr lang="en-US" sz="950" b="1" dirty="0">
                <a:solidFill>
                  <a:srgbClr val="6B7785"/>
                </a:solidFill>
                <a:latin typeface="Calibri" pitchFamily="34" charset="0"/>
                <a:ea typeface="Calibri" pitchFamily="34" charset="-122"/>
                <a:cs typeface="Calibri" pitchFamily="34" charset="-120"/>
              </a:rPr>
              <a:t>SÃO QUATRO PROBLEMAS DIFERENTES</a:t>
            </a:r>
            <a:endParaRPr lang="en-US" sz="950" dirty="0"/>
          </a:p>
        </p:txBody>
      </p:sp>
      <p:sp>
        <p:nvSpPr>
          <p:cNvPr id="26" name="Text 24"/>
          <p:cNvSpPr txBox="1"/>
          <p:nvPr/>
        </p:nvSpPr>
        <p:spPr>
          <a:xfrm>
            <a:off x="7772400" y="4160520"/>
            <a:ext cx="3566160" cy="1280160"/>
          </a:xfrm>
          <a:prstGeom prst="rect">
            <a:avLst/>
          </a:prstGeom>
          <a:noFill/>
          <a:ln/>
        </p:spPr>
        <p:txBody>
          <a:bodyPr wrap="square" lIns="0" tIns="0" rIns="0" bIns="0" rtlCol="0" anchor="t"/>
          <a:lstStyle/>
          <a:p>
            <a:pPr algn="l" indent="0" marL="0">
              <a:lnSpc>
                <a:spcPct val="150000"/>
              </a:lnSpc>
              <a:buNone/>
            </a:pPr>
            <a:r>
              <a:rPr lang="en-US" sz="1200" dirty="0">
                <a:solidFill>
                  <a:srgbClr val="1B2430"/>
                </a:solidFill>
                <a:latin typeface="Calibri" pitchFamily="34" charset="0"/>
                <a:ea typeface="Calibri" pitchFamily="34" charset="-122"/>
                <a:cs typeface="Calibri" pitchFamily="34" charset="-120"/>
              </a:rPr>
              <a:t>nunca foi respondido de verdade
</a:t>
            </a:r>
            <a:pPr algn="l" indent="0" marL="0">
              <a:lnSpc>
                <a:spcPct val="150000"/>
              </a:lnSpc>
              <a:buNone/>
            </a:pPr>
            <a:r>
              <a:rPr lang="en-US" sz="1200" dirty="0">
                <a:solidFill>
                  <a:srgbClr val="1B2430"/>
                </a:solidFill>
                <a:latin typeface="Calibri" pitchFamily="34" charset="0"/>
                <a:ea typeface="Calibri" pitchFamily="34" charset="-122"/>
                <a:cs typeface="Calibri" pitchFamily="34" charset="-120"/>
              </a:rPr>
              <a:t>foi respondido e não tinha perfil
</a:t>
            </a:r>
            <a:pPr algn="l" indent="0" marL="0">
              <a:lnSpc>
                <a:spcPct val="150000"/>
              </a:lnSpc>
              <a:buNone/>
            </a:pPr>
            <a:r>
              <a:rPr lang="en-US" sz="1200" dirty="0">
                <a:solidFill>
                  <a:srgbClr val="1B2430"/>
                </a:solidFill>
                <a:latin typeface="Calibri" pitchFamily="34" charset="0"/>
                <a:ea typeface="Calibri" pitchFamily="34" charset="-122"/>
                <a:cs typeface="Calibri" pitchFamily="34" charset="-120"/>
              </a:rPr>
              <a:t>tinha perfil e não avançou
</a:t>
            </a:r>
            <a:pPr algn="l" indent="0" marL="0">
              <a:lnSpc>
                <a:spcPct val="150000"/>
              </a:lnSpc>
              <a:buNone/>
            </a:pPr>
            <a:r>
              <a:rPr lang="en-US" sz="1200" dirty="0">
                <a:solidFill>
                  <a:srgbClr val="1B2430"/>
                </a:solidFill>
                <a:latin typeface="Calibri" pitchFamily="34" charset="0"/>
                <a:ea typeface="Calibri" pitchFamily="34" charset="-122"/>
                <a:cs typeface="Calibri" pitchFamily="34" charset="-120"/>
              </a:rPr>
              <a:t>foi visitado e não recebeu proposta</a:t>
            </a:r>
            <a:endParaRPr lang="en-US" sz="1200" dirty="0"/>
          </a:p>
        </p:txBody>
      </p:sp>
      <p:sp>
        <p:nvSpPr>
          <p:cNvPr id="27" name="Text 25"/>
          <p:cNvSpPr txBox="1"/>
          <p:nvPr/>
        </p:nvSpPr>
        <p:spPr>
          <a:xfrm>
            <a:off x="7772400" y="5504688"/>
            <a:ext cx="3566160" cy="274320"/>
          </a:xfrm>
          <a:prstGeom prst="rect">
            <a:avLst/>
          </a:prstGeom>
          <a:noFill/>
          <a:ln/>
        </p:spPr>
        <p:txBody>
          <a:bodyPr wrap="square" lIns="0" tIns="0" rIns="0" bIns="0" rtlCol="0" anchor="t"/>
          <a:lstStyle/>
          <a:p>
            <a:pPr algn="l" indent="0" marL="0">
              <a:lnSpc>
                <a:spcPct val="115000"/>
              </a:lnSpc>
              <a:buNone/>
            </a:pPr>
            <a:r>
              <a:rPr lang="en-US" sz="1100" b="1" dirty="0">
                <a:solidFill>
                  <a:srgbClr val="E8833A"/>
                </a:solidFill>
                <a:latin typeface="Calibri" pitchFamily="34" charset="0"/>
                <a:ea typeface="Calibri" pitchFamily="34" charset="-122"/>
                <a:cs typeface="Calibri" pitchFamily="34" charset="-120"/>
              </a:rPr>
              <a:t>Quatro correções, quatro preços.</a:t>
            </a:r>
            <a:endParaRPr lang="en-US" sz="1100" dirty="0"/>
          </a:p>
        </p:txBody>
      </p:sp>
      <p:sp>
        <p:nvSpPr>
          <p:cNvPr id="28" name="Text 26"/>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60 − 20 = 40, aritmética sobre dados informados · confiança alta · as três etapas do meio não são medidas (evidência direta da coleta)</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3000" b="1" dirty="0">
                <a:solidFill>
                  <a:srgbClr val="1B2430"/>
                </a:solidFill>
                <a:latin typeface="Cambria" pitchFamily="34" charset="0"/>
                <a:ea typeface="Cambria" pitchFamily="34" charset="-122"/>
                <a:cs typeface="Cambria" pitchFamily="34" charset="-120"/>
              </a:rPr>
              <a:t>Uma pessoa faz tudo. E essa pessoa é você.</a:t>
            </a:r>
            <a:endParaRPr lang="en-US" sz="3000" dirty="0"/>
          </a:p>
        </p:txBody>
      </p:sp>
      <p:sp>
        <p:nvSpPr>
          <p:cNvPr id="3" name="Shape 1"/>
          <p:cNvSpPr/>
          <p:nvPr/>
        </p:nvSpPr>
        <p:spPr>
          <a:xfrm>
            <a:off x="594360" y="1691640"/>
            <a:ext cx="1097280" cy="868680"/>
          </a:xfrm>
          <a:prstGeom prst="roundRect">
            <a:avLst>
              <a:gd name="adj" fmla="val 8421"/>
            </a:avLst>
          </a:prstGeom>
          <a:solidFill>
            <a:srgbClr val="F4F6F8"/>
          </a:solidFill>
          <a:ln w="12700">
            <a:solidFill>
              <a:srgbClr val="DCE2E8"/>
            </a:solidFill>
            <a:prstDash val="solid"/>
          </a:ln>
        </p:spPr>
      </p:sp>
      <p:sp>
        <p:nvSpPr>
          <p:cNvPr id="4" name="Text 2"/>
          <p:cNvSpPr txBox="1"/>
          <p:nvPr/>
        </p:nvSpPr>
        <p:spPr>
          <a:xfrm>
            <a:off x="594360"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5" name="Text 3"/>
          <p:cNvSpPr txBox="1"/>
          <p:nvPr/>
        </p:nvSpPr>
        <p:spPr>
          <a:xfrm>
            <a:off x="594360"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prospecção</a:t>
            </a:r>
            <a:endParaRPr lang="en-US" sz="850" dirty="0"/>
          </a:p>
        </p:txBody>
      </p:sp>
      <p:sp>
        <p:nvSpPr>
          <p:cNvPr id="6" name="Shape 4"/>
          <p:cNvSpPr/>
          <p:nvPr/>
        </p:nvSpPr>
        <p:spPr>
          <a:xfrm>
            <a:off x="1815084" y="1691640"/>
            <a:ext cx="1097280" cy="868680"/>
          </a:xfrm>
          <a:prstGeom prst="roundRect">
            <a:avLst>
              <a:gd name="adj" fmla="val 8421"/>
            </a:avLst>
          </a:prstGeom>
          <a:solidFill>
            <a:srgbClr val="F4F6F8"/>
          </a:solidFill>
          <a:ln w="12700">
            <a:solidFill>
              <a:srgbClr val="DCE2E8"/>
            </a:solidFill>
            <a:prstDash val="solid"/>
          </a:ln>
        </p:spPr>
      </p:sp>
      <p:sp>
        <p:nvSpPr>
          <p:cNvPr id="7" name="Text 5"/>
          <p:cNvSpPr txBox="1"/>
          <p:nvPr/>
        </p:nvSpPr>
        <p:spPr>
          <a:xfrm>
            <a:off x="1815084"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8" name="Text 6"/>
          <p:cNvSpPr txBox="1"/>
          <p:nvPr/>
        </p:nvSpPr>
        <p:spPr>
          <a:xfrm>
            <a:off x="1815084"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1ª resposta</a:t>
            </a:r>
            <a:endParaRPr lang="en-US" sz="850" dirty="0"/>
          </a:p>
        </p:txBody>
      </p:sp>
      <p:sp>
        <p:nvSpPr>
          <p:cNvPr id="9" name="Shape 7"/>
          <p:cNvSpPr/>
          <p:nvPr/>
        </p:nvSpPr>
        <p:spPr>
          <a:xfrm>
            <a:off x="3035808" y="1691640"/>
            <a:ext cx="1097280" cy="868680"/>
          </a:xfrm>
          <a:prstGeom prst="roundRect">
            <a:avLst>
              <a:gd name="adj" fmla="val 8421"/>
            </a:avLst>
          </a:prstGeom>
          <a:solidFill>
            <a:srgbClr val="F4F6F8"/>
          </a:solidFill>
          <a:ln w="12700">
            <a:solidFill>
              <a:srgbClr val="DCE2E8"/>
            </a:solidFill>
            <a:prstDash val="solid"/>
          </a:ln>
        </p:spPr>
      </p:sp>
      <p:sp>
        <p:nvSpPr>
          <p:cNvPr id="10" name="Text 8"/>
          <p:cNvSpPr txBox="1"/>
          <p:nvPr/>
        </p:nvSpPr>
        <p:spPr>
          <a:xfrm>
            <a:off x="3035808"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11" name="Text 9"/>
          <p:cNvSpPr txBox="1"/>
          <p:nvPr/>
        </p:nvSpPr>
        <p:spPr>
          <a:xfrm>
            <a:off x="3035808"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qualificação</a:t>
            </a:r>
            <a:endParaRPr lang="en-US" sz="850" dirty="0"/>
          </a:p>
        </p:txBody>
      </p:sp>
      <p:sp>
        <p:nvSpPr>
          <p:cNvPr id="12" name="Shape 10"/>
          <p:cNvSpPr/>
          <p:nvPr/>
        </p:nvSpPr>
        <p:spPr>
          <a:xfrm>
            <a:off x="4256532" y="1691640"/>
            <a:ext cx="1097280" cy="868680"/>
          </a:xfrm>
          <a:prstGeom prst="roundRect">
            <a:avLst>
              <a:gd name="adj" fmla="val 8421"/>
            </a:avLst>
          </a:prstGeom>
          <a:solidFill>
            <a:srgbClr val="F4F6F8"/>
          </a:solidFill>
          <a:ln w="12700">
            <a:solidFill>
              <a:srgbClr val="DCE2E8"/>
            </a:solidFill>
            <a:prstDash val="solid"/>
          </a:ln>
        </p:spPr>
      </p:sp>
      <p:sp>
        <p:nvSpPr>
          <p:cNvPr id="13" name="Text 11"/>
          <p:cNvSpPr txBox="1"/>
          <p:nvPr/>
        </p:nvSpPr>
        <p:spPr>
          <a:xfrm>
            <a:off x="4256532"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14" name="Text 12"/>
          <p:cNvSpPr txBox="1"/>
          <p:nvPr/>
        </p:nvSpPr>
        <p:spPr>
          <a:xfrm>
            <a:off x="4256532"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visita</a:t>
            </a:r>
            <a:endParaRPr lang="en-US" sz="850" dirty="0"/>
          </a:p>
        </p:txBody>
      </p:sp>
      <p:sp>
        <p:nvSpPr>
          <p:cNvPr id="15" name="Shape 13"/>
          <p:cNvSpPr/>
          <p:nvPr/>
        </p:nvSpPr>
        <p:spPr>
          <a:xfrm>
            <a:off x="5477256" y="1691640"/>
            <a:ext cx="1097280" cy="868680"/>
          </a:xfrm>
          <a:prstGeom prst="roundRect">
            <a:avLst>
              <a:gd name="adj" fmla="val 8421"/>
            </a:avLst>
          </a:prstGeom>
          <a:solidFill>
            <a:srgbClr val="F4F6F8"/>
          </a:solidFill>
          <a:ln w="12700">
            <a:solidFill>
              <a:srgbClr val="DCE2E8"/>
            </a:solidFill>
            <a:prstDash val="solid"/>
          </a:ln>
        </p:spPr>
      </p:sp>
      <p:sp>
        <p:nvSpPr>
          <p:cNvPr id="16" name="Text 14"/>
          <p:cNvSpPr txBox="1"/>
          <p:nvPr/>
        </p:nvSpPr>
        <p:spPr>
          <a:xfrm>
            <a:off x="5477256"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17" name="Text 15"/>
          <p:cNvSpPr txBox="1"/>
          <p:nvPr/>
        </p:nvSpPr>
        <p:spPr>
          <a:xfrm>
            <a:off x="5477256"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dimensionar</a:t>
            </a:r>
            <a:endParaRPr lang="en-US" sz="850" dirty="0"/>
          </a:p>
        </p:txBody>
      </p:sp>
      <p:sp>
        <p:nvSpPr>
          <p:cNvPr id="18" name="Shape 16"/>
          <p:cNvSpPr/>
          <p:nvPr/>
        </p:nvSpPr>
        <p:spPr>
          <a:xfrm>
            <a:off x="6697980" y="1691640"/>
            <a:ext cx="1097280" cy="868680"/>
          </a:xfrm>
          <a:prstGeom prst="roundRect">
            <a:avLst>
              <a:gd name="adj" fmla="val 8421"/>
            </a:avLst>
          </a:prstGeom>
          <a:solidFill>
            <a:srgbClr val="F4F6F8"/>
          </a:solidFill>
          <a:ln w="12700">
            <a:solidFill>
              <a:srgbClr val="DCE2E8"/>
            </a:solidFill>
            <a:prstDash val="solid"/>
          </a:ln>
        </p:spPr>
      </p:sp>
      <p:sp>
        <p:nvSpPr>
          <p:cNvPr id="19" name="Text 17"/>
          <p:cNvSpPr txBox="1"/>
          <p:nvPr/>
        </p:nvSpPr>
        <p:spPr>
          <a:xfrm>
            <a:off x="6697980"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20" name="Text 18"/>
          <p:cNvSpPr txBox="1"/>
          <p:nvPr/>
        </p:nvSpPr>
        <p:spPr>
          <a:xfrm>
            <a:off x="6697980"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proposta</a:t>
            </a:r>
            <a:endParaRPr lang="en-US" sz="850" dirty="0"/>
          </a:p>
        </p:txBody>
      </p:sp>
      <p:sp>
        <p:nvSpPr>
          <p:cNvPr id="21" name="Shape 19"/>
          <p:cNvSpPr/>
          <p:nvPr/>
        </p:nvSpPr>
        <p:spPr>
          <a:xfrm>
            <a:off x="7918704" y="1691640"/>
            <a:ext cx="1097280" cy="868680"/>
          </a:xfrm>
          <a:prstGeom prst="roundRect">
            <a:avLst>
              <a:gd name="adj" fmla="val 8421"/>
            </a:avLst>
          </a:prstGeom>
          <a:solidFill>
            <a:srgbClr val="F4F6F8"/>
          </a:solidFill>
          <a:ln w="12700">
            <a:solidFill>
              <a:srgbClr val="DCE2E8"/>
            </a:solidFill>
            <a:prstDash val="solid"/>
          </a:ln>
        </p:spPr>
      </p:sp>
      <p:sp>
        <p:nvSpPr>
          <p:cNvPr id="22" name="Text 20"/>
          <p:cNvSpPr txBox="1"/>
          <p:nvPr/>
        </p:nvSpPr>
        <p:spPr>
          <a:xfrm>
            <a:off x="7918704"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23" name="Text 21"/>
          <p:cNvSpPr txBox="1"/>
          <p:nvPr/>
        </p:nvSpPr>
        <p:spPr>
          <a:xfrm>
            <a:off x="7918704"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negociação</a:t>
            </a:r>
            <a:endParaRPr lang="en-US" sz="850" dirty="0"/>
          </a:p>
        </p:txBody>
      </p:sp>
      <p:sp>
        <p:nvSpPr>
          <p:cNvPr id="24" name="Shape 22"/>
          <p:cNvSpPr/>
          <p:nvPr/>
        </p:nvSpPr>
        <p:spPr>
          <a:xfrm>
            <a:off x="9139428" y="1691640"/>
            <a:ext cx="1097280" cy="868680"/>
          </a:xfrm>
          <a:prstGeom prst="roundRect">
            <a:avLst>
              <a:gd name="adj" fmla="val 8421"/>
            </a:avLst>
          </a:prstGeom>
          <a:solidFill>
            <a:srgbClr val="F4F6F8"/>
          </a:solidFill>
          <a:ln w="12700">
            <a:solidFill>
              <a:srgbClr val="DCE2E8"/>
            </a:solidFill>
            <a:prstDash val="solid"/>
          </a:ln>
        </p:spPr>
      </p:sp>
      <p:sp>
        <p:nvSpPr>
          <p:cNvPr id="25" name="Text 23"/>
          <p:cNvSpPr txBox="1"/>
          <p:nvPr/>
        </p:nvSpPr>
        <p:spPr>
          <a:xfrm>
            <a:off x="9139428"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26" name="Text 24"/>
          <p:cNvSpPr txBox="1"/>
          <p:nvPr/>
        </p:nvSpPr>
        <p:spPr>
          <a:xfrm>
            <a:off x="9139428"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fechamento</a:t>
            </a:r>
            <a:endParaRPr lang="en-US" sz="850" dirty="0"/>
          </a:p>
        </p:txBody>
      </p:sp>
      <p:sp>
        <p:nvSpPr>
          <p:cNvPr id="27" name="Shape 25"/>
          <p:cNvSpPr/>
          <p:nvPr/>
        </p:nvSpPr>
        <p:spPr>
          <a:xfrm>
            <a:off x="10360152" y="1691640"/>
            <a:ext cx="1097280" cy="868680"/>
          </a:xfrm>
          <a:prstGeom prst="roundRect">
            <a:avLst>
              <a:gd name="adj" fmla="val 8421"/>
            </a:avLst>
          </a:prstGeom>
          <a:solidFill>
            <a:srgbClr val="F4F6F8"/>
          </a:solidFill>
          <a:ln w="12700">
            <a:solidFill>
              <a:srgbClr val="DCE2E8"/>
            </a:solidFill>
            <a:prstDash val="solid"/>
          </a:ln>
        </p:spPr>
      </p:sp>
      <p:sp>
        <p:nvSpPr>
          <p:cNvPr id="28" name="Text 26"/>
          <p:cNvSpPr txBox="1"/>
          <p:nvPr/>
        </p:nvSpPr>
        <p:spPr>
          <a:xfrm>
            <a:off x="10360152" y="1847088"/>
            <a:ext cx="1097280" cy="256032"/>
          </a:xfrm>
          <a:prstGeom prst="rect">
            <a:avLst/>
          </a:prstGeom>
          <a:noFill/>
          <a:ln/>
        </p:spPr>
        <p:txBody>
          <a:bodyPr wrap="square" lIns="0" tIns="0" rIns="0" bIns="0" rtlCol="0" anchor="t"/>
          <a:lstStyle/>
          <a:p>
            <a:pPr algn="ctr" indent="0" marL="0">
              <a:lnSpc>
                <a:spcPct val="115000"/>
              </a:lnSpc>
              <a:buNone/>
            </a:pPr>
            <a:r>
              <a:rPr lang="en-US" sz="1050" b="1" dirty="0">
                <a:solidFill>
                  <a:srgbClr val="E8833A"/>
                </a:solidFill>
                <a:latin typeface="Calibri" pitchFamily="34" charset="0"/>
                <a:ea typeface="Calibri" pitchFamily="34" charset="-122"/>
                <a:cs typeface="Calibri" pitchFamily="34" charset="-120"/>
              </a:rPr>
              <a:t>você</a:t>
            </a:r>
            <a:endParaRPr lang="en-US" sz="1050" dirty="0"/>
          </a:p>
        </p:txBody>
      </p:sp>
      <p:sp>
        <p:nvSpPr>
          <p:cNvPr id="29" name="Text 27"/>
          <p:cNvSpPr txBox="1"/>
          <p:nvPr/>
        </p:nvSpPr>
        <p:spPr>
          <a:xfrm>
            <a:off x="10360152" y="2121408"/>
            <a:ext cx="1097280" cy="320040"/>
          </a:xfrm>
          <a:prstGeom prst="rect">
            <a:avLst/>
          </a:prstGeom>
          <a:noFill/>
          <a:ln/>
        </p:spPr>
        <p:txBody>
          <a:bodyPr wrap="square" lIns="0" tIns="0" rIns="0" bIns="0" rtlCol="0" anchor="t"/>
          <a:lstStyle/>
          <a:p>
            <a:pPr algn="ctr" indent="0" marL="0">
              <a:lnSpc>
                <a:spcPct val="100000"/>
              </a:lnSpc>
              <a:buNone/>
            </a:pPr>
            <a:r>
              <a:rPr lang="en-US" sz="850" dirty="0">
                <a:solidFill>
                  <a:srgbClr val="6B7785"/>
                </a:solidFill>
                <a:latin typeface="Calibri" pitchFamily="34" charset="0"/>
                <a:ea typeface="Calibri" pitchFamily="34" charset="-122"/>
                <a:cs typeface="Calibri" pitchFamily="34" charset="-120"/>
              </a:rPr>
              <a:t>handoff</a:t>
            </a:r>
            <a:endParaRPr lang="en-US" sz="850" dirty="0"/>
          </a:p>
        </p:txBody>
      </p:sp>
      <p:sp>
        <p:nvSpPr>
          <p:cNvPr id="30" name="Shape 28"/>
          <p:cNvSpPr/>
          <p:nvPr/>
        </p:nvSpPr>
        <p:spPr>
          <a:xfrm>
            <a:off x="594360" y="2697480"/>
            <a:ext cx="11002975" cy="566928"/>
          </a:xfrm>
          <a:prstGeom prst="roundRect">
            <a:avLst>
              <a:gd name="adj" fmla="val 12903"/>
            </a:avLst>
          </a:prstGeom>
          <a:solidFill>
            <a:srgbClr val="1B2430"/>
          </a:solidFill>
          <a:ln/>
        </p:spPr>
      </p:sp>
      <p:sp>
        <p:nvSpPr>
          <p:cNvPr id="31" name="Text 29"/>
          <p:cNvSpPr txBox="1"/>
          <p:nvPr/>
        </p:nvSpPr>
        <p:spPr>
          <a:xfrm>
            <a:off x="594360" y="2834640"/>
            <a:ext cx="11002975" cy="320040"/>
          </a:xfrm>
          <a:prstGeom prst="rect">
            <a:avLst/>
          </a:prstGeom>
          <a:noFill/>
          <a:ln/>
        </p:spPr>
        <p:txBody>
          <a:bodyPr wrap="square" lIns="0" tIns="0" rIns="0" bIns="0" rtlCol="0" anchor="t"/>
          <a:lstStyle/>
          <a:p>
            <a:pPr algn="ctr" indent="0" marL="0">
              <a:lnSpc>
                <a:spcPct val="115000"/>
              </a:lnSpc>
              <a:buNone/>
            </a:pPr>
            <a:r>
              <a:rPr lang="en-US" sz="1300" b="1" dirty="0">
                <a:solidFill>
                  <a:srgbClr val="FFFFFF"/>
                </a:solidFill>
                <a:latin typeface="Calibri" pitchFamily="34" charset="0"/>
                <a:ea typeface="Calibri" pitchFamily="34" charset="-122"/>
                <a:cs typeface="Calibri" pitchFamily="34" charset="-120"/>
              </a:rPr>
              <a:t>+  gestão da empresa   ·   obra   ·   banco   ·   homologação</a:t>
            </a:r>
            <a:endParaRPr lang="en-US" sz="1300" dirty="0"/>
          </a:p>
        </p:txBody>
      </p:sp>
      <p:sp>
        <p:nvSpPr>
          <p:cNvPr id="32" name="Text 30"/>
          <p:cNvSpPr txBox="1"/>
          <p:nvPr/>
        </p:nvSpPr>
        <p:spPr>
          <a:xfrm>
            <a:off x="594360" y="3703320"/>
            <a:ext cx="1920240" cy="1280160"/>
          </a:xfrm>
          <a:prstGeom prst="rect">
            <a:avLst/>
          </a:prstGeom>
          <a:noFill/>
          <a:ln/>
        </p:spPr>
        <p:txBody>
          <a:bodyPr wrap="square" lIns="0" tIns="0" rIns="0" bIns="0" rtlCol="0" anchor="ctr"/>
          <a:lstStyle/>
          <a:p>
            <a:pPr algn="l" indent="0" marL="0">
              <a:buNone/>
            </a:pPr>
            <a:r>
              <a:rPr lang="en-US" sz="8200" b="1" dirty="0">
                <a:solidFill>
                  <a:srgbClr val="1B2430"/>
                </a:solidFill>
                <a:latin typeface="Calibri" pitchFamily="34" charset="0"/>
                <a:ea typeface="Calibri" pitchFamily="34" charset="-122"/>
                <a:cs typeface="Calibri" pitchFamily="34" charset="-120"/>
              </a:rPr>
              <a:t>20</a:t>
            </a:r>
            <a:endParaRPr lang="en-US" sz="8200" dirty="0"/>
          </a:p>
        </p:txBody>
      </p:sp>
      <p:sp>
        <p:nvSpPr>
          <p:cNvPr id="33" name="Text 31"/>
          <p:cNvSpPr txBox="1"/>
          <p:nvPr/>
        </p:nvSpPr>
        <p:spPr>
          <a:xfrm>
            <a:off x="2560320" y="3886200"/>
            <a:ext cx="2743200" cy="914400"/>
          </a:xfrm>
          <a:prstGeom prst="rect">
            <a:avLst/>
          </a:prstGeom>
          <a:noFill/>
          <a:ln/>
        </p:spPr>
        <p:txBody>
          <a:bodyPr wrap="square" lIns="0" tIns="0" rIns="0" bIns="0" rtlCol="0" anchor="ctr"/>
          <a:lstStyle/>
          <a:p>
            <a:pPr algn="l" indent="0" marL="0">
              <a:lnSpc>
                <a:spcPct val="115000"/>
              </a:lnSpc>
              <a:buNone/>
            </a:pPr>
            <a:r>
              <a:rPr lang="en-US" sz="1400" dirty="0">
                <a:solidFill>
                  <a:srgbClr val="6B7785"/>
                </a:solidFill>
                <a:latin typeface="Calibri" pitchFamily="34" charset="0"/>
                <a:ea typeface="Calibri" pitchFamily="34" charset="-122"/>
                <a:cs typeface="Calibri" pitchFamily="34" charset="-120"/>
              </a:rPr>
              <a:t>propostas por mês</a:t>
            </a:r>
            <a:endParaRPr lang="en-US" sz="1400" dirty="0"/>
          </a:p>
          <a:p>
            <a:pPr algn="l" indent="0" marL="0">
              <a:lnSpc>
                <a:spcPct val="115000"/>
              </a:lnSpc>
              <a:buNone/>
            </a:pPr>
            <a:r>
              <a:rPr lang="en-US" sz="1400" dirty="0">
                <a:solidFill>
                  <a:srgbClr val="6B7785"/>
                </a:solidFill>
                <a:latin typeface="Calibri" pitchFamily="34" charset="0"/>
                <a:ea typeface="Calibri" pitchFamily="34" charset="-122"/>
                <a:cs typeface="Calibri" pitchFamily="34" charset="-120"/>
              </a:rPr>
              <a:t>≈ 1 por dia útil</a:t>
            </a:r>
            <a:endParaRPr lang="en-US" sz="1400" dirty="0"/>
          </a:p>
        </p:txBody>
      </p:sp>
      <p:sp>
        <p:nvSpPr>
          <p:cNvPr id="34" name="Shape 32"/>
          <p:cNvSpPr/>
          <p:nvPr/>
        </p:nvSpPr>
        <p:spPr>
          <a:xfrm>
            <a:off x="5715000" y="3703320"/>
            <a:ext cx="5879592" cy="1828800"/>
          </a:xfrm>
          <a:prstGeom prst="roundRect">
            <a:avLst>
              <a:gd name="adj" fmla="val 4000"/>
            </a:avLst>
          </a:prstGeom>
          <a:solidFill>
            <a:srgbClr val="F4F6F8"/>
          </a:solidFill>
          <a:ln/>
        </p:spPr>
      </p:sp>
      <p:sp>
        <p:nvSpPr>
          <p:cNvPr id="35" name="Text 33"/>
          <p:cNvSpPr txBox="1"/>
          <p:nvPr/>
        </p:nvSpPr>
        <p:spPr>
          <a:xfrm>
            <a:off x="6035040" y="3950208"/>
            <a:ext cx="5212080" cy="320040"/>
          </a:xfrm>
          <a:prstGeom prst="rect">
            <a:avLst/>
          </a:prstGeom>
          <a:noFill/>
          <a:ln/>
        </p:spPr>
        <p:txBody>
          <a:bodyPr wrap="square" lIns="0" tIns="0" rIns="0" bIns="0" rtlCol="0" anchor="t"/>
          <a:lstStyle/>
          <a:p>
            <a:pPr algn="l" indent="0" marL="0">
              <a:lnSpc>
                <a:spcPct val="115000"/>
              </a:lnSpc>
              <a:buNone/>
            </a:pPr>
            <a:r>
              <a:rPr lang="en-US" sz="1500" b="1" dirty="0">
                <a:solidFill>
                  <a:srgbClr val="1B2430"/>
                </a:solidFill>
                <a:latin typeface="Calibri" pitchFamily="34" charset="0"/>
                <a:ea typeface="Calibri" pitchFamily="34" charset="-122"/>
                <a:cs typeface="Calibri" pitchFamily="34" charset="-120"/>
              </a:rPr>
              <a:t>5 pessoas na empresa. Nenhuma outra em vendas.</a:t>
            </a:r>
            <a:endParaRPr lang="en-US" sz="1500" dirty="0"/>
          </a:p>
        </p:txBody>
      </p:sp>
      <p:sp>
        <p:nvSpPr>
          <p:cNvPr id="36" name="Text 34"/>
          <p:cNvSpPr txBox="1"/>
          <p:nvPr/>
        </p:nvSpPr>
        <p:spPr>
          <a:xfrm>
            <a:off x="6035040" y="4370832"/>
            <a:ext cx="5212080" cy="1005840"/>
          </a:xfrm>
          <a:prstGeom prst="rect">
            <a:avLst/>
          </a:prstGeom>
          <a:noFill/>
          <a:ln/>
        </p:spPr>
        <p:txBody>
          <a:bodyPr wrap="square" lIns="0" tIns="0" rIns="0" bIns="0" rtlCol="0" anchor="t"/>
          <a:lstStyle/>
          <a:p>
            <a:pPr algn="l" indent="0" marL="0">
              <a:lnSpc>
                <a:spcPct val="115000"/>
              </a:lnSpc>
              <a:buNone/>
            </a:pPr>
            <a:r>
              <a:rPr lang="en-US" sz="1200" dirty="0">
                <a:solidFill>
                  <a:srgbClr val="6B7785"/>
                </a:solidFill>
                <a:latin typeface="Calibri" pitchFamily="34" charset="0"/>
                <a:ea typeface="Calibri" pitchFamily="34" charset="-122"/>
                <a:cs typeface="Calibri" pitchFamily="34" charset="-120"/>
              </a:rPr>
              <a:t>Se você ficar duas semanas fora, são cerca de R$ 70 mil de faturamento que não acontecem — porque não há ninguém que consiga pegar uma oportunidade no meio, já que nada está registrado.</a:t>
            </a:r>
            <a:endParaRPr lang="en-US" sz="1200" dirty="0"/>
          </a:p>
        </p:txBody>
      </p:sp>
      <p:sp>
        <p:nvSpPr>
          <p:cNvPr id="37" name="Text 35"/>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5 pessoas na empresa, nenhuma outra em vendas · informado pelo dono · confiança alta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Quando alguém recebe uma indicação sua</a:t>
            </a:r>
            <a:endParaRPr lang="en-US" sz="2700" dirty="0"/>
          </a:p>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e vai conferir no Google, o que aparece?</a:t>
            </a:r>
            <a:endParaRPr lang="en-US" sz="2700" dirty="0"/>
          </a:p>
        </p:txBody>
      </p:sp>
      <p:sp>
        <p:nvSpPr>
          <p:cNvPr id="3" name="Shape 1"/>
          <p:cNvSpPr/>
          <p:nvPr/>
        </p:nvSpPr>
        <p:spPr>
          <a:xfrm>
            <a:off x="594360" y="1965960"/>
            <a:ext cx="5349240" cy="3840480"/>
          </a:xfrm>
          <a:prstGeom prst="roundRect">
            <a:avLst>
              <a:gd name="adj" fmla="val 1905"/>
            </a:avLst>
          </a:prstGeom>
          <a:solidFill>
            <a:srgbClr val="F4F6F8"/>
          </a:solidFill>
          <a:ln/>
        </p:spPr>
      </p:sp>
      <p:sp>
        <p:nvSpPr>
          <p:cNvPr id="4" name="Text 2"/>
          <p:cNvSpPr txBox="1"/>
          <p:nvPr/>
        </p:nvSpPr>
        <p:spPr>
          <a:xfrm>
            <a:off x="914400" y="2212848"/>
            <a:ext cx="4663440" cy="274320"/>
          </a:xfrm>
          <a:prstGeom prst="rect">
            <a:avLst/>
          </a:prstGeom>
          <a:noFill/>
          <a:ln/>
        </p:spPr>
        <p:txBody>
          <a:bodyPr wrap="square" lIns="0" tIns="0" rIns="0" bIns="0" rtlCol="0" anchor="t"/>
          <a:lstStyle/>
          <a:p>
            <a:pPr algn="l" indent="0" marL="0">
              <a:lnSpc>
                <a:spcPct val="115000"/>
              </a:lnSpc>
              <a:buNone/>
            </a:pPr>
            <a:r>
              <a:rPr lang="en-US" sz="950" b="1" dirty="0">
                <a:solidFill>
                  <a:srgbClr val="6B7785"/>
                </a:solidFill>
                <a:latin typeface="Calibri" pitchFamily="34" charset="0"/>
                <a:ea typeface="Calibri" pitchFamily="34" charset="-122"/>
                <a:cs typeface="Calibri" pitchFamily="34" charset="-120"/>
              </a:rPr>
              <a:t>O QUE EU ENCONTREI EM FRANCA</a:t>
            </a:r>
            <a:endParaRPr lang="en-US" sz="950" dirty="0"/>
          </a:p>
        </p:txBody>
      </p:sp>
      <p:sp>
        <p:nvSpPr>
          <p:cNvPr id="5" name="Text 3"/>
          <p:cNvSpPr txBox="1"/>
          <p:nvPr/>
        </p:nvSpPr>
        <p:spPr>
          <a:xfrm>
            <a:off x="914400" y="2606040"/>
            <a:ext cx="466344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ViaSol</a:t>
            </a:r>
            <a:endParaRPr lang="en-US" sz="1300" dirty="0"/>
          </a:p>
        </p:txBody>
      </p:sp>
      <p:sp>
        <p:nvSpPr>
          <p:cNvPr id="6" name="Text 4"/>
          <p:cNvSpPr txBox="1"/>
          <p:nvPr/>
        </p:nvSpPr>
        <p:spPr>
          <a:xfrm>
            <a:off x="914400" y="2990088"/>
            <a:ext cx="466344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SolarPrime</a:t>
            </a:r>
            <a:endParaRPr lang="en-US" sz="1300" dirty="0"/>
          </a:p>
        </p:txBody>
      </p:sp>
      <p:sp>
        <p:nvSpPr>
          <p:cNvPr id="7" name="Text 5"/>
          <p:cNvSpPr txBox="1"/>
          <p:nvPr/>
        </p:nvSpPr>
        <p:spPr>
          <a:xfrm>
            <a:off x="914400" y="3374136"/>
            <a:ext cx="466344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Ilumisol</a:t>
            </a:r>
            <a:endParaRPr lang="en-US" sz="1300" dirty="0"/>
          </a:p>
        </p:txBody>
      </p:sp>
      <p:sp>
        <p:nvSpPr>
          <p:cNvPr id="8" name="Text 6"/>
          <p:cNvSpPr txBox="1"/>
          <p:nvPr/>
        </p:nvSpPr>
        <p:spPr>
          <a:xfrm>
            <a:off x="914400" y="3758184"/>
            <a:ext cx="466344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Legsol</a:t>
            </a:r>
            <a:endParaRPr lang="en-US" sz="1300" dirty="0"/>
          </a:p>
        </p:txBody>
      </p:sp>
      <p:sp>
        <p:nvSpPr>
          <p:cNvPr id="9" name="Text 7"/>
          <p:cNvSpPr txBox="1"/>
          <p:nvPr/>
        </p:nvSpPr>
        <p:spPr>
          <a:xfrm>
            <a:off x="914400" y="4142232"/>
            <a:ext cx="466344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Franca Energia Solar</a:t>
            </a:r>
            <a:endParaRPr lang="en-US" sz="1300" dirty="0"/>
          </a:p>
        </p:txBody>
      </p:sp>
      <p:sp>
        <p:nvSpPr>
          <p:cNvPr id="10" name="Text 8"/>
          <p:cNvSpPr txBox="1"/>
          <p:nvPr/>
        </p:nvSpPr>
        <p:spPr>
          <a:xfrm>
            <a:off x="914400" y="4526280"/>
            <a:ext cx="466344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Lux Sol</a:t>
            </a:r>
            <a:endParaRPr lang="en-US" sz="1300" dirty="0"/>
          </a:p>
        </p:txBody>
      </p:sp>
      <p:sp>
        <p:nvSpPr>
          <p:cNvPr id="11" name="Text 9"/>
          <p:cNvSpPr txBox="1"/>
          <p:nvPr/>
        </p:nvSpPr>
        <p:spPr>
          <a:xfrm>
            <a:off x="914400" y="4910328"/>
            <a:ext cx="466344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Solarium</a:t>
            </a:r>
            <a:endParaRPr lang="en-US" sz="1300" dirty="0"/>
          </a:p>
        </p:txBody>
      </p:sp>
      <p:sp>
        <p:nvSpPr>
          <p:cNvPr id="12" name="Text 10"/>
          <p:cNvSpPr txBox="1"/>
          <p:nvPr/>
        </p:nvSpPr>
        <p:spPr>
          <a:xfrm>
            <a:off x="914400" y="5349240"/>
            <a:ext cx="4663440" cy="274320"/>
          </a:xfrm>
          <a:prstGeom prst="rect">
            <a:avLst/>
          </a:prstGeom>
          <a:noFill/>
          <a:ln/>
        </p:spPr>
        <p:txBody>
          <a:bodyPr wrap="square" lIns="0" tIns="0" rIns="0" bIns="0" rtlCol="0" anchor="t"/>
          <a:lstStyle/>
          <a:p>
            <a:pPr algn="l" indent="0" marL="0">
              <a:lnSpc>
                <a:spcPct val="115000"/>
              </a:lnSpc>
              <a:buNone/>
            </a:pPr>
            <a:r>
              <a:rPr lang="en-US" sz="1000" i="1" dirty="0">
                <a:solidFill>
                  <a:srgbClr val="6B7785"/>
                </a:solidFill>
                <a:latin typeface="Calibri" pitchFamily="34" charset="0"/>
                <a:ea typeface="Calibri" pitchFamily="34" charset="-122"/>
                <a:cs typeface="Calibri" pitchFamily="34" charset="-120"/>
              </a:rPr>
              <a:t>sete concorrentes com site, Instagram ou ficha no Google</a:t>
            </a:r>
            <a:endParaRPr lang="en-US" sz="1000" dirty="0"/>
          </a:p>
        </p:txBody>
      </p:sp>
      <p:sp>
        <p:nvSpPr>
          <p:cNvPr id="13" name="Shape 11"/>
          <p:cNvSpPr/>
          <p:nvPr/>
        </p:nvSpPr>
        <p:spPr>
          <a:xfrm>
            <a:off x="6263640" y="1965960"/>
            <a:ext cx="5330952" cy="3840480"/>
          </a:xfrm>
          <a:prstGeom prst="roundRect">
            <a:avLst>
              <a:gd name="adj" fmla="val 1905"/>
            </a:avLst>
          </a:prstGeom>
          <a:solidFill>
            <a:srgbClr val="FFFFFF"/>
          </a:solidFill>
          <a:ln w="22225">
            <a:solidFill>
              <a:srgbClr val="E8833A"/>
            </a:solidFill>
            <a:prstDash val="dash"/>
          </a:ln>
        </p:spPr>
      </p:sp>
      <p:sp>
        <p:nvSpPr>
          <p:cNvPr id="14" name="Text 12"/>
          <p:cNvSpPr txBox="1"/>
          <p:nvPr/>
        </p:nvSpPr>
        <p:spPr>
          <a:xfrm>
            <a:off x="6263640" y="2377440"/>
            <a:ext cx="5330952" cy="1554480"/>
          </a:xfrm>
          <a:prstGeom prst="rect">
            <a:avLst/>
          </a:prstGeom>
          <a:noFill/>
          <a:ln/>
        </p:spPr>
        <p:txBody>
          <a:bodyPr wrap="square" lIns="0" tIns="0" rIns="0" bIns="0" rtlCol="0" anchor="ctr"/>
          <a:lstStyle/>
          <a:p>
            <a:pPr algn="ctr" indent="0" marL="0">
              <a:buNone/>
            </a:pPr>
            <a:r>
              <a:rPr lang="en-US" sz="9000" b="1" dirty="0">
                <a:solidFill>
                  <a:srgbClr val="E8833A"/>
                </a:solidFill>
                <a:latin typeface="Calibri" pitchFamily="34" charset="0"/>
                <a:ea typeface="Calibri" pitchFamily="34" charset="-122"/>
                <a:cs typeface="Calibri" pitchFamily="34" charset="-120"/>
              </a:rPr>
              <a:t>?</a:t>
            </a:r>
            <a:endParaRPr lang="en-US" sz="9000" dirty="0"/>
          </a:p>
        </p:txBody>
      </p:sp>
      <p:sp>
        <p:nvSpPr>
          <p:cNvPr id="15" name="Text 13"/>
          <p:cNvSpPr txBox="1"/>
          <p:nvPr/>
        </p:nvSpPr>
        <p:spPr>
          <a:xfrm>
            <a:off x="6263640" y="4023360"/>
            <a:ext cx="5330952" cy="411480"/>
          </a:xfrm>
          <a:prstGeom prst="rect">
            <a:avLst/>
          </a:prstGeom>
          <a:noFill/>
          <a:ln/>
        </p:spPr>
        <p:txBody>
          <a:bodyPr wrap="square" lIns="0" tIns="0" rIns="0" bIns="0" rtlCol="0" anchor="t"/>
          <a:lstStyle/>
          <a:p>
            <a:pPr algn="ctr" indent="0" marL="0">
              <a:lnSpc>
                <a:spcPct val="115000"/>
              </a:lnSpc>
              <a:buNone/>
            </a:pPr>
            <a:r>
              <a:rPr lang="en-US" sz="2400" b="1" dirty="0">
                <a:solidFill>
                  <a:srgbClr val="1B2430"/>
                </a:solidFill>
                <a:latin typeface="Calibri" pitchFamily="34" charset="0"/>
                <a:ea typeface="Calibri" pitchFamily="34" charset="-122"/>
                <a:cs typeface="Calibri" pitchFamily="34" charset="-120"/>
              </a:rPr>
              <a:t>LEOSOL</a:t>
            </a:r>
            <a:endParaRPr lang="en-US" sz="2400" dirty="0"/>
          </a:p>
        </p:txBody>
      </p:sp>
      <p:sp>
        <p:nvSpPr>
          <p:cNvPr id="16" name="Text 14"/>
          <p:cNvSpPr txBox="1"/>
          <p:nvPr/>
        </p:nvSpPr>
        <p:spPr>
          <a:xfrm>
            <a:off x="6263640" y="4480560"/>
            <a:ext cx="5330952" cy="320040"/>
          </a:xfrm>
          <a:prstGeom prst="rect">
            <a:avLst/>
          </a:prstGeom>
          <a:noFill/>
          <a:ln/>
        </p:spPr>
        <p:txBody>
          <a:bodyPr wrap="square" lIns="0" tIns="0" rIns="0" bIns="0" rtlCol="0" anchor="t"/>
          <a:lstStyle/>
          <a:p>
            <a:pPr algn="ctr" indent="0" marL="0">
              <a:lnSpc>
                <a:spcPct val="115000"/>
              </a:lnSpc>
              <a:buNone/>
            </a:pPr>
            <a:r>
              <a:rPr lang="en-US" sz="1300" dirty="0">
                <a:solidFill>
                  <a:srgbClr val="6B7785"/>
                </a:solidFill>
                <a:latin typeface="Calibri" pitchFamily="34" charset="0"/>
                <a:ea typeface="Calibri" pitchFamily="34" charset="-122"/>
                <a:cs typeface="Calibri" pitchFamily="34" charset="-120"/>
              </a:rPr>
              <a:t>não localizada na minha busca</a:t>
            </a:r>
            <a:endParaRPr lang="en-US" sz="1300" dirty="0"/>
          </a:p>
        </p:txBody>
      </p:sp>
      <p:sp>
        <p:nvSpPr>
          <p:cNvPr id="17" name="Text 15"/>
          <p:cNvSpPr txBox="1"/>
          <p:nvPr/>
        </p:nvSpPr>
        <p:spPr>
          <a:xfrm>
            <a:off x="6263640" y="4956048"/>
            <a:ext cx="5330952" cy="640080"/>
          </a:xfrm>
          <a:prstGeom prst="rect">
            <a:avLst/>
          </a:prstGeom>
          <a:noFill/>
          <a:ln/>
        </p:spPr>
        <p:txBody>
          <a:bodyPr wrap="square" lIns="0" tIns="0" rIns="0" bIns="0" rtlCol="0" anchor="t"/>
          <a:lstStyle/>
          <a:p>
            <a:pPr algn="ctr" indent="0" marL="0">
              <a:lnSpc>
                <a:spcPct val="115000"/>
              </a:lnSpc>
              <a:buNone/>
            </a:pPr>
            <a:r>
              <a:rPr lang="en-US" sz="1100" b="1" dirty="0">
                <a:solidFill>
                  <a:srgbClr val="E8833A"/>
                </a:solidFill>
                <a:latin typeface="Calibri" pitchFamily="34" charset="0"/>
                <a:ea typeface="Calibri" pitchFamily="34" charset="-122"/>
                <a:cs typeface="Calibri" pitchFamily="34" charset="-120"/>
              </a:rPr>
              <a:t>"não localizado" não é o mesmo que "não existe" —</a:t>
            </a:r>
            <a:endParaRPr lang="en-US" sz="1100" dirty="0"/>
          </a:p>
          <a:p>
            <a:pPr algn="ctr" indent="0" marL="0">
              <a:lnSpc>
                <a:spcPct val="115000"/>
              </a:lnSpc>
              <a:buNone/>
            </a:pPr>
            <a:r>
              <a:rPr lang="en-US" sz="1100" b="1" dirty="0">
                <a:solidFill>
                  <a:srgbClr val="E8833A"/>
                </a:solidFill>
                <a:latin typeface="Calibri" pitchFamily="34" charset="0"/>
                <a:ea typeface="Calibri" pitchFamily="34" charset="-122"/>
                <a:cs typeface="Calibri" pitchFamily="34" charset="-120"/>
              </a:rPr>
              <a:t>é a primeira coisa que eu preciso confirmar com você</a:t>
            </a:r>
            <a:endParaRPr lang="en-US" sz="1100" dirty="0"/>
          </a:p>
        </p:txBody>
      </p:sp>
      <p:sp>
        <p:nvSpPr>
          <p:cNvPr id="18" name="Text 16"/>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pesquisa de 07/09/2026 · pergunta ao vivo, não afirmação</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R$ 10.900 de margem por mês escapam</a:t>
            </a:r>
            <a:endParaRPr lang="en-US" sz="2700" dirty="0"/>
          </a:p>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de dinheiro que já entrou no seu funil</a:t>
            </a:r>
            <a:endParaRPr lang="en-US" sz="2700" dirty="0"/>
          </a:p>
        </p:txBody>
      </p:sp>
      <p:sp>
        <p:nvSpPr>
          <p:cNvPr id="3" name="Shape 1"/>
          <p:cNvSpPr/>
          <p:nvPr/>
        </p:nvSpPr>
        <p:spPr>
          <a:xfrm>
            <a:off x="594360" y="2148840"/>
            <a:ext cx="5703113" cy="868680"/>
          </a:xfrm>
          <a:prstGeom prst="roundRect">
            <a:avLst>
              <a:gd name="adj" fmla="val 8421"/>
            </a:avLst>
          </a:prstGeom>
          <a:solidFill>
            <a:srgbClr val="E8833A"/>
          </a:solidFill>
          <a:ln/>
        </p:spPr>
      </p:sp>
      <p:sp>
        <p:nvSpPr>
          <p:cNvPr id="4" name="Text 2"/>
          <p:cNvSpPr txBox="1"/>
          <p:nvPr/>
        </p:nvSpPr>
        <p:spPr>
          <a:xfrm>
            <a:off x="868680" y="2423160"/>
            <a:ext cx="3108960" cy="365760"/>
          </a:xfrm>
          <a:prstGeom prst="rect">
            <a:avLst/>
          </a:prstGeom>
          <a:noFill/>
          <a:ln/>
        </p:spPr>
        <p:txBody>
          <a:bodyPr wrap="square" lIns="0" tIns="0" rIns="0" bIns="0" rtlCol="0" anchor="t"/>
          <a:lstStyle/>
          <a:p>
            <a:pPr algn="l" indent="0" marL="0">
              <a:lnSpc>
                <a:spcPct val="115000"/>
              </a:lnSpc>
              <a:buNone/>
            </a:pPr>
            <a:r>
              <a:rPr lang="en-US" sz="1400" b="1" dirty="0">
                <a:solidFill>
                  <a:srgbClr val="FFFFFF"/>
                </a:solidFill>
                <a:latin typeface="Calibri" pitchFamily="34" charset="0"/>
                <a:ea typeface="Calibri" pitchFamily="34" charset="-122"/>
                <a:cs typeface="Calibri" pitchFamily="34" charset="-120"/>
              </a:rPr>
              <a:t>trecho lead → proposta</a:t>
            </a:r>
            <a:endParaRPr lang="en-US" sz="1400" dirty="0"/>
          </a:p>
        </p:txBody>
      </p:sp>
      <p:sp>
        <p:nvSpPr>
          <p:cNvPr id="5" name="Text 3"/>
          <p:cNvSpPr txBox="1"/>
          <p:nvPr/>
        </p:nvSpPr>
        <p:spPr>
          <a:xfrm>
            <a:off x="4102913" y="2404872"/>
            <a:ext cx="1920240" cy="365760"/>
          </a:xfrm>
          <a:prstGeom prst="rect">
            <a:avLst/>
          </a:prstGeom>
          <a:noFill/>
          <a:ln/>
        </p:spPr>
        <p:txBody>
          <a:bodyPr wrap="square" lIns="0" tIns="0" rIns="0" bIns="0" rtlCol="0" anchor="t"/>
          <a:lstStyle/>
          <a:p>
            <a:pPr algn="r" indent="0" marL="0">
              <a:lnSpc>
                <a:spcPct val="115000"/>
              </a:lnSpc>
              <a:buNone/>
            </a:pPr>
            <a:r>
              <a:rPr lang="en-US" sz="1500" b="1" dirty="0">
                <a:solidFill>
                  <a:srgbClr val="FFFFFF"/>
                </a:solidFill>
                <a:latin typeface="Calibri" pitchFamily="34" charset="0"/>
                <a:ea typeface="Calibri" pitchFamily="34" charset="-122"/>
                <a:cs typeface="Calibri" pitchFamily="34" charset="-120"/>
              </a:rPr>
              <a:t>R$ 8.400/mês</a:t>
            </a:r>
            <a:endParaRPr lang="en-US" sz="1500" dirty="0"/>
          </a:p>
        </p:txBody>
      </p:sp>
      <p:sp>
        <p:nvSpPr>
          <p:cNvPr id="6" name="Shape 4"/>
          <p:cNvSpPr/>
          <p:nvPr/>
        </p:nvSpPr>
        <p:spPr>
          <a:xfrm>
            <a:off x="594360" y="3182112"/>
            <a:ext cx="1703527" cy="868680"/>
          </a:xfrm>
          <a:prstGeom prst="roundRect">
            <a:avLst>
              <a:gd name="adj" fmla="val 8421"/>
            </a:avLst>
          </a:prstGeom>
          <a:solidFill>
            <a:srgbClr val="2E3A4A"/>
          </a:solidFill>
          <a:ln/>
        </p:spPr>
      </p:sp>
      <p:sp>
        <p:nvSpPr>
          <p:cNvPr id="7" name="Text 5"/>
          <p:cNvSpPr txBox="1"/>
          <p:nvPr/>
        </p:nvSpPr>
        <p:spPr>
          <a:xfrm>
            <a:off x="594360" y="3456432"/>
            <a:ext cx="1703527" cy="365760"/>
          </a:xfrm>
          <a:prstGeom prst="rect">
            <a:avLst/>
          </a:prstGeom>
          <a:noFill/>
          <a:ln/>
        </p:spPr>
        <p:txBody>
          <a:bodyPr wrap="square" lIns="0" tIns="0" rIns="0" bIns="0" rtlCol="0" anchor="t"/>
          <a:lstStyle/>
          <a:p>
            <a:pPr algn="ctr" indent="0" marL="0">
              <a:lnSpc>
                <a:spcPct val="115000"/>
              </a:lnSpc>
              <a:buNone/>
            </a:pPr>
            <a:r>
              <a:rPr lang="en-US" sz="1500" b="1" dirty="0">
                <a:solidFill>
                  <a:srgbClr val="FFFFFF"/>
                </a:solidFill>
                <a:latin typeface="Calibri" pitchFamily="34" charset="0"/>
                <a:ea typeface="Calibri" pitchFamily="34" charset="-122"/>
                <a:cs typeface="Calibri" pitchFamily="34" charset="-120"/>
              </a:rPr>
              <a:t>R$ 2.500</a:t>
            </a:r>
            <a:endParaRPr lang="en-US" sz="1500" dirty="0"/>
          </a:p>
        </p:txBody>
      </p:sp>
      <p:sp>
        <p:nvSpPr>
          <p:cNvPr id="8" name="Text 6"/>
          <p:cNvSpPr txBox="1"/>
          <p:nvPr/>
        </p:nvSpPr>
        <p:spPr>
          <a:xfrm>
            <a:off x="2572207" y="3474720"/>
            <a:ext cx="4206240" cy="365760"/>
          </a:xfrm>
          <a:prstGeom prst="rect">
            <a:avLst/>
          </a:prstGeom>
          <a:noFill/>
          <a:ln/>
        </p:spPr>
        <p:txBody>
          <a:bodyPr wrap="square" lIns="0" tIns="0" rIns="0" bIns="0" rtlCol="0" anchor="t"/>
          <a:lstStyle/>
          <a:p>
            <a:pPr algn="l" indent="0" marL="0">
              <a:lnSpc>
                <a:spcPct val="115000"/>
              </a:lnSpc>
              <a:buNone/>
            </a:pPr>
            <a:r>
              <a:rPr lang="en-US" sz="1300" b="1" dirty="0">
                <a:solidFill>
                  <a:srgbClr val="1B2430"/>
                </a:solidFill>
                <a:latin typeface="Calibri" pitchFamily="34" charset="0"/>
                <a:ea typeface="Calibri" pitchFamily="34" charset="-122"/>
                <a:cs typeface="Calibri" pitchFamily="34" charset="-120"/>
              </a:rPr>
              <a:t>propostas que morrem no silêncio, por mês</a:t>
            </a:r>
            <a:endParaRPr lang="en-US" sz="1300" dirty="0"/>
          </a:p>
        </p:txBody>
      </p:sp>
      <p:sp>
        <p:nvSpPr>
          <p:cNvPr id="9" name="Shape 7"/>
          <p:cNvSpPr/>
          <p:nvPr/>
        </p:nvSpPr>
        <p:spPr>
          <a:xfrm>
            <a:off x="8549640" y="2148840"/>
            <a:ext cx="3044952" cy="1901952"/>
          </a:xfrm>
          <a:prstGeom prst="roundRect">
            <a:avLst>
              <a:gd name="adj" fmla="val 3846"/>
            </a:avLst>
          </a:prstGeom>
          <a:solidFill>
            <a:srgbClr val="1B2430"/>
          </a:solidFill>
          <a:ln/>
        </p:spPr>
      </p:sp>
      <p:sp>
        <p:nvSpPr>
          <p:cNvPr id="10" name="Text 8"/>
          <p:cNvSpPr txBox="1"/>
          <p:nvPr/>
        </p:nvSpPr>
        <p:spPr>
          <a:xfrm>
            <a:off x="8823960" y="2377440"/>
            <a:ext cx="2468880" cy="274320"/>
          </a:xfrm>
          <a:prstGeom prst="rect">
            <a:avLst/>
          </a:prstGeom>
          <a:noFill/>
          <a:ln/>
        </p:spPr>
        <p:txBody>
          <a:bodyPr wrap="square" lIns="0" tIns="0" rIns="0" bIns="0" rtlCol="0" anchor="t"/>
          <a:lstStyle/>
          <a:p>
            <a:pPr algn="ctr" indent="0" marL="0">
              <a:lnSpc>
                <a:spcPct val="115000"/>
              </a:lnSpc>
              <a:buNone/>
            </a:pPr>
            <a:r>
              <a:rPr lang="en-US" sz="1000" b="1" dirty="0">
                <a:solidFill>
                  <a:srgbClr val="9AA6B2"/>
                </a:solidFill>
                <a:latin typeface="Calibri" pitchFamily="34" charset="0"/>
                <a:ea typeface="Calibri" pitchFamily="34" charset="-122"/>
                <a:cs typeface="Calibri" pitchFamily="34" charset="-120"/>
              </a:rPr>
              <a:t>TOTAL</a:t>
            </a:r>
            <a:endParaRPr lang="en-US" sz="1000" dirty="0"/>
          </a:p>
        </p:txBody>
      </p:sp>
      <p:sp>
        <p:nvSpPr>
          <p:cNvPr id="11" name="Text 9"/>
          <p:cNvSpPr txBox="1"/>
          <p:nvPr/>
        </p:nvSpPr>
        <p:spPr>
          <a:xfrm>
            <a:off x="8823960" y="2697480"/>
            <a:ext cx="2468880" cy="548640"/>
          </a:xfrm>
          <a:prstGeom prst="rect">
            <a:avLst/>
          </a:prstGeom>
          <a:noFill/>
          <a:ln/>
        </p:spPr>
        <p:txBody>
          <a:bodyPr wrap="square" lIns="0" tIns="0" rIns="0" bIns="0" rtlCol="0" anchor="t"/>
          <a:lstStyle/>
          <a:p>
            <a:pPr algn="ctr" indent="0" marL="0">
              <a:lnSpc>
                <a:spcPct val="115000"/>
              </a:lnSpc>
              <a:buNone/>
            </a:pPr>
            <a:r>
              <a:rPr lang="en-US" sz="2700" b="1" dirty="0">
                <a:solidFill>
                  <a:srgbClr val="FFFFFF"/>
                </a:solidFill>
                <a:latin typeface="Calibri" pitchFamily="34" charset="0"/>
                <a:ea typeface="Calibri" pitchFamily="34" charset="-122"/>
                <a:cs typeface="Calibri" pitchFamily="34" charset="-120"/>
              </a:rPr>
              <a:t>R$ 10.900</a:t>
            </a:r>
            <a:endParaRPr lang="en-US" sz="2700" dirty="0"/>
          </a:p>
        </p:txBody>
      </p:sp>
      <p:sp>
        <p:nvSpPr>
          <p:cNvPr id="12" name="Text 10"/>
          <p:cNvSpPr txBox="1"/>
          <p:nvPr/>
        </p:nvSpPr>
        <p:spPr>
          <a:xfrm>
            <a:off x="8823960" y="3246120"/>
            <a:ext cx="2468880" cy="274320"/>
          </a:xfrm>
          <a:prstGeom prst="rect">
            <a:avLst/>
          </a:prstGeom>
          <a:noFill/>
          <a:ln/>
        </p:spPr>
        <p:txBody>
          <a:bodyPr wrap="square" lIns="0" tIns="0" rIns="0" bIns="0" rtlCol="0" anchor="t"/>
          <a:lstStyle/>
          <a:p>
            <a:pPr algn="ctr" indent="0" marL="0">
              <a:lnSpc>
                <a:spcPct val="115000"/>
              </a:lnSpc>
              <a:buNone/>
            </a:pPr>
            <a:r>
              <a:rPr lang="en-US" sz="1200" dirty="0">
                <a:solidFill>
                  <a:srgbClr val="9AA6B2"/>
                </a:solidFill>
                <a:latin typeface="Calibri" pitchFamily="34" charset="0"/>
                <a:ea typeface="Calibri" pitchFamily="34" charset="-122"/>
                <a:cs typeface="Calibri" pitchFamily="34" charset="-120"/>
              </a:rPr>
              <a:t>por mês</a:t>
            </a:r>
            <a:endParaRPr lang="en-US" sz="1200" dirty="0"/>
          </a:p>
        </p:txBody>
      </p:sp>
      <p:sp>
        <p:nvSpPr>
          <p:cNvPr id="13" name="Text 11"/>
          <p:cNvSpPr txBox="1"/>
          <p:nvPr/>
        </p:nvSpPr>
        <p:spPr>
          <a:xfrm>
            <a:off x="8823960" y="3566160"/>
            <a:ext cx="2468880" cy="274320"/>
          </a:xfrm>
          <a:prstGeom prst="rect">
            <a:avLst/>
          </a:prstGeom>
          <a:noFill/>
          <a:ln/>
        </p:spPr>
        <p:txBody>
          <a:bodyPr wrap="square" lIns="0" tIns="0" rIns="0" bIns="0" rtlCol="0" anchor="t"/>
          <a:lstStyle/>
          <a:p>
            <a:pPr algn="ctr" indent="0" marL="0">
              <a:lnSpc>
                <a:spcPct val="115000"/>
              </a:lnSpc>
              <a:buNone/>
            </a:pPr>
            <a:r>
              <a:rPr lang="en-US" sz="1300" b="1" dirty="0">
                <a:solidFill>
                  <a:srgbClr val="E8833A"/>
                </a:solidFill>
                <a:latin typeface="Calibri" pitchFamily="34" charset="0"/>
                <a:ea typeface="Calibri" pitchFamily="34" charset="-122"/>
                <a:cs typeface="Calibri" pitchFamily="34" charset="-120"/>
              </a:rPr>
              <a:t>R$ 130.800 por ano</a:t>
            </a:r>
            <a:endParaRPr lang="en-US" sz="1300" dirty="0"/>
          </a:p>
        </p:txBody>
      </p:sp>
      <p:sp>
        <p:nvSpPr>
          <p:cNvPr id="14" name="Shape 12"/>
          <p:cNvSpPr/>
          <p:nvPr/>
        </p:nvSpPr>
        <p:spPr>
          <a:xfrm>
            <a:off x="594360" y="4343400"/>
            <a:ext cx="11002975" cy="1325880"/>
          </a:xfrm>
          <a:prstGeom prst="roundRect">
            <a:avLst>
              <a:gd name="adj" fmla="val 5517"/>
            </a:avLst>
          </a:prstGeom>
          <a:solidFill>
            <a:srgbClr val="F4F6F8"/>
          </a:solidFill>
          <a:ln/>
        </p:spPr>
      </p:sp>
      <p:sp>
        <p:nvSpPr>
          <p:cNvPr id="15" name="Text 13"/>
          <p:cNvSpPr txBox="1"/>
          <p:nvPr/>
        </p:nvSpPr>
        <p:spPr>
          <a:xfrm>
            <a:off x="914400" y="4553712"/>
            <a:ext cx="10332720" cy="32004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40 leads  ×  10% recuperáveis  ×  35% de fechamento  ×  R$ 6.000 de margem  =  R$ 8.400</a:t>
            </a:r>
            <a:endParaRPr lang="en-US" sz="1350" dirty="0"/>
          </a:p>
        </p:txBody>
      </p:sp>
      <p:sp>
        <p:nvSpPr>
          <p:cNvPr id="16" name="Text 14"/>
          <p:cNvSpPr txBox="1"/>
          <p:nvPr/>
        </p:nvSpPr>
        <p:spPr>
          <a:xfrm>
            <a:off x="914400" y="4956048"/>
            <a:ext cx="10332720" cy="640080"/>
          </a:xfrm>
          <a:prstGeom prst="rect">
            <a:avLst/>
          </a:prstGeom>
          <a:noFill/>
          <a:ln/>
        </p:spPr>
        <p:txBody>
          <a:bodyPr wrap="square" lIns="0" tIns="0" rIns="0" bIns="0" rtlCol="0" anchor="t"/>
          <a:lstStyle/>
          <a:p>
            <a:pPr algn="l" indent="0" marL="0">
              <a:lnSpc>
                <a:spcPct val="115000"/>
              </a:lnSpc>
              <a:buNone/>
            </a:pPr>
            <a:r>
              <a:rPr lang="en-US" sz="1150" dirty="0">
                <a:solidFill>
                  <a:srgbClr val="6B7785"/>
                </a:solidFill>
                <a:latin typeface="Calibri" pitchFamily="34" charset="0"/>
                <a:ea typeface="Calibri" pitchFamily="34" charset="-122"/>
                <a:cs typeface="Calibri" pitchFamily="34" charset="-120"/>
              </a:rPr>
              <a:t>Cenário mais conservador dos três. Faixa real: R$ 10.900 a R$ 29.200/mês. Três dos quatro fatores são dados seus — o único que estimei foi a taxa de recuperação, e é justamente ela que multiplica tudo. Por isso peguei o piso.</a:t>
            </a:r>
            <a:endParaRPr lang="en-US" sz="1150" dirty="0"/>
          </a:p>
        </p:txBody>
      </p:sp>
      <p:sp>
        <p:nvSpPr>
          <p:cNvPr id="17" name="Text 15"/>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ESTIMATIVA · confiança baixa-média · projeção, não promessa contratual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274320"/>
          </a:xfrm>
          <a:prstGeom prst="rect">
            <a:avLst/>
          </a:prstGeom>
          <a:noFill/>
          <a:ln/>
        </p:spPr>
        <p:txBody>
          <a:bodyPr wrap="square" lIns="0" tIns="0" rIns="0" bIns="0" rtlCol="0" anchor="t"/>
          <a:lstStyle/>
          <a:p>
            <a:pPr algn="l" indent="0" marL="0">
              <a:lnSpc>
                <a:spcPct val="115000"/>
              </a:lnSpc>
              <a:buNone/>
            </a:pPr>
            <a:r>
              <a:rPr lang="en-US" sz="1050" b="1" dirty="0">
                <a:solidFill>
                  <a:srgbClr val="E8833A"/>
                </a:solidFill>
                <a:latin typeface="Calibri" pitchFamily="34" charset="0"/>
                <a:ea typeface="Calibri" pitchFamily="34" charset="-122"/>
                <a:cs typeface="Calibri" pitchFamily="34" charset="-120"/>
              </a:rPr>
              <a:t>O SLIDE QUE VOCÊ PRECISA ME SEGURAR</a:t>
            </a:r>
            <a:endParaRPr lang="en-US" sz="1050" dirty="0"/>
          </a:p>
        </p:txBody>
      </p:sp>
      <p:sp>
        <p:nvSpPr>
          <p:cNvPr id="3" name="Text 1"/>
          <p:cNvSpPr txBox="1"/>
          <p:nvPr/>
        </p:nvSpPr>
        <p:spPr>
          <a:xfrm>
            <a:off x="594360" y="868680"/>
            <a:ext cx="11002975" cy="914400"/>
          </a:xfrm>
          <a:prstGeom prst="rect">
            <a:avLst/>
          </a:prstGeom>
          <a:noFill/>
          <a:ln/>
        </p:spPr>
        <p:txBody>
          <a:bodyPr wrap="square" lIns="0" tIns="0" rIns="0" bIns="0" rtlCol="0" anchor="t"/>
          <a:lstStyle/>
          <a:p>
            <a:pPr algn="l" indent="0" marL="0">
              <a:lnSpc>
                <a:spcPct val="95000"/>
              </a:lnSpc>
              <a:buNone/>
            </a:pPr>
            <a:r>
              <a:rPr lang="en-US" sz="3000" b="1" dirty="0">
                <a:solidFill>
                  <a:srgbClr val="FFFFFF"/>
                </a:solidFill>
                <a:latin typeface="Cambria" pitchFamily="34" charset="0"/>
                <a:ea typeface="Cambria" pitchFamily="34" charset="-122"/>
                <a:cs typeface="Cambria" pitchFamily="34" charset="-120"/>
              </a:rPr>
              <a:t>R$ 10.900 + R$ 48.000 não dá R$ 58.900.</a:t>
            </a:r>
            <a:endParaRPr lang="en-US" sz="3000" dirty="0"/>
          </a:p>
          <a:p>
            <a:pPr algn="l" indent="0" marL="0">
              <a:lnSpc>
                <a:spcPct val="95000"/>
              </a:lnSpc>
              <a:buNone/>
            </a:pPr>
            <a:r>
              <a:rPr lang="en-US" sz="3000" b="1" dirty="0">
                <a:solidFill>
                  <a:srgbClr val="FFFFFF"/>
                </a:solidFill>
                <a:latin typeface="Cambria" pitchFamily="34" charset="0"/>
                <a:ea typeface="Cambria" pitchFamily="34" charset="-122"/>
                <a:cs typeface="Cambria" pitchFamily="34" charset="-120"/>
              </a:rPr>
              <a:t>Um está dentro do outro.</a:t>
            </a:r>
            <a:endParaRPr lang="en-US" sz="3000" dirty="0"/>
          </a:p>
        </p:txBody>
      </p:sp>
      <p:sp>
        <p:nvSpPr>
          <p:cNvPr id="4" name="Shape 2"/>
          <p:cNvSpPr/>
          <p:nvPr/>
        </p:nvSpPr>
        <p:spPr>
          <a:xfrm>
            <a:off x="594360" y="2423160"/>
            <a:ext cx="11002975" cy="1371600"/>
          </a:xfrm>
          <a:prstGeom prst="roundRect">
            <a:avLst>
              <a:gd name="adj" fmla="val 4000"/>
            </a:avLst>
          </a:prstGeom>
          <a:solidFill>
            <a:srgbClr val="2E3A4A"/>
          </a:solidFill>
          <a:ln/>
        </p:spPr>
      </p:sp>
      <p:sp>
        <p:nvSpPr>
          <p:cNvPr id="5" name="Shape 3"/>
          <p:cNvSpPr/>
          <p:nvPr/>
        </p:nvSpPr>
        <p:spPr>
          <a:xfrm>
            <a:off x="594360" y="2423160"/>
            <a:ext cx="2497675" cy="1371600"/>
          </a:xfrm>
          <a:prstGeom prst="roundRect">
            <a:avLst>
              <a:gd name="adj" fmla="val 4000"/>
            </a:avLst>
          </a:prstGeom>
          <a:solidFill>
            <a:srgbClr val="E8833A"/>
          </a:solidFill>
          <a:ln/>
        </p:spPr>
      </p:sp>
      <p:sp>
        <p:nvSpPr>
          <p:cNvPr id="6" name="Text 4"/>
          <p:cNvSpPr txBox="1"/>
          <p:nvPr/>
        </p:nvSpPr>
        <p:spPr>
          <a:xfrm>
            <a:off x="594360" y="2715768"/>
            <a:ext cx="2497675" cy="411480"/>
          </a:xfrm>
          <a:prstGeom prst="rect">
            <a:avLst/>
          </a:prstGeom>
          <a:noFill/>
          <a:ln/>
        </p:spPr>
        <p:txBody>
          <a:bodyPr wrap="square" lIns="0" tIns="0" rIns="0" bIns="0" rtlCol="0" anchor="t"/>
          <a:lstStyle/>
          <a:p>
            <a:pPr algn="ctr" indent="0" marL="0">
              <a:lnSpc>
                <a:spcPct val="115000"/>
              </a:lnSpc>
              <a:buNone/>
            </a:pPr>
            <a:r>
              <a:rPr lang="en-US" sz="1900" b="1" dirty="0">
                <a:solidFill>
                  <a:srgbClr val="FFFFFF"/>
                </a:solidFill>
                <a:latin typeface="Calibri" pitchFamily="34" charset="0"/>
                <a:ea typeface="Calibri" pitchFamily="34" charset="-122"/>
                <a:cs typeface="Calibri" pitchFamily="34" charset="-120"/>
              </a:rPr>
              <a:t>R$ 10.900</a:t>
            </a:r>
            <a:endParaRPr lang="en-US" sz="1900" dirty="0"/>
          </a:p>
        </p:txBody>
      </p:sp>
      <p:sp>
        <p:nvSpPr>
          <p:cNvPr id="7" name="Text 5"/>
          <p:cNvSpPr txBox="1"/>
          <p:nvPr/>
        </p:nvSpPr>
        <p:spPr>
          <a:xfrm>
            <a:off x="594360" y="3172968"/>
            <a:ext cx="2497675" cy="320040"/>
          </a:xfrm>
          <a:prstGeom prst="rect">
            <a:avLst/>
          </a:prstGeom>
          <a:noFill/>
          <a:ln/>
        </p:spPr>
        <p:txBody>
          <a:bodyPr wrap="square" lIns="0" tIns="0" rIns="0" bIns="0" rtlCol="0" anchor="t"/>
          <a:lstStyle/>
          <a:p>
            <a:pPr algn="ctr" indent="0" marL="0">
              <a:lnSpc>
                <a:spcPct val="115000"/>
              </a:lnSpc>
              <a:buNone/>
            </a:pPr>
            <a:r>
              <a:rPr lang="en-US" sz="1050" dirty="0">
                <a:solidFill>
                  <a:srgbClr val="FFFFFF"/>
                </a:solidFill>
                <a:latin typeface="Calibri" pitchFamily="34" charset="0"/>
                <a:ea typeface="Calibri" pitchFamily="34" charset="-122"/>
                <a:cs typeface="Calibri" pitchFamily="34" charset="-120"/>
              </a:rPr>
              <a:t>vaza do que já entrou</a:t>
            </a:r>
            <a:endParaRPr lang="en-US" sz="1050" dirty="0"/>
          </a:p>
        </p:txBody>
      </p:sp>
      <p:sp>
        <p:nvSpPr>
          <p:cNvPr id="8" name="Text 6"/>
          <p:cNvSpPr txBox="1"/>
          <p:nvPr/>
        </p:nvSpPr>
        <p:spPr>
          <a:xfrm>
            <a:off x="3092035" y="2715768"/>
            <a:ext cx="8505300" cy="411480"/>
          </a:xfrm>
          <a:prstGeom prst="rect">
            <a:avLst/>
          </a:prstGeom>
          <a:noFill/>
          <a:ln/>
        </p:spPr>
        <p:txBody>
          <a:bodyPr wrap="square" lIns="0" tIns="0" rIns="0" bIns="0" rtlCol="0" anchor="t"/>
          <a:lstStyle/>
          <a:p>
            <a:pPr algn="ctr" indent="0" marL="0">
              <a:lnSpc>
                <a:spcPct val="115000"/>
              </a:lnSpc>
              <a:buNone/>
            </a:pPr>
            <a:r>
              <a:rPr lang="en-US" sz="1900" b="1" dirty="0">
                <a:solidFill>
                  <a:srgbClr val="FFFFFF"/>
                </a:solidFill>
                <a:latin typeface="Calibri" pitchFamily="34" charset="0"/>
                <a:ea typeface="Calibri" pitchFamily="34" charset="-122"/>
                <a:cs typeface="Calibri" pitchFamily="34" charset="-120"/>
              </a:rPr>
              <a:t>R$ 37.100</a:t>
            </a:r>
            <a:endParaRPr lang="en-US" sz="1900" dirty="0"/>
          </a:p>
        </p:txBody>
      </p:sp>
      <p:sp>
        <p:nvSpPr>
          <p:cNvPr id="9" name="Text 7"/>
          <p:cNvSpPr txBox="1"/>
          <p:nvPr/>
        </p:nvSpPr>
        <p:spPr>
          <a:xfrm>
            <a:off x="3092035" y="3172968"/>
            <a:ext cx="8505300" cy="320040"/>
          </a:xfrm>
          <a:prstGeom prst="rect">
            <a:avLst/>
          </a:prstGeom>
          <a:noFill/>
          <a:ln/>
        </p:spPr>
        <p:txBody>
          <a:bodyPr wrap="square" lIns="0" tIns="0" rIns="0" bIns="0" rtlCol="0" anchor="t"/>
          <a:lstStyle/>
          <a:p>
            <a:pPr algn="ctr" indent="0" marL="0">
              <a:lnSpc>
                <a:spcPct val="115000"/>
              </a:lnSpc>
              <a:buNone/>
            </a:pPr>
            <a:r>
              <a:rPr lang="en-US" sz="1050" dirty="0">
                <a:solidFill>
                  <a:srgbClr val="9AA6B2"/>
                </a:solidFill>
                <a:latin typeface="Calibri" pitchFamily="34" charset="0"/>
                <a:ea typeface="Calibri" pitchFamily="34" charset="-122"/>
                <a:cs typeface="Calibri" pitchFamily="34" charset="-120"/>
              </a:rPr>
              <a:t>nunca chegou a entrar</a:t>
            </a:r>
            <a:endParaRPr lang="en-US" sz="1050" dirty="0"/>
          </a:p>
        </p:txBody>
      </p:sp>
      <p:sp>
        <p:nvSpPr>
          <p:cNvPr id="10" name="Text 8"/>
          <p:cNvSpPr txBox="1"/>
          <p:nvPr/>
        </p:nvSpPr>
        <p:spPr>
          <a:xfrm>
            <a:off x="594360" y="3904488"/>
            <a:ext cx="11002975" cy="320040"/>
          </a:xfrm>
          <a:prstGeom prst="rect">
            <a:avLst/>
          </a:prstGeom>
          <a:noFill/>
          <a:ln/>
        </p:spPr>
        <p:txBody>
          <a:bodyPr wrap="square" lIns="0" tIns="0" rIns="0" bIns="0" rtlCol="0" anchor="t"/>
          <a:lstStyle/>
          <a:p>
            <a:pPr algn="ctr" indent="0" marL="0">
              <a:lnSpc>
                <a:spcPct val="115000"/>
              </a:lnSpc>
              <a:buNone/>
            </a:pPr>
            <a:r>
              <a:rPr lang="en-US" sz="1300" dirty="0">
                <a:solidFill>
                  <a:srgbClr val="9AA6B2"/>
                </a:solidFill>
                <a:latin typeface="Calibri" pitchFamily="34" charset="0"/>
                <a:ea typeface="Calibri" pitchFamily="34" charset="-122"/>
                <a:cs typeface="Calibri" pitchFamily="34" charset="-120"/>
              </a:rPr>
              <a:t>R$ 48.000 / mês  —  tudo o que falta para a meta</a:t>
            </a:r>
            <a:endParaRPr lang="en-US" sz="1300" dirty="0"/>
          </a:p>
        </p:txBody>
      </p:sp>
      <p:sp>
        <p:nvSpPr>
          <p:cNvPr id="11" name="Shape 9"/>
          <p:cNvSpPr/>
          <p:nvPr/>
        </p:nvSpPr>
        <p:spPr>
          <a:xfrm>
            <a:off x="594360" y="4434840"/>
            <a:ext cx="11002975" cy="1234440"/>
          </a:xfrm>
          <a:prstGeom prst="roundRect">
            <a:avLst>
              <a:gd name="adj" fmla="val 5926"/>
            </a:avLst>
          </a:prstGeom>
          <a:solidFill>
            <a:srgbClr val="2E3A4A"/>
          </a:solidFill>
          <a:ln/>
        </p:spPr>
      </p:sp>
      <p:sp>
        <p:nvSpPr>
          <p:cNvPr id="12" name="Text 10"/>
          <p:cNvSpPr txBox="1"/>
          <p:nvPr/>
        </p:nvSpPr>
        <p:spPr>
          <a:xfrm>
            <a:off x="594360" y="4645152"/>
            <a:ext cx="11002975" cy="868680"/>
          </a:xfrm>
          <a:prstGeom prst="rect">
            <a:avLst/>
          </a:prstGeom>
          <a:noFill/>
          <a:ln/>
        </p:spPr>
        <p:txBody>
          <a:bodyPr wrap="square" lIns="0" tIns="0" rIns="0" bIns="0" rtlCol="0" anchor="t"/>
          <a:lstStyle/>
          <a:p>
            <a:pPr algn="ctr" indent="0" marL="0">
              <a:lnSpc>
                <a:spcPct val="125000"/>
              </a:lnSpc>
              <a:buNone/>
            </a:pPr>
            <a:r>
              <a:rPr lang="en-US" sz="1900" b="1" dirty="0">
                <a:solidFill>
                  <a:srgbClr val="FFFFFF"/>
                </a:solidFill>
                <a:latin typeface="Calibri" pitchFamily="34" charset="0"/>
                <a:ea typeface="Calibri" pitchFamily="34" charset="-122"/>
                <a:cs typeface="Calibri" pitchFamily="34" charset="-120"/>
              </a:rPr>
              <a:t>"Eu perco R$ 10.900 do que já está dentro de casa.</a:t>
            </a:r>
            <a:endParaRPr lang="en-US" sz="1900" dirty="0"/>
          </a:p>
          <a:p>
            <a:pPr algn="ctr" indent="0" marL="0">
              <a:lnSpc>
                <a:spcPct val="125000"/>
              </a:lnSpc>
              <a:buNone/>
            </a:pPr>
            <a:r>
              <a:rPr lang="en-US" sz="1900" b="1" dirty="0">
                <a:solidFill>
                  <a:srgbClr val="FFFFFF"/>
                </a:solidFill>
                <a:latin typeface="Calibri" pitchFamily="34" charset="0"/>
                <a:ea typeface="Calibri" pitchFamily="34" charset="-122"/>
                <a:cs typeface="Calibri" pitchFamily="34" charset="-120"/>
              </a:rPr>
              <a:t>E deixo de fazer outros R$ 37.100 que nunca entraram."</a:t>
            </a:r>
            <a:endParaRPr lang="en-US" sz="1900" dirty="0"/>
          </a:p>
        </p:txBody>
      </p:sp>
      <p:sp>
        <p:nvSpPr>
          <p:cNvPr id="13" name="Text 11"/>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9AA6B2"/>
                </a:solidFill>
                <a:latin typeface="Calibri" pitchFamily="34" charset="0"/>
                <a:ea typeface="Calibri" pitchFamily="34" charset="-122"/>
                <a:cs typeface="Calibri" pitchFamily="34" charset="-120"/>
              </a:rPr>
              <a:t>gap da meta = R$ 300.000 − R$ 140.000 = R$ 160.000 de faturamento × 30% de margem = R$ 48.000/mês · R$ 576.000/ano · aritmética sobre dados informados, confiança alta</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3000" b="1" dirty="0">
                <a:solidFill>
                  <a:srgbClr val="1B2430"/>
                </a:solidFill>
                <a:latin typeface="Cambria" pitchFamily="34" charset="0"/>
                <a:ea typeface="Cambria" pitchFamily="34" charset="-122"/>
                <a:cs typeface="Cambria" pitchFamily="34" charset="-120"/>
              </a:rPr>
              <a:t>Duas coisas que eu não vou te vender</a:t>
            </a:r>
            <a:endParaRPr lang="en-US" sz="3000" dirty="0"/>
          </a:p>
        </p:txBody>
      </p:sp>
      <p:sp>
        <p:nvSpPr>
          <p:cNvPr id="3" name="Shape 1"/>
          <p:cNvSpPr/>
          <p:nvPr/>
        </p:nvSpPr>
        <p:spPr>
          <a:xfrm>
            <a:off x="594360" y="1783080"/>
            <a:ext cx="5376672" cy="3886200"/>
          </a:xfrm>
          <a:prstGeom prst="roundRect">
            <a:avLst>
              <a:gd name="adj" fmla="val 1882"/>
            </a:avLst>
          </a:prstGeom>
          <a:solidFill>
            <a:srgbClr val="F4F6F8"/>
          </a:solidFill>
          <a:ln/>
        </p:spPr>
      </p:sp>
      <p:sp>
        <p:nvSpPr>
          <p:cNvPr id="4" name="Text 2"/>
          <p:cNvSpPr txBox="1"/>
          <p:nvPr/>
        </p:nvSpPr>
        <p:spPr>
          <a:xfrm>
            <a:off x="960120" y="2011680"/>
            <a:ext cx="548640" cy="457200"/>
          </a:xfrm>
          <a:prstGeom prst="rect">
            <a:avLst/>
          </a:prstGeom>
          <a:noFill/>
          <a:ln/>
        </p:spPr>
        <p:txBody>
          <a:bodyPr wrap="square" lIns="0" tIns="0" rIns="0" bIns="0" rtlCol="0" anchor="t"/>
          <a:lstStyle/>
          <a:p>
            <a:pPr algn="l" indent="0" marL="0">
              <a:lnSpc>
                <a:spcPct val="115000"/>
              </a:lnSpc>
              <a:buNone/>
            </a:pPr>
            <a:r>
              <a:rPr lang="en-US" sz="2200" b="1" dirty="0">
                <a:solidFill>
                  <a:srgbClr val="C7CFD8"/>
                </a:solidFill>
                <a:latin typeface="Calibri" pitchFamily="34" charset="0"/>
                <a:ea typeface="Calibri" pitchFamily="34" charset="-122"/>
                <a:cs typeface="Calibri" pitchFamily="34" charset="-120"/>
              </a:rPr>
              <a:t>✕</a:t>
            </a:r>
            <a:endParaRPr lang="en-US" sz="2200" dirty="0"/>
          </a:p>
        </p:txBody>
      </p:sp>
      <p:sp>
        <p:nvSpPr>
          <p:cNvPr id="5" name="Text 3"/>
          <p:cNvSpPr txBox="1"/>
          <p:nvPr/>
        </p:nvSpPr>
        <p:spPr>
          <a:xfrm>
            <a:off x="1554480" y="2084832"/>
            <a:ext cx="4114800" cy="365760"/>
          </a:xfrm>
          <a:prstGeom prst="rect">
            <a:avLst/>
          </a:prstGeom>
          <a:noFill/>
          <a:ln/>
        </p:spPr>
        <p:txBody>
          <a:bodyPr wrap="square" lIns="0" tIns="0" rIns="0" bIns="0" rtlCol="0" anchor="t"/>
          <a:lstStyle/>
          <a:p>
            <a:pPr algn="l" indent="0" marL="0">
              <a:lnSpc>
                <a:spcPct val="115000"/>
              </a:lnSpc>
              <a:buNone/>
            </a:pPr>
            <a:r>
              <a:rPr lang="en-US" sz="1600" b="1" i="1" dirty="0">
                <a:solidFill>
                  <a:srgbClr val="6B7785"/>
                </a:solidFill>
                <a:latin typeface="Calibri" pitchFamily="34" charset="0"/>
                <a:ea typeface="Calibri" pitchFamily="34" charset="-122"/>
                <a:cs typeface="Calibri" pitchFamily="34" charset="-120"/>
              </a:rPr>
              <a:t>"responda mais rápido"</a:t>
            </a:r>
            <a:endParaRPr lang="en-US" sz="1600" dirty="0"/>
          </a:p>
        </p:txBody>
      </p:sp>
      <p:sp>
        <p:nvSpPr>
          <p:cNvPr id="6" name="Text 4"/>
          <p:cNvSpPr txBox="1"/>
          <p:nvPr/>
        </p:nvSpPr>
        <p:spPr>
          <a:xfrm>
            <a:off x="960120" y="2697480"/>
            <a:ext cx="4663440" cy="731520"/>
          </a:xfrm>
          <a:prstGeom prst="rect">
            <a:avLst/>
          </a:prstGeom>
          <a:noFill/>
          <a:ln/>
        </p:spPr>
        <p:txBody>
          <a:bodyPr wrap="square" lIns="0" tIns="0" rIns="0" bIns="0" rtlCol="0" anchor="t"/>
          <a:lstStyle/>
          <a:p>
            <a:pPr algn="l" indent="0" marL="0">
              <a:lnSpc>
                <a:spcPct val="115000"/>
              </a:lnSpc>
              <a:buNone/>
            </a:pPr>
            <a:r>
              <a:rPr lang="en-US" sz="4000" b="1" dirty="0">
                <a:solidFill>
                  <a:srgbClr val="1B2430"/>
                </a:solidFill>
                <a:latin typeface="Calibri" pitchFamily="34" charset="0"/>
                <a:ea typeface="Calibri" pitchFamily="34" charset="-122"/>
                <a:cs typeface="Calibri" pitchFamily="34" charset="-120"/>
              </a:rPr>
              <a:t>R$ 950</a:t>
            </a:r>
            <a:endParaRPr lang="en-US" sz="4000" dirty="0"/>
          </a:p>
        </p:txBody>
      </p:sp>
      <p:sp>
        <p:nvSpPr>
          <p:cNvPr id="7" name="Text 5"/>
          <p:cNvSpPr txBox="1"/>
          <p:nvPr/>
        </p:nvSpPr>
        <p:spPr>
          <a:xfrm>
            <a:off x="960120" y="3456432"/>
            <a:ext cx="4663440" cy="274320"/>
          </a:xfrm>
          <a:prstGeom prst="rect">
            <a:avLst/>
          </a:prstGeom>
          <a:noFill/>
          <a:ln/>
        </p:spPr>
        <p:txBody>
          <a:bodyPr wrap="square" lIns="0" tIns="0" rIns="0" bIns="0" rtlCol="0" anchor="t"/>
          <a:lstStyle/>
          <a:p>
            <a:pPr algn="l" indent="0" marL="0">
              <a:lnSpc>
                <a:spcPct val="115000"/>
              </a:lnSpc>
              <a:buNone/>
            </a:pPr>
            <a:r>
              <a:rPr lang="en-US" sz="1200" dirty="0">
                <a:solidFill>
                  <a:srgbClr val="6B7785"/>
                </a:solidFill>
                <a:latin typeface="Calibri" pitchFamily="34" charset="0"/>
                <a:ea typeface="Calibri" pitchFamily="34" charset="-122"/>
                <a:cs typeface="Calibri" pitchFamily="34" charset="-120"/>
              </a:rPr>
              <a:t>por mês</a:t>
            </a:r>
            <a:endParaRPr lang="en-US" sz="1200" dirty="0"/>
          </a:p>
        </p:txBody>
      </p:sp>
      <p:sp>
        <p:nvSpPr>
          <p:cNvPr id="8" name="Text 6"/>
          <p:cNvSpPr txBox="1"/>
          <p:nvPr/>
        </p:nvSpPr>
        <p:spPr>
          <a:xfrm>
            <a:off x="960120" y="3977640"/>
            <a:ext cx="4663440" cy="731520"/>
          </a:xfrm>
          <a:prstGeom prst="rect">
            <a:avLst/>
          </a:prstGeom>
          <a:noFill/>
          <a:ln/>
        </p:spPr>
        <p:txBody>
          <a:bodyPr wrap="square" lIns="0" tIns="0" rIns="0" bIns="0" rtlCol="0" anchor="t"/>
          <a:lstStyle/>
          <a:p>
            <a:pPr algn="l" indent="0" marL="0">
              <a:lnSpc>
                <a:spcPct val="115000"/>
              </a:lnSpc>
              <a:buNone/>
            </a:pPr>
            <a:r>
              <a:rPr lang="en-US" sz="1350" dirty="0">
                <a:solidFill>
                  <a:srgbClr val="1B2430"/>
                </a:solidFill>
                <a:latin typeface="Calibri" pitchFamily="34" charset="0"/>
                <a:ea typeface="Calibri" pitchFamily="34" charset="-122"/>
                <a:cs typeface="Calibri" pitchFamily="34" charset="-120"/>
              </a:rPr>
              <a:t>Você já responde em 10 minutos. Dez minutos não derruba dois terços de um funil.</a:t>
            </a:r>
            <a:endParaRPr lang="en-US" sz="1350" dirty="0"/>
          </a:p>
        </p:txBody>
      </p:sp>
      <p:sp>
        <p:nvSpPr>
          <p:cNvPr id="9" name="Text 7"/>
          <p:cNvSpPr txBox="1"/>
          <p:nvPr/>
        </p:nvSpPr>
        <p:spPr>
          <a:xfrm>
            <a:off x="960120" y="4892040"/>
            <a:ext cx="4663440" cy="640080"/>
          </a:xfrm>
          <a:prstGeom prst="rect">
            <a:avLst/>
          </a:prstGeom>
          <a:noFill/>
          <a:ln/>
        </p:spPr>
        <p:txBody>
          <a:bodyPr wrap="square" lIns="0" tIns="0" rIns="0" bIns="0" rtlCol="0" anchor="t"/>
          <a:lstStyle/>
          <a:p>
            <a:pPr algn="l" indent="0" marL="0">
              <a:lnSpc>
                <a:spcPct val="115000"/>
              </a:lnSpc>
              <a:buNone/>
            </a:pPr>
            <a:r>
              <a:rPr lang="en-US" sz="1100" b="1" dirty="0">
                <a:solidFill>
                  <a:srgbClr val="E8833A"/>
                </a:solidFill>
                <a:latin typeface="Calibri" pitchFamily="34" charset="0"/>
                <a:ea typeface="Calibri" pitchFamily="34" charset="-122"/>
                <a:cs typeface="Calibri" pitchFamily="34" charset="-120"/>
              </a:rPr>
              <a:t>Já está dentro dos R$ 8.400 — não somar por fora.</a:t>
            </a:r>
            <a:endParaRPr lang="en-US" sz="1100" dirty="0"/>
          </a:p>
        </p:txBody>
      </p:sp>
      <p:sp>
        <p:nvSpPr>
          <p:cNvPr id="10" name="Shape 8"/>
          <p:cNvSpPr/>
          <p:nvPr/>
        </p:nvSpPr>
        <p:spPr>
          <a:xfrm>
            <a:off x="6217920" y="1783080"/>
            <a:ext cx="5376672" cy="3886200"/>
          </a:xfrm>
          <a:prstGeom prst="roundRect">
            <a:avLst>
              <a:gd name="adj" fmla="val 1882"/>
            </a:avLst>
          </a:prstGeom>
          <a:solidFill>
            <a:srgbClr val="F4F6F8"/>
          </a:solidFill>
          <a:ln/>
        </p:spPr>
      </p:sp>
      <p:sp>
        <p:nvSpPr>
          <p:cNvPr id="11" name="Text 9"/>
          <p:cNvSpPr txBox="1"/>
          <p:nvPr/>
        </p:nvSpPr>
        <p:spPr>
          <a:xfrm>
            <a:off x="6583680" y="2011680"/>
            <a:ext cx="548640" cy="457200"/>
          </a:xfrm>
          <a:prstGeom prst="rect">
            <a:avLst/>
          </a:prstGeom>
          <a:noFill/>
          <a:ln/>
        </p:spPr>
        <p:txBody>
          <a:bodyPr wrap="square" lIns="0" tIns="0" rIns="0" bIns="0" rtlCol="0" anchor="t"/>
          <a:lstStyle/>
          <a:p>
            <a:pPr algn="l" indent="0" marL="0">
              <a:lnSpc>
                <a:spcPct val="115000"/>
              </a:lnSpc>
              <a:buNone/>
            </a:pPr>
            <a:r>
              <a:rPr lang="en-US" sz="2200" b="1" dirty="0">
                <a:solidFill>
                  <a:srgbClr val="C7CFD8"/>
                </a:solidFill>
                <a:latin typeface="Calibri" pitchFamily="34" charset="0"/>
                <a:ea typeface="Calibri" pitchFamily="34" charset="-122"/>
                <a:cs typeface="Calibri" pitchFamily="34" charset="-120"/>
              </a:rPr>
              <a:t>✕</a:t>
            </a:r>
            <a:endParaRPr lang="en-US" sz="2200" dirty="0"/>
          </a:p>
        </p:txBody>
      </p:sp>
      <p:sp>
        <p:nvSpPr>
          <p:cNvPr id="12" name="Text 10"/>
          <p:cNvSpPr txBox="1"/>
          <p:nvPr/>
        </p:nvSpPr>
        <p:spPr>
          <a:xfrm>
            <a:off x="7178040" y="2084832"/>
            <a:ext cx="4114800" cy="365760"/>
          </a:xfrm>
          <a:prstGeom prst="rect">
            <a:avLst/>
          </a:prstGeom>
          <a:noFill/>
          <a:ln/>
        </p:spPr>
        <p:txBody>
          <a:bodyPr wrap="square" lIns="0" tIns="0" rIns="0" bIns="0" rtlCol="0" anchor="t"/>
          <a:lstStyle/>
          <a:p>
            <a:pPr algn="l" indent="0" marL="0">
              <a:lnSpc>
                <a:spcPct val="115000"/>
              </a:lnSpc>
              <a:buNone/>
            </a:pPr>
            <a:r>
              <a:rPr lang="en-US" sz="1600" b="1" i="1" dirty="0">
                <a:solidFill>
                  <a:srgbClr val="6B7785"/>
                </a:solidFill>
                <a:latin typeface="Calibri" pitchFamily="34" charset="0"/>
                <a:ea typeface="Calibri" pitchFamily="34" charset="-122"/>
                <a:cs typeface="Calibri" pitchFamily="34" charset="-120"/>
              </a:rPr>
              <a:t>"faça follow-up"</a:t>
            </a:r>
            <a:endParaRPr lang="en-US" sz="1600" dirty="0"/>
          </a:p>
        </p:txBody>
      </p:sp>
      <p:sp>
        <p:nvSpPr>
          <p:cNvPr id="13" name="Text 11"/>
          <p:cNvSpPr txBox="1"/>
          <p:nvPr/>
        </p:nvSpPr>
        <p:spPr>
          <a:xfrm>
            <a:off x="6583680" y="2697480"/>
            <a:ext cx="4663440" cy="731520"/>
          </a:xfrm>
          <a:prstGeom prst="rect">
            <a:avLst/>
          </a:prstGeom>
          <a:noFill/>
          <a:ln/>
        </p:spPr>
        <p:txBody>
          <a:bodyPr wrap="square" lIns="0" tIns="0" rIns="0" bIns="0" rtlCol="0" anchor="t"/>
          <a:lstStyle/>
          <a:p>
            <a:pPr algn="l" indent="0" marL="0">
              <a:lnSpc>
                <a:spcPct val="115000"/>
              </a:lnSpc>
              <a:buNone/>
            </a:pPr>
            <a:r>
              <a:rPr lang="en-US" sz="4000" b="1" dirty="0">
                <a:solidFill>
                  <a:srgbClr val="1B2430"/>
                </a:solidFill>
                <a:latin typeface="Calibri" pitchFamily="34" charset="0"/>
                <a:ea typeface="Calibri" pitchFamily="34" charset="-122"/>
                <a:cs typeface="Calibri" pitchFamily="34" charset="-120"/>
              </a:rPr>
              <a:t>R$ 2.500</a:t>
            </a:r>
            <a:endParaRPr lang="en-US" sz="4000" dirty="0"/>
          </a:p>
        </p:txBody>
      </p:sp>
      <p:sp>
        <p:nvSpPr>
          <p:cNvPr id="14" name="Text 12"/>
          <p:cNvSpPr txBox="1"/>
          <p:nvPr/>
        </p:nvSpPr>
        <p:spPr>
          <a:xfrm>
            <a:off x="6583680" y="3456432"/>
            <a:ext cx="4663440" cy="274320"/>
          </a:xfrm>
          <a:prstGeom prst="rect">
            <a:avLst/>
          </a:prstGeom>
          <a:noFill/>
          <a:ln/>
        </p:spPr>
        <p:txBody>
          <a:bodyPr wrap="square" lIns="0" tIns="0" rIns="0" bIns="0" rtlCol="0" anchor="t"/>
          <a:lstStyle/>
          <a:p>
            <a:pPr algn="l" indent="0" marL="0">
              <a:lnSpc>
                <a:spcPct val="115000"/>
              </a:lnSpc>
              <a:buNone/>
            </a:pPr>
            <a:r>
              <a:rPr lang="en-US" sz="1200" dirty="0">
                <a:solidFill>
                  <a:srgbClr val="6B7785"/>
                </a:solidFill>
                <a:latin typeface="Calibri" pitchFamily="34" charset="0"/>
                <a:ea typeface="Calibri" pitchFamily="34" charset="-122"/>
                <a:cs typeface="Calibri" pitchFamily="34" charset="-120"/>
              </a:rPr>
              <a:t>por mês</a:t>
            </a:r>
            <a:endParaRPr lang="en-US" sz="1200" dirty="0"/>
          </a:p>
        </p:txBody>
      </p:sp>
      <p:sp>
        <p:nvSpPr>
          <p:cNvPr id="15" name="Text 13"/>
          <p:cNvSpPr txBox="1"/>
          <p:nvPr/>
        </p:nvSpPr>
        <p:spPr>
          <a:xfrm>
            <a:off x="6583680" y="3977640"/>
            <a:ext cx="4663440" cy="731520"/>
          </a:xfrm>
          <a:prstGeom prst="rect">
            <a:avLst/>
          </a:prstGeom>
          <a:noFill/>
          <a:ln/>
        </p:spPr>
        <p:txBody>
          <a:bodyPr wrap="square" lIns="0" tIns="0" rIns="0" bIns="0" rtlCol="0" anchor="t"/>
          <a:lstStyle/>
          <a:p>
            <a:pPr algn="l" indent="0" marL="0">
              <a:lnSpc>
                <a:spcPct val="115000"/>
              </a:lnSpc>
              <a:buNone/>
            </a:pPr>
            <a:r>
              <a:rPr lang="en-US" sz="1350" dirty="0">
                <a:solidFill>
                  <a:srgbClr val="1B2430"/>
                </a:solidFill>
                <a:latin typeface="Calibri" pitchFamily="34" charset="0"/>
                <a:ea typeface="Calibri" pitchFamily="34" charset="-122"/>
                <a:cs typeface="Calibri" pitchFamily="34" charset="-120"/>
              </a:rPr>
              <a:t>Você só perde 13 propostas por mês. Cadência perfeita em cima de 13 rende pouco.</a:t>
            </a:r>
            <a:endParaRPr lang="en-US" sz="1350" dirty="0"/>
          </a:p>
        </p:txBody>
      </p:sp>
      <p:sp>
        <p:nvSpPr>
          <p:cNvPr id="16" name="Text 14"/>
          <p:cNvSpPr txBox="1"/>
          <p:nvPr/>
        </p:nvSpPr>
        <p:spPr>
          <a:xfrm>
            <a:off x="6583680" y="4892040"/>
            <a:ext cx="4663440" cy="640080"/>
          </a:xfrm>
          <a:prstGeom prst="rect">
            <a:avLst/>
          </a:prstGeom>
          <a:noFill/>
          <a:ln/>
        </p:spPr>
        <p:txBody>
          <a:bodyPr wrap="square" lIns="0" tIns="0" rIns="0" bIns="0" rtlCol="0" anchor="t"/>
          <a:lstStyle/>
          <a:p>
            <a:pPr algn="l" indent="0" marL="0">
              <a:lnSpc>
                <a:spcPct val="115000"/>
              </a:lnSpc>
              <a:buNone/>
            </a:pPr>
            <a:r>
              <a:rPr lang="en-US" sz="1100" b="1" dirty="0">
                <a:solidFill>
                  <a:srgbClr val="E8833A"/>
                </a:solidFill>
                <a:latin typeface="Calibri" pitchFamily="34" charset="0"/>
                <a:ea typeface="Calibri" pitchFamily="34" charset="-122"/>
                <a:cs typeface="Calibri" pitchFamily="34" charset="-120"/>
              </a:rPr>
              <a:t>É o número mais frágil do diagnóstico. Contraria o padrão do setor — e eu digo isso antes de você descobrir.</a:t>
            </a:r>
            <a:endParaRPr lang="en-US" sz="1100" dirty="0"/>
          </a:p>
        </p:txBody>
      </p:sp>
      <p:sp>
        <p:nvSpPr>
          <p:cNvPr id="17" name="Text 15"/>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os R$ 2.500 valem SE não houver cadência hoje — o que não foi informado. Não estou afirmando que a LEOSOL não faz follow-up.</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Cada 1% de desconto médio custa</a:t>
            </a:r>
            <a:endParaRPr lang="en-US" sz="2700" dirty="0"/>
          </a:p>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R$ 1.400 de margem por mês</a:t>
            </a:r>
            <a:endParaRPr lang="en-US" sz="2700" dirty="0"/>
          </a:p>
        </p:txBody>
      </p:sp>
      <p:sp>
        <p:nvSpPr>
          <p:cNvPr id="3" name="Shape 1"/>
          <p:cNvSpPr/>
          <p:nvPr/>
        </p:nvSpPr>
        <p:spPr>
          <a:xfrm>
            <a:off x="594360" y="2011680"/>
            <a:ext cx="6492240" cy="658368"/>
          </a:xfrm>
          <a:prstGeom prst="roundRect">
            <a:avLst>
              <a:gd name="adj" fmla="val 11111"/>
            </a:avLst>
          </a:prstGeom>
          <a:solidFill>
            <a:srgbClr val="F4F6F8"/>
          </a:solidFill>
          <a:ln/>
        </p:spPr>
      </p:sp>
      <p:sp>
        <p:nvSpPr>
          <p:cNvPr id="4" name="Text 2"/>
          <p:cNvSpPr txBox="1"/>
          <p:nvPr/>
        </p:nvSpPr>
        <p:spPr>
          <a:xfrm>
            <a:off x="960120" y="2194560"/>
            <a:ext cx="2377440" cy="320040"/>
          </a:xfrm>
          <a:prstGeom prst="rect">
            <a:avLst/>
          </a:prstGeom>
          <a:noFill/>
          <a:ln/>
        </p:spPr>
        <p:txBody>
          <a:bodyPr wrap="square" lIns="0" tIns="0" rIns="0" bIns="0" rtlCol="0" anchor="t"/>
          <a:lstStyle/>
          <a:p>
            <a:pPr algn="l" indent="0" marL="0">
              <a:lnSpc>
                <a:spcPct val="115000"/>
              </a:lnSpc>
              <a:buNone/>
            </a:pPr>
            <a:r>
              <a:rPr lang="en-US" sz="1400" dirty="0">
                <a:solidFill>
                  <a:srgbClr val="1B2430"/>
                </a:solidFill>
                <a:latin typeface="Calibri" pitchFamily="34" charset="0"/>
                <a:ea typeface="Calibri" pitchFamily="34" charset="-122"/>
                <a:cs typeface="Calibri" pitchFamily="34" charset="-120"/>
              </a:rPr>
              <a:t>desconto de 3%</a:t>
            </a:r>
            <a:endParaRPr lang="en-US" sz="1400" dirty="0"/>
          </a:p>
        </p:txBody>
      </p:sp>
      <p:sp>
        <p:nvSpPr>
          <p:cNvPr id="5" name="Text 3"/>
          <p:cNvSpPr txBox="1"/>
          <p:nvPr/>
        </p:nvSpPr>
        <p:spPr>
          <a:xfrm>
            <a:off x="3520440" y="2176272"/>
            <a:ext cx="457200" cy="320040"/>
          </a:xfrm>
          <a:prstGeom prst="rect">
            <a:avLst/>
          </a:prstGeom>
          <a:noFill/>
          <a:ln/>
        </p:spPr>
        <p:txBody>
          <a:bodyPr wrap="square" lIns="0" tIns="0" rIns="0" bIns="0" rtlCol="0" anchor="t"/>
          <a:lstStyle/>
          <a:p>
            <a:pPr algn="l" indent="0" marL="0">
              <a:lnSpc>
                <a:spcPct val="115000"/>
              </a:lnSpc>
              <a:buNone/>
            </a:pPr>
            <a:r>
              <a:rPr lang="en-US" sz="1400" dirty="0">
                <a:solidFill>
                  <a:srgbClr val="6B7785"/>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4251960" y="2176272"/>
            <a:ext cx="2468880" cy="320040"/>
          </a:xfrm>
          <a:prstGeom prst="rect">
            <a:avLst/>
          </a:prstGeom>
          <a:noFill/>
          <a:ln/>
        </p:spPr>
        <p:txBody>
          <a:bodyPr wrap="square" lIns="0" tIns="0" rIns="0" bIns="0" rtlCol="0" anchor="t"/>
          <a:lstStyle/>
          <a:p>
            <a:pPr algn="r" indent="0" marL="0">
              <a:lnSpc>
                <a:spcPct val="115000"/>
              </a:lnSpc>
              <a:buNone/>
            </a:pPr>
            <a:r>
              <a:rPr lang="en-US" sz="1500" b="1" dirty="0">
                <a:solidFill>
                  <a:srgbClr val="1B2430"/>
                </a:solidFill>
                <a:latin typeface="Calibri" pitchFamily="34" charset="0"/>
                <a:ea typeface="Calibri" pitchFamily="34" charset="-122"/>
                <a:cs typeface="Calibri" pitchFamily="34" charset="-120"/>
              </a:rPr>
              <a:t>R$ 4.200 / mês</a:t>
            </a:r>
            <a:endParaRPr lang="en-US" sz="1500" dirty="0"/>
          </a:p>
        </p:txBody>
      </p:sp>
      <p:sp>
        <p:nvSpPr>
          <p:cNvPr id="7" name="Shape 5"/>
          <p:cNvSpPr/>
          <p:nvPr/>
        </p:nvSpPr>
        <p:spPr>
          <a:xfrm>
            <a:off x="594360" y="2788920"/>
            <a:ext cx="6492240" cy="658368"/>
          </a:xfrm>
          <a:prstGeom prst="roundRect">
            <a:avLst>
              <a:gd name="adj" fmla="val 11111"/>
            </a:avLst>
          </a:prstGeom>
          <a:solidFill>
            <a:srgbClr val="F4F6F8"/>
          </a:solidFill>
          <a:ln/>
        </p:spPr>
      </p:sp>
      <p:sp>
        <p:nvSpPr>
          <p:cNvPr id="8" name="Text 6"/>
          <p:cNvSpPr txBox="1"/>
          <p:nvPr/>
        </p:nvSpPr>
        <p:spPr>
          <a:xfrm>
            <a:off x="960120" y="2971800"/>
            <a:ext cx="2377440" cy="320040"/>
          </a:xfrm>
          <a:prstGeom prst="rect">
            <a:avLst/>
          </a:prstGeom>
          <a:noFill/>
          <a:ln/>
        </p:spPr>
        <p:txBody>
          <a:bodyPr wrap="square" lIns="0" tIns="0" rIns="0" bIns="0" rtlCol="0" anchor="t"/>
          <a:lstStyle/>
          <a:p>
            <a:pPr algn="l" indent="0" marL="0">
              <a:lnSpc>
                <a:spcPct val="115000"/>
              </a:lnSpc>
              <a:buNone/>
            </a:pPr>
            <a:r>
              <a:rPr lang="en-US" sz="1400" dirty="0">
                <a:solidFill>
                  <a:srgbClr val="1B2430"/>
                </a:solidFill>
                <a:latin typeface="Calibri" pitchFamily="34" charset="0"/>
                <a:ea typeface="Calibri" pitchFamily="34" charset="-122"/>
                <a:cs typeface="Calibri" pitchFamily="34" charset="-120"/>
              </a:rPr>
              <a:t>desconto de 5%</a:t>
            </a:r>
            <a:endParaRPr lang="en-US" sz="1400" dirty="0"/>
          </a:p>
        </p:txBody>
      </p:sp>
      <p:sp>
        <p:nvSpPr>
          <p:cNvPr id="9" name="Text 7"/>
          <p:cNvSpPr txBox="1"/>
          <p:nvPr/>
        </p:nvSpPr>
        <p:spPr>
          <a:xfrm>
            <a:off x="3520440" y="2953512"/>
            <a:ext cx="457200" cy="320040"/>
          </a:xfrm>
          <a:prstGeom prst="rect">
            <a:avLst/>
          </a:prstGeom>
          <a:noFill/>
          <a:ln/>
        </p:spPr>
        <p:txBody>
          <a:bodyPr wrap="square" lIns="0" tIns="0" rIns="0" bIns="0" rtlCol="0" anchor="t"/>
          <a:lstStyle/>
          <a:p>
            <a:pPr algn="l" indent="0" marL="0">
              <a:lnSpc>
                <a:spcPct val="115000"/>
              </a:lnSpc>
              <a:buNone/>
            </a:pPr>
            <a:r>
              <a:rPr lang="en-US" sz="1400" dirty="0">
                <a:solidFill>
                  <a:srgbClr val="6B778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4251960" y="2953512"/>
            <a:ext cx="2468880" cy="320040"/>
          </a:xfrm>
          <a:prstGeom prst="rect">
            <a:avLst/>
          </a:prstGeom>
          <a:noFill/>
          <a:ln/>
        </p:spPr>
        <p:txBody>
          <a:bodyPr wrap="square" lIns="0" tIns="0" rIns="0" bIns="0" rtlCol="0" anchor="t"/>
          <a:lstStyle/>
          <a:p>
            <a:pPr algn="r" indent="0" marL="0">
              <a:lnSpc>
                <a:spcPct val="115000"/>
              </a:lnSpc>
              <a:buNone/>
            </a:pPr>
            <a:r>
              <a:rPr lang="en-US" sz="1500" b="1" dirty="0">
                <a:solidFill>
                  <a:srgbClr val="1B2430"/>
                </a:solidFill>
                <a:latin typeface="Calibri" pitchFamily="34" charset="0"/>
                <a:ea typeface="Calibri" pitchFamily="34" charset="-122"/>
                <a:cs typeface="Calibri" pitchFamily="34" charset="-120"/>
              </a:rPr>
              <a:t>R$ 7.000 / mês</a:t>
            </a:r>
            <a:endParaRPr lang="en-US" sz="1500" dirty="0"/>
          </a:p>
        </p:txBody>
      </p:sp>
      <p:sp>
        <p:nvSpPr>
          <p:cNvPr id="11" name="Shape 9"/>
          <p:cNvSpPr/>
          <p:nvPr/>
        </p:nvSpPr>
        <p:spPr>
          <a:xfrm>
            <a:off x="594360" y="3566160"/>
            <a:ext cx="6492240" cy="658368"/>
          </a:xfrm>
          <a:prstGeom prst="roundRect">
            <a:avLst>
              <a:gd name="adj" fmla="val 11111"/>
            </a:avLst>
          </a:prstGeom>
          <a:solidFill>
            <a:srgbClr val="1B2430"/>
          </a:solidFill>
          <a:ln/>
        </p:spPr>
      </p:sp>
      <p:sp>
        <p:nvSpPr>
          <p:cNvPr id="12" name="Text 10"/>
          <p:cNvSpPr txBox="1"/>
          <p:nvPr/>
        </p:nvSpPr>
        <p:spPr>
          <a:xfrm>
            <a:off x="960120" y="3749040"/>
            <a:ext cx="2377440" cy="320040"/>
          </a:xfrm>
          <a:prstGeom prst="rect">
            <a:avLst/>
          </a:prstGeom>
          <a:noFill/>
          <a:ln/>
        </p:spPr>
        <p:txBody>
          <a:bodyPr wrap="square" lIns="0" tIns="0" rIns="0" bIns="0" rtlCol="0" anchor="t"/>
          <a:lstStyle/>
          <a:p>
            <a:pPr algn="l" indent="0" marL="0">
              <a:lnSpc>
                <a:spcPct val="115000"/>
              </a:lnSpc>
              <a:buNone/>
            </a:pPr>
            <a:r>
              <a:rPr lang="en-US" sz="1400" b="1" dirty="0">
                <a:solidFill>
                  <a:srgbClr val="FFFFFF"/>
                </a:solidFill>
                <a:latin typeface="Calibri" pitchFamily="34" charset="0"/>
                <a:ea typeface="Calibri" pitchFamily="34" charset="-122"/>
                <a:cs typeface="Calibri" pitchFamily="34" charset="-120"/>
              </a:rPr>
              <a:t>desconto de 8%</a:t>
            </a:r>
            <a:endParaRPr lang="en-US" sz="1400" dirty="0"/>
          </a:p>
        </p:txBody>
      </p:sp>
      <p:sp>
        <p:nvSpPr>
          <p:cNvPr id="13" name="Text 11"/>
          <p:cNvSpPr txBox="1"/>
          <p:nvPr/>
        </p:nvSpPr>
        <p:spPr>
          <a:xfrm>
            <a:off x="3520440" y="3730752"/>
            <a:ext cx="457200" cy="320040"/>
          </a:xfrm>
          <a:prstGeom prst="rect">
            <a:avLst/>
          </a:prstGeom>
          <a:noFill/>
          <a:ln/>
        </p:spPr>
        <p:txBody>
          <a:bodyPr wrap="square" lIns="0" tIns="0" rIns="0" bIns="0" rtlCol="0" anchor="t"/>
          <a:lstStyle/>
          <a:p>
            <a:pPr algn="l" indent="0" marL="0">
              <a:lnSpc>
                <a:spcPct val="115000"/>
              </a:lnSpc>
              <a:buNone/>
            </a:pPr>
            <a:r>
              <a:rPr lang="en-US" sz="1400" dirty="0">
                <a:solidFill>
                  <a:srgbClr val="9AA6B2"/>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4251960" y="3730752"/>
            <a:ext cx="2468880" cy="320040"/>
          </a:xfrm>
          <a:prstGeom prst="rect">
            <a:avLst/>
          </a:prstGeom>
          <a:noFill/>
          <a:ln/>
        </p:spPr>
        <p:txBody>
          <a:bodyPr wrap="square" lIns="0" tIns="0" rIns="0" bIns="0" rtlCol="0" anchor="t"/>
          <a:lstStyle/>
          <a:p>
            <a:pPr algn="r" indent="0" marL="0">
              <a:lnSpc>
                <a:spcPct val="115000"/>
              </a:lnSpc>
              <a:buNone/>
            </a:pPr>
            <a:r>
              <a:rPr lang="en-US" sz="1500" b="1" dirty="0">
                <a:solidFill>
                  <a:srgbClr val="E8833A"/>
                </a:solidFill>
                <a:latin typeface="Calibri" pitchFamily="34" charset="0"/>
                <a:ea typeface="Calibri" pitchFamily="34" charset="-122"/>
                <a:cs typeface="Calibri" pitchFamily="34" charset="-120"/>
              </a:rPr>
              <a:t>R$ 11.200 / mês</a:t>
            </a:r>
            <a:endParaRPr lang="en-US" sz="1500" dirty="0"/>
          </a:p>
        </p:txBody>
      </p:sp>
      <p:sp>
        <p:nvSpPr>
          <p:cNvPr id="15" name="Shape 13"/>
          <p:cNvSpPr/>
          <p:nvPr/>
        </p:nvSpPr>
        <p:spPr>
          <a:xfrm>
            <a:off x="594360" y="4343400"/>
            <a:ext cx="6492240" cy="658368"/>
          </a:xfrm>
          <a:prstGeom prst="roundRect">
            <a:avLst>
              <a:gd name="adj" fmla="val 11111"/>
            </a:avLst>
          </a:prstGeom>
          <a:solidFill>
            <a:srgbClr val="F4F6F8"/>
          </a:solidFill>
          <a:ln/>
        </p:spPr>
      </p:sp>
      <p:sp>
        <p:nvSpPr>
          <p:cNvPr id="16" name="Text 14"/>
          <p:cNvSpPr txBox="1"/>
          <p:nvPr/>
        </p:nvSpPr>
        <p:spPr>
          <a:xfrm>
            <a:off x="960120" y="4526280"/>
            <a:ext cx="2377440" cy="320040"/>
          </a:xfrm>
          <a:prstGeom prst="rect">
            <a:avLst/>
          </a:prstGeom>
          <a:noFill/>
          <a:ln/>
        </p:spPr>
        <p:txBody>
          <a:bodyPr wrap="square" lIns="0" tIns="0" rIns="0" bIns="0" rtlCol="0" anchor="t"/>
          <a:lstStyle/>
          <a:p>
            <a:pPr algn="l" indent="0" marL="0">
              <a:lnSpc>
                <a:spcPct val="115000"/>
              </a:lnSpc>
              <a:buNone/>
            </a:pPr>
            <a:r>
              <a:rPr lang="en-US" sz="1400" dirty="0">
                <a:solidFill>
                  <a:srgbClr val="1B2430"/>
                </a:solidFill>
                <a:latin typeface="Calibri" pitchFamily="34" charset="0"/>
                <a:ea typeface="Calibri" pitchFamily="34" charset="-122"/>
                <a:cs typeface="Calibri" pitchFamily="34" charset="-120"/>
              </a:rPr>
              <a:t>desconto de 10%</a:t>
            </a:r>
            <a:endParaRPr lang="en-US" sz="1400" dirty="0"/>
          </a:p>
        </p:txBody>
      </p:sp>
      <p:sp>
        <p:nvSpPr>
          <p:cNvPr id="17" name="Text 15"/>
          <p:cNvSpPr txBox="1"/>
          <p:nvPr/>
        </p:nvSpPr>
        <p:spPr>
          <a:xfrm>
            <a:off x="3520440" y="4507992"/>
            <a:ext cx="457200" cy="320040"/>
          </a:xfrm>
          <a:prstGeom prst="rect">
            <a:avLst/>
          </a:prstGeom>
          <a:noFill/>
          <a:ln/>
        </p:spPr>
        <p:txBody>
          <a:bodyPr wrap="square" lIns="0" tIns="0" rIns="0" bIns="0" rtlCol="0" anchor="t"/>
          <a:lstStyle/>
          <a:p>
            <a:pPr algn="l" indent="0" marL="0">
              <a:lnSpc>
                <a:spcPct val="115000"/>
              </a:lnSpc>
              <a:buNone/>
            </a:pPr>
            <a:r>
              <a:rPr lang="en-US" sz="1400" dirty="0">
                <a:solidFill>
                  <a:srgbClr val="6B7785"/>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251960" y="4507992"/>
            <a:ext cx="2468880" cy="320040"/>
          </a:xfrm>
          <a:prstGeom prst="rect">
            <a:avLst/>
          </a:prstGeom>
          <a:noFill/>
          <a:ln/>
        </p:spPr>
        <p:txBody>
          <a:bodyPr wrap="square" lIns="0" tIns="0" rIns="0" bIns="0" rtlCol="0" anchor="t"/>
          <a:lstStyle/>
          <a:p>
            <a:pPr algn="r" indent="0" marL="0">
              <a:lnSpc>
                <a:spcPct val="115000"/>
              </a:lnSpc>
              <a:buNone/>
            </a:pPr>
            <a:r>
              <a:rPr lang="en-US" sz="1500" b="1" dirty="0">
                <a:solidFill>
                  <a:srgbClr val="1B2430"/>
                </a:solidFill>
                <a:latin typeface="Calibri" pitchFamily="34" charset="0"/>
                <a:ea typeface="Calibri" pitchFamily="34" charset="-122"/>
                <a:cs typeface="Calibri" pitchFamily="34" charset="-120"/>
              </a:rPr>
              <a:t>R$ 14.000 / mês</a:t>
            </a:r>
            <a:endParaRPr lang="en-US" sz="1500" dirty="0"/>
          </a:p>
        </p:txBody>
      </p:sp>
      <p:sp>
        <p:nvSpPr>
          <p:cNvPr id="19" name="Shape 17"/>
          <p:cNvSpPr/>
          <p:nvPr/>
        </p:nvSpPr>
        <p:spPr>
          <a:xfrm>
            <a:off x="7635240" y="2011680"/>
            <a:ext cx="3959352" cy="3081528"/>
          </a:xfrm>
          <a:prstGeom prst="roundRect">
            <a:avLst>
              <a:gd name="adj" fmla="val 2374"/>
            </a:avLst>
          </a:prstGeom>
          <a:solidFill>
            <a:srgbClr val="F4F6F8"/>
          </a:solidFill>
          <a:ln/>
        </p:spPr>
      </p:sp>
      <p:sp>
        <p:nvSpPr>
          <p:cNvPr id="20" name="Text 18"/>
          <p:cNvSpPr txBox="1"/>
          <p:nvPr/>
        </p:nvSpPr>
        <p:spPr>
          <a:xfrm>
            <a:off x="7955280" y="2286000"/>
            <a:ext cx="3291840" cy="914400"/>
          </a:xfrm>
          <a:prstGeom prst="rect">
            <a:avLst/>
          </a:prstGeom>
          <a:noFill/>
          <a:ln/>
        </p:spPr>
        <p:txBody>
          <a:bodyPr wrap="square" lIns="0" tIns="0" rIns="0" bIns="0" rtlCol="0" anchor="t"/>
          <a:lstStyle/>
          <a:p>
            <a:pPr algn="l" indent="0" marL="0">
              <a:lnSpc>
                <a:spcPct val="115000"/>
              </a:lnSpc>
              <a:buNone/>
            </a:pPr>
            <a:r>
              <a:rPr lang="en-US" sz="1700" b="1" dirty="0">
                <a:solidFill>
                  <a:srgbClr val="1B2430"/>
                </a:solidFill>
                <a:latin typeface="Calibri" pitchFamily="34" charset="0"/>
                <a:ea typeface="Calibri" pitchFamily="34" charset="-122"/>
                <a:cs typeface="Calibri" pitchFamily="34" charset="-120"/>
              </a:rPr>
              <a:t>Se for 8%, isso sozinho é maior que toda a perda do funil.</a:t>
            </a:r>
            <a:endParaRPr lang="en-US" sz="1700" dirty="0"/>
          </a:p>
        </p:txBody>
      </p:sp>
      <p:sp>
        <p:nvSpPr>
          <p:cNvPr id="21" name="Text 19"/>
          <p:cNvSpPr txBox="1"/>
          <p:nvPr/>
        </p:nvSpPr>
        <p:spPr>
          <a:xfrm>
            <a:off x="7955280" y="3246120"/>
            <a:ext cx="3291840" cy="365760"/>
          </a:xfrm>
          <a:prstGeom prst="rect">
            <a:avLst/>
          </a:prstGeom>
          <a:noFill/>
          <a:ln/>
        </p:spPr>
        <p:txBody>
          <a:bodyPr wrap="square" lIns="0" tIns="0" rIns="0" bIns="0" rtlCol="0" anchor="t"/>
          <a:lstStyle/>
          <a:p>
            <a:pPr algn="l" indent="0" marL="0">
              <a:lnSpc>
                <a:spcPct val="115000"/>
              </a:lnSpc>
              <a:buNone/>
            </a:pPr>
            <a:r>
              <a:rPr lang="en-US" sz="1600" b="1" dirty="0">
                <a:solidFill>
                  <a:srgbClr val="E8833A"/>
                </a:solidFill>
                <a:latin typeface="Calibri" pitchFamily="34" charset="0"/>
                <a:ea typeface="Calibri" pitchFamily="34" charset="-122"/>
                <a:cs typeface="Calibri" pitchFamily="34" charset="-120"/>
              </a:rPr>
              <a:t>R$ 11.200  &gt;  R$ 10.900</a:t>
            </a:r>
            <a:endParaRPr lang="en-US" sz="1600" dirty="0"/>
          </a:p>
        </p:txBody>
      </p:sp>
      <p:sp>
        <p:nvSpPr>
          <p:cNvPr id="22" name="Text 20"/>
          <p:cNvSpPr txBox="1"/>
          <p:nvPr/>
        </p:nvSpPr>
        <p:spPr>
          <a:xfrm>
            <a:off x="7955280" y="3794760"/>
            <a:ext cx="3291840" cy="1097280"/>
          </a:xfrm>
          <a:prstGeom prst="rect">
            <a:avLst/>
          </a:prstGeom>
          <a:noFill/>
          <a:ln/>
        </p:spPr>
        <p:txBody>
          <a:bodyPr wrap="square" lIns="0" tIns="0" rIns="0" bIns="0" rtlCol="0" anchor="t"/>
          <a:lstStyle/>
          <a:p>
            <a:pPr algn="l" indent="0" marL="0">
              <a:lnSpc>
                <a:spcPct val="115000"/>
              </a:lnSpc>
              <a:buNone/>
            </a:pPr>
            <a:r>
              <a:rPr lang="en-US" sz="1200" dirty="0">
                <a:solidFill>
                  <a:srgbClr val="6B7785"/>
                </a:solidFill>
                <a:latin typeface="Calibri" pitchFamily="34" charset="0"/>
                <a:ea typeface="Calibri" pitchFamily="34" charset="-122"/>
                <a:cs typeface="Calibri" pitchFamily="34" charset="-120"/>
              </a:rPr>
              <a:t>Uma coisa que eu não consigo medir pode ser maior que tudo que eu medi. Você é a única pessoa que pode fechar esse número.</a:t>
            </a:r>
            <a:endParaRPr lang="en-US" sz="1200" dirty="0"/>
          </a:p>
        </p:txBody>
      </p:sp>
      <p:sp>
        <p:nvSpPr>
          <p:cNvPr id="23" name="Text 21"/>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aritmética pura sobre dados informados — R$ 20.000 × 30% de margem × 7 vendas/mês · confiança ALTA na conta, NENHUMA na frequência: o desconto médio da LEOSOL não foi informado e eu não estimei</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600" b="1" dirty="0">
                <a:solidFill>
                  <a:srgbClr val="1B2430"/>
                </a:solidFill>
                <a:latin typeface="Cambria" pitchFamily="34" charset="0"/>
                <a:ea typeface="Cambria" pitchFamily="34" charset="-122"/>
                <a:cs typeface="Cambria" pitchFamily="34" charset="-120"/>
              </a:rPr>
              <a:t>Para bater a meta hoje você precisa de 129 leads</a:t>
            </a:r>
            <a:endParaRPr lang="en-US" sz="2600" dirty="0"/>
          </a:p>
          <a:p>
            <a:pPr algn="l" indent="0" marL="0">
              <a:lnSpc>
                <a:spcPct val="95000"/>
              </a:lnSpc>
              <a:buNone/>
            </a:pPr>
            <a:r>
              <a:rPr lang="en-US" sz="2600" b="1" dirty="0">
                <a:solidFill>
                  <a:srgbClr val="1B2430"/>
                </a:solidFill>
                <a:latin typeface="Cambria" pitchFamily="34" charset="0"/>
                <a:ea typeface="Cambria" pitchFamily="34" charset="-122"/>
                <a:cs typeface="Cambria" pitchFamily="34" charset="-120"/>
              </a:rPr>
              <a:t>por mês. Com o funil arrumado, 75.</a:t>
            </a:r>
            <a:endParaRPr lang="en-US" sz="2600" dirty="0"/>
          </a:p>
        </p:txBody>
      </p:sp>
      <p:sp>
        <p:nvSpPr>
          <p:cNvPr id="3" name="Shape 1"/>
          <p:cNvSpPr/>
          <p:nvPr/>
        </p:nvSpPr>
        <p:spPr>
          <a:xfrm>
            <a:off x="1143000" y="2788920"/>
            <a:ext cx="2011680" cy="2743200"/>
          </a:xfrm>
          <a:prstGeom prst="roundRect">
            <a:avLst>
              <a:gd name="adj" fmla="val 3636"/>
            </a:avLst>
          </a:prstGeom>
          <a:solidFill>
            <a:srgbClr val="2E3A4A"/>
          </a:solidFill>
          <a:ln/>
        </p:spPr>
      </p:sp>
      <p:sp>
        <p:nvSpPr>
          <p:cNvPr id="4" name="Text 2"/>
          <p:cNvSpPr txBox="1"/>
          <p:nvPr/>
        </p:nvSpPr>
        <p:spPr>
          <a:xfrm>
            <a:off x="1143000" y="2221992"/>
            <a:ext cx="2011680" cy="502920"/>
          </a:xfrm>
          <a:prstGeom prst="rect">
            <a:avLst/>
          </a:prstGeom>
          <a:noFill/>
          <a:ln/>
        </p:spPr>
        <p:txBody>
          <a:bodyPr wrap="square" lIns="0" tIns="0" rIns="0" bIns="0" rtlCol="0" anchor="t"/>
          <a:lstStyle/>
          <a:p>
            <a:pPr algn="ctr" indent="0" marL="0">
              <a:lnSpc>
                <a:spcPct val="115000"/>
              </a:lnSpc>
              <a:buNone/>
            </a:pPr>
            <a:r>
              <a:rPr lang="en-US" sz="2700" b="1" dirty="0">
                <a:solidFill>
                  <a:srgbClr val="1B2430"/>
                </a:solidFill>
                <a:latin typeface="Calibri" pitchFamily="34" charset="0"/>
                <a:ea typeface="Calibri" pitchFamily="34" charset="-122"/>
                <a:cs typeface="Calibri" pitchFamily="34" charset="-120"/>
              </a:rPr>
              <a:t>129</a:t>
            </a:r>
            <a:endParaRPr lang="en-US" sz="2700" dirty="0"/>
          </a:p>
        </p:txBody>
      </p:sp>
      <p:sp>
        <p:nvSpPr>
          <p:cNvPr id="5" name="Text 3"/>
          <p:cNvSpPr txBox="1"/>
          <p:nvPr/>
        </p:nvSpPr>
        <p:spPr>
          <a:xfrm>
            <a:off x="822960" y="5641848"/>
            <a:ext cx="2651760" cy="274320"/>
          </a:xfrm>
          <a:prstGeom prst="rect">
            <a:avLst/>
          </a:prstGeom>
          <a:noFill/>
          <a:ln/>
        </p:spPr>
        <p:txBody>
          <a:bodyPr wrap="square" lIns="0" tIns="0" rIns="0" bIns="0" rtlCol="0" anchor="t"/>
          <a:lstStyle/>
          <a:p>
            <a:pPr algn="ctr" indent="0" marL="0">
              <a:lnSpc>
                <a:spcPct val="115000"/>
              </a:lnSpc>
              <a:buNone/>
            </a:pPr>
            <a:r>
              <a:rPr lang="en-US" sz="1200" b="1" dirty="0">
                <a:solidFill>
                  <a:srgbClr val="1B2430"/>
                </a:solidFill>
                <a:latin typeface="Calibri" pitchFamily="34" charset="0"/>
                <a:ea typeface="Calibri" pitchFamily="34" charset="-122"/>
                <a:cs typeface="Calibri" pitchFamily="34" charset="-120"/>
              </a:rPr>
              <a:t>hoje</a:t>
            </a:r>
            <a:endParaRPr lang="en-US" sz="1200" dirty="0"/>
          </a:p>
        </p:txBody>
      </p:sp>
      <p:sp>
        <p:nvSpPr>
          <p:cNvPr id="6" name="Text 4"/>
          <p:cNvSpPr txBox="1"/>
          <p:nvPr/>
        </p:nvSpPr>
        <p:spPr>
          <a:xfrm>
            <a:off x="822960" y="5916168"/>
            <a:ext cx="2651760" cy="274320"/>
          </a:xfrm>
          <a:prstGeom prst="rect">
            <a:avLst/>
          </a:prstGeom>
          <a:noFill/>
          <a:ln/>
        </p:spPr>
        <p:txBody>
          <a:bodyPr wrap="square" lIns="0" tIns="0" rIns="0" bIns="0" rtlCol="0" anchor="t"/>
          <a:lstStyle/>
          <a:p>
            <a:pPr algn="ctr" indent="0" marL="0">
              <a:lnSpc>
                <a:spcPct val="115000"/>
              </a:lnSpc>
              <a:buNone/>
            </a:pPr>
            <a:r>
              <a:rPr lang="en-US" sz="1050" dirty="0">
                <a:solidFill>
                  <a:srgbClr val="6B7785"/>
                </a:solidFill>
                <a:latin typeface="Calibri" pitchFamily="34" charset="0"/>
                <a:ea typeface="Calibri" pitchFamily="34" charset="-122"/>
                <a:cs typeface="Calibri" pitchFamily="34" charset="-120"/>
              </a:rPr>
              <a:t>+115%  ·  mais que dobrar</a:t>
            </a:r>
            <a:endParaRPr lang="en-US" sz="1050" dirty="0"/>
          </a:p>
        </p:txBody>
      </p:sp>
      <p:sp>
        <p:nvSpPr>
          <p:cNvPr id="7" name="Shape 5"/>
          <p:cNvSpPr/>
          <p:nvPr/>
        </p:nvSpPr>
        <p:spPr>
          <a:xfrm>
            <a:off x="4343400" y="3937236"/>
            <a:ext cx="2011680" cy="1594884"/>
          </a:xfrm>
          <a:prstGeom prst="roundRect">
            <a:avLst>
              <a:gd name="adj" fmla="val 4587"/>
            </a:avLst>
          </a:prstGeom>
          <a:solidFill>
            <a:srgbClr val="E8833A"/>
          </a:solidFill>
          <a:ln/>
        </p:spPr>
      </p:sp>
      <p:sp>
        <p:nvSpPr>
          <p:cNvPr id="8" name="Text 6"/>
          <p:cNvSpPr txBox="1"/>
          <p:nvPr/>
        </p:nvSpPr>
        <p:spPr>
          <a:xfrm>
            <a:off x="4343400" y="3370308"/>
            <a:ext cx="2011680" cy="502920"/>
          </a:xfrm>
          <a:prstGeom prst="rect">
            <a:avLst/>
          </a:prstGeom>
          <a:noFill/>
          <a:ln/>
        </p:spPr>
        <p:txBody>
          <a:bodyPr wrap="square" lIns="0" tIns="0" rIns="0" bIns="0" rtlCol="0" anchor="t"/>
          <a:lstStyle/>
          <a:p>
            <a:pPr algn="ctr" indent="0" marL="0">
              <a:lnSpc>
                <a:spcPct val="115000"/>
              </a:lnSpc>
              <a:buNone/>
            </a:pPr>
            <a:r>
              <a:rPr lang="en-US" sz="2700" b="1" dirty="0">
                <a:solidFill>
                  <a:srgbClr val="1B2430"/>
                </a:solidFill>
                <a:latin typeface="Calibri" pitchFamily="34" charset="0"/>
                <a:ea typeface="Calibri" pitchFamily="34" charset="-122"/>
                <a:cs typeface="Calibri" pitchFamily="34" charset="-120"/>
              </a:rPr>
              <a:t>75</a:t>
            </a:r>
            <a:endParaRPr lang="en-US" sz="2700" dirty="0"/>
          </a:p>
        </p:txBody>
      </p:sp>
      <p:sp>
        <p:nvSpPr>
          <p:cNvPr id="9" name="Text 7"/>
          <p:cNvSpPr txBox="1"/>
          <p:nvPr/>
        </p:nvSpPr>
        <p:spPr>
          <a:xfrm>
            <a:off x="4023360" y="5641848"/>
            <a:ext cx="2651760" cy="274320"/>
          </a:xfrm>
          <a:prstGeom prst="rect">
            <a:avLst/>
          </a:prstGeom>
          <a:noFill/>
          <a:ln/>
        </p:spPr>
        <p:txBody>
          <a:bodyPr wrap="square" lIns="0" tIns="0" rIns="0" bIns="0" rtlCol="0" anchor="t"/>
          <a:lstStyle/>
          <a:p>
            <a:pPr algn="ctr" indent="0" marL="0">
              <a:lnSpc>
                <a:spcPct val="115000"/>
              </a:lnSpc>
              <a:buNone/>
            </a:pPr>
            <a:r>
              <a:rPr lang="en-US" sz="1200" b="1" dirty="0">
                <a:solidFill>
                  <a:srgbClr val="1B2430"/>
                </a:solidFill>
                <a:latin typeface="Calibri" pitchFamily="34" charset="0"/>
                <a:ea typeface="Calibri" pitchFamily="34" charset="-122"/>
                <a:cs typeface="Calibri" pitchFamily="34" charset="-120"/>
              </a:rPr>
              <a:t>com o funil arrumado</a:t>
            </a:r>
            <a:endParaRPr lang="en-US" sz="1200" dirty="0"/>
          </a:p>
        </p:txBody>
      </p:sp>
      <p:sp>
        <p:nvSpPr>
          <p:cNvPr id="10" name="Text 8"/>
          <p:cNvSpPr txBox="1"/>
          <p:nvPr/>
        </p:nvSpPr>
        <p:spPr>
          <a:xfrm>
            <a:off x="4023360" y="5916168"/>
            <a:ext cx="2651760" cy="274320"/>
          </a:xfrm>
          <a:prstGeom prst="rect">
            <a:avLst/>
          </a:prstGeom>
          <a:noFill/>
          <a:ln/>
        </p:spPr>
        <p:txBody>
          <a:bodyPr wrap="square" lIns="0" tIns="0" rIns="0" bIns="0" rtlCol="0" anchor="t"/>
          <a:lstStyle/>
          <a:p>
            <a:pPr algn="ctr" indent="0" marL="0">
              <a:lnSpc>
                <a:spcPct val="115000"/>
              </a:lnSpc>
              <a:buNone/>
            </a:pPr>
            <a:r>
              <a:rPr lang="en-US" sz="1050" dirty="0">
                <a:solidFill>
                  <a:srgbClr val="6B7785"/>
                </a:solidFill>
                <a:latin typeface="Calibri" pitchFamily="34" charset="0"/>
                <a:ea typeface="Calibri" pitchFamily="34" charset="-122"/>
                <a:cs typeface="Calibri" pitchFamily="34" charset="-120"/>
              </a:rPr>
              <a:t>+15 leads  ·  +25%</a:t>
            </a:r>
            <a:endParaRPr lang="en-US" sz="1050" dirty="0"/>
          </a:p>
        </p:txBody>
      </p:sp>
      <p:sp>
        <p:nvSpPr>
          <p:cNvPr id="11" name="Shape 9"/>
          <p:cNvSpPr/>
          <p:nvPr/>
        </p:nvSpPr>
        <p:spPr>
          <a:xfrm>
            <a:off x="777240" y="4256213"/>
            <a:ext cx="6400800" cy="0"/>
          </a:xfrm>
          <a:prstGeom prst="line">
            <a:avLst/>
          </a:prstGeom>
          <a:noFill/>
          <a:ln w="19050">
            <a:solidFill>
              <a:srgbClr val="2E7D6B"/>
            </a:solidFill>
            <a:prstDash val="dash"/>
          </a:ln>
        </p:spPr>
      </p:sp>
      <p:sp>
        <p:nvSpPr>
          <p:cNvPr id="12" name="Text 10"/>
          <p:cNvSpPr txBox="1"/>
          <p:nvPr/>
        </p:nvSpPr>
        <p:spPr>
          <a:xfrm>
            <a:off x="777240" y="3945317"/>
            <a:ext cx="3108960" cy="274320"/>
          </a:xfrm>
          <a:prstGeom prst="rect">
            <a:avLst/>
          </a:prstGeom>
          <a:noFill/>
          <a:ln/>
        </p:spPr>
        <p:txBody>
          <a:bodyPr wrap="square" lIns="0" tIns="0" rIns="0" bIns="0" rtlCol="0" anchor="t"/>
          <a:lstStyle/>
          <a:p>
            <a:pPr algn="l" indent="0" marL="0">
              <a:lnSpc>
                <a:spcPct val="115000"/>
              </a:lnSpc>
              <a:buNone/>
            </a:pPr>
            <a:r>
              <a:rPr lang="en-US" sz="1050" b="1" dirty="0">
                <a:solidFill>
                  <a:srgbClr val="2E7D6B"/>
                </a:solidFill>
                <a:latin typeface="Calibri" pitchFamily="34" charset="0"/>
                <a:ea typeface="Calibri" pitchFamily="34" charset="-122"/>
                <a:cs typeface="Calibri" pitchFamily="34" charset="-120"/>
              </a:rPr>
              <a:t>60 leads — o que você já tem</a:t>
            </a:r>
            <a:endParaRPr lang="en-US" sz="1050" dirty="0"/>
          </a:p>
        </p:txBody>
      </p:sp>
      <p:sp>
        <p:nvSpPr>
          <p:cNvPr id="13" name="Shape 11"/>
          <p:cNvSpPr/>
          <p:nvPr/>
        </p:nvSpPr>
        <p:spPr>
          <a:xfrm>
            <a:off x="7635240" y="1874520"/>
            <a:ext cx="3959352" cy="3657600"/>
          </a:xfrm>
          <a:prstGeom prst="roundRect">
            <a:avLst>
              <a:gd name="adj" fmla="val 2000"/>
            </a:avLst>
          </a:prstGeom>
          <a:solidFill>
            <a:srgbClr val="F4F6F8"/>
          </a:solidFill>
          <a:ln/>
        </p:spPr>
      </p:sp>
      <p:sp>
        <p:nvSpPr>
          <p:cNvPr id="14" name="Text 12"/>
          <p:cNvSpPr txBox="1"/>
          <p:nvPr/>
        </p:nvSpPr>
        <p:spPr>
          <a:xfrm>
            <a:off x="7955280" y="2121408"/>
            <a:ext cx="3291840" cy="320040"/>
          </a:xfrm>
          <a:prstGeom prst="rect">
            <a:avLst/>
          </a:prstGeom>
          <a:noFill/>
          <a:ln/>
        </p:spPr>
        <p:txBody>
          <a:bodyPr wrap="square" lIns="0" tIns="0" rIns="0" bIns="0" rtlCol="0" anchor="t"/>
          <a:lstStyle/>
          <a:p>
            <a:pPr algn="l" indent="0" marL="0">
              <a:lnSpc>
                <a:spcPct val="115000"/>
              </a:lnSpc>
              <a:buNone/>
            </a:pPr>
            <a:r>
              <a:rPr lang="en-US" sz="1100" b="1" dirty="0">
                <a:solidFill>
                  <a:srgbClr val="6B7785"/>
                </a:solidFill>
                <a:latin typeface="Calibri" pitchFamily="34" charset="0"/>
                <a:ea typeface="Calibri" pitchFamily="34" charset="-122"/>
                <a:cs typeface="Calibri" pitchFamily="34" charset="-120"/>
              </a:rPr>
              <a:t>A diferença</a:t>
            </a:r>
            <a:endParaRPr lang="en-US" sz="1100" dirty="0"/>
          </a:p>
        </p:txBody>
      </p:sp>
      <p:sp>
        <p:nvSpPr>
          <p:cNvPr id="15" name="Text 13"/>
          <p:cNvSpPr txBox="1"/>
          <p:nvPr/>
        </p:nvSpPr>
        <p:spPr>
          <a:xfrm>
            <a:off x="7955280" y="2487168"/>
            <a:ext cx="3291840" cy="1097280"/>
          </a:xfrm>
          <a:prstGeom prst="rect">
            <a:avLst/>
          </a:prstGeom>
          <a:noFill/>
          <a:ln/>
        </p:spPr>
        <p:txBody>
          <a:bodyPr wrap="square" lIns="0" tIns="0" rIns="0" bIns="0" rtlCol="0" anchor="t"/>
          <a:lstStyle/>
          <a:p>
            <a:pPr algn="l" indent="0" marL="0">
              <a:lnSpc>
                <a:spcPct val="115000"/>
              </a:lnSpc>
              <a:buNone/>
            </a:pPr>
            <a:r>
              <a:rPr lang="en-US" sz="1500" b="1" dirty="0">
                <a:solidFill>
                  <a:srgbClr val="1B2430"/>
                </a:solidFill>
                <a:latin typeface="Calibri" pitchFamily="34" charset="0"/>
                <a:ea typeface="Calibri" pitchFamily="34" charset="-122"/>
                <a:cs typeface="Calibri" pitchFamily="34" charset="-120"/>
              </a:rPr>
              <a:t>Entre "preciso de uma máquina de leads que eu não tenho" e "preciso de um quarto a mais de leads".</a:t>
            </a:r>
            <a:endParaRPr lang="en-US" sz="1500" dirty="0"/>
          </a:p>
        </p:txBody>
      </p:sp>
      <p:sp>
        <p:nvSpPr>
          <p:cNvPr id="16" name="Text 14"/>
          <p:cNvSpPr txBox="1"/>
          <p:nvPr/>
        </p:nvSpPr>
        <p:spPr>
          <a:xfrm>
            <a:off x="7955280" y="3703320"/>
            <a:ext cx="3291840" cy="1188720"/>
          </a:xfrm>
          <a:prstGeom prst="rect">
            <a:avLst/>
          </a:prstGeom>
          <a:noFill/>
          <a:ln/>
        </p:spPr>
        <p:txBody>
          <a:bodyPr wrap="square" lIns="0" tIns="0" rIns="0" bIns="0" rtlCol="0" anchor="t"/>
          <a:lstStyle/>
          <a:p>
            <a:pPr algn="l" indent="0" marL="0">
              <a:lnSpc>
                <a:spcPct val="115000"/>
              </a:lnSpc>
              <a:buNone/>
            </a:pPr>
            <a:r>
              <a:rPr lang="en-US" sz="1200" dirty="0">
                <a:solidFill>
                  <a:srgbClr val="6B7785"/>
                </a:solidFill>
                <a:latin typeface="Calibri" pitchFamily="34" charset="0"/>
                <a:ea typeface="Calibri" pitchFamily="34" charset="-122"/>
                <a:cs typeface="Calibri" pitchFamily="34" charset="-120"/>
              </a:rPr>
              <a:t>Indicação não se compra para bater setembro. Dobrar a entrada num negócio que vive de indicação é inviável — e você já sabia disso.</a:t>
            </a:r>
            <a:endParaRPr lang="en-US" sz="1200" dirty="0"/>
          </a:p>
        </p:txBody>
      </p:sp>
      <p:sp>
        <p:nvSpPr>
          <p:cNvPr id="17" name="Text 15"/>
          <p:cNvSpPr txBox="1"/>
          <p:nvPr/>
        </p:nvSpPr>
        <p:spPr>
          <a:xfrm>
            <a:off x="7955280" y="4892040"/>
            <a:ext cx="3291840" cy="548640"/>
          </a:xfrm>
          <a:prstGeom prst="rect">
            <a:avLst/>
          </a:prstGeom>
          <a:noFill/>
          <a:ln/>
        </p:spPr>
        <p:txBody>
          <a:bodyPr wrap="square" lIns="0" tIns="0" rIns="0" bIns="0" rtlCol="0" anchor="t"/>
          <a:lstStyle/>
          <a:p>
            <a:pPr algn="l" indent="0" marL="0">
              <a:lnSpc>
                <a:spcPct val="115000"/>
              </a:lnSpc>
              <a:buNone/>
            </a:pPr>
            <a:r>
              <a:rPr lang="en-US" sz="1150" b="1" dirty="0">
                <a:solidFill>
                  <a:srgbClr val="E8833A"/>
                </a:solidFill>
                <a:latin typeface="Calibri" pitchFamily="34" charset="0"/>
                <a:ea typeface="Calibri" pitchFamily="34" charset="-122"/>
                <a:cs typeface="Calibri" pitchFamily="34" charset="-120"/>
              </a:rPr>
              <a:t>Arrumar o processo primeiro é o que deixa o marketing barato depois.</a:t>
            </a:r>
            <a:endParaRPr lang="en-US" sz="1150" dirty="0"/>
          </a:p>
        </p:txBody>
      </p:sp>
      <p:sp>
        <p:nvSpPr>
          <p:cNvPr id="18" name="Text 16"/>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15 contratos/mês = R$ 300.000 · taxas corrigidas: lead→proposta de 33,3% para 50%, proposta→contrato de 35% para 40% · PROJEÇÃO de confiança baixa-média, não promessa contratual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1234440"/>
          </a:xfrm>
          <a:prstGeom prst="rect">
            <a:avLst/>
          </a:prstGeom>
          <a:noFill/>
          <a:ln/>
        </p:spPr>
        <p:txBody>
          <a:bodyPr wrap="square" lIns="0" tIns="0" rIns="0" bIns="0" rtlCol="0" anchor="t"/>
          <a:lstStyle/>
          <a:p>
            <a:pPr algn="l" indent="0" marL="0">
              <a:lnSpc>
                <a:spcPct val="95000"/>
              </a:lnSpc>
              <a:buNone/>
            </a:pPr>
            <a:r>
              <a:rPr lang="en-US" sz="3200" b="1" dirty="0">
                <a:solidFill>
                  <a:srgbClr val="FFFFFF"/>
                </a:solidFill>
                <a:latin typeface="Cambria" pitchFamily="34" charset="0"/>
                <a:ea typeface="Cambria" pitchFamily="34" charset="-122"/>
                <a:cs typeface="Cambria" pitchFamily="34" charset="-120"/>
              </a:rPr>
              <a:t>Arrumar o funil te leva a ~R$ 237 mil.</a:t>
            </a:r>
            <a:endParaRPr lang="en-US" sz="3200" dirty="0"/>
          </a:p>
          <a:p>
            <a:pPr algn="l" indent="0" marL="0">
              <a:lnSpc>
                <a:spcPct val="95000"/>
              </a:lnSpc>
              <a:buNone/>
            </a:pPr>
            <a:r>
              <a:rPr lang="en-US" sz="3200" b="1" dirty="0">
                <a:solidFill>
                  <a:srgbClr val="FFFFFF"/>
                </a:solidFill>
                <a:latin typeface="Cambria" pitchFamily="34" charset="0"/>
                <a:ea typeface="Cambria" pitchFamily="34" charset="-122"/>
                <a:cs typeface="Cambria" pitchFamily="34" charset="-120"/>
              </a:rPr>
              <a:t>Não a R$ 300 mil.</a:t>
            </a:r>
            <a:endParaRPr lang="en-US" sz="3200" dirty="0"/>
          </a:p>
        </p:txBody>
      </p:sp>
      <p:sp>
        <p:nvSpPr>
          <p:cNvPr id="3" name="Shape 1"/>
          <p:cNvSpPr/>
          <p:nvPr/>
        </p:nvSpPr>
        <p:spPr>
          <a:xfrm>
            <a:off x="594360" y="2971800"/>
            <a:ext cx="11002975" cy="0"/>
          </a:xfrm>
          <a:prstGeom prst="line">
            <a:avLst/>
          </a:prstGeom>
          <a:noFill/>
          <a:ln w="38100">
            <a:solidFill>
              <a:srgbClr val="2E3A4A"/>
            </a:solidFill>
            <a:prstDash val="solid"/>
          </a:ln>
        </p:spPr>
      </p:sp>
      <p:sp>
        <p:nvSpPr>
          <p:cNvPr id="4" name="Shape 2"/>
          <p:cNvSpPr/>
          <p:nvPr/>
        </p:nvSpPr>
        <p:spPr>
          <a:xfrm>
            <a:off x="525780" y="2903220"/>
            <a:ext cx="137160" cy="137160"/>
          </a:xfrm>
          <a:prstGeom prst="ellipse">
            <a:avLst/>
          </a:prstGeom>
          <a:solidFill>
            <a:srgbClr val="2E3A4A"/>
          </a:solidFill>
          <a:ln w="19050">
            <a:solidFill>
              <a:srgbClr val="9AA6B2"/>
            </a:solidFill>
            <a:prstDash val="solid"/>
          </a:ln>
        </p:spPr>
      </p:sp>
      <p:sp>
        <p:nvSpPr>
          <p:cNvPr id="5" name="Text 3"/>
          <p:cNvSpPr txBox="1"/>
          <p:nvPr/>
        </p:nvSpPr>
        <p:spPr>
          <a:xfrm>
            <a:off x="594360" y="2194560"/>
            <a:ext cx="1828800" cy="365760"/>
          </a:xfrm>
          <a:prstGeom prst="rect">
            <a:avLst/>
          </a:prstGeom>
          <a:noFill/>
          <a:ln/>
        </p:spPr>
        <p:txBody>
          <a:bodyPr wrap="square" lIns="0" tIns="0" rIns="0" bIns="0" rtlCol="0" anchor="t"/>
          <a:lstStyle/>
          <a:p>
            <a:pPr algn="l" indent="0" marL="0">
              <a:lnSpc>
                <a:spcPct val="115000"/>
              </a:lnSpc>
              <a:buNone/>
            </a:pPr>
            <a:r>
              <a:rPr lang="en-US" sz="1500" b="1" dirty="0">
                <a:solidFill>
                  <a:srgbClr val="9AA6B2"/>
                </a:solidFill>
                <a:latin typeface="Calibri" pitchFamily="34" charset="0"/>
                <a:ea typeface="Calibri" pitchFamily="34" charset="-122"/>
                <a:cs typeface="Calibri" pitchFamily="34" charset="-120"/>
              </a:rPr>
              <a:t>R$ 140 mil</a:t>
            </a:r>
            <a:endParaRPr lang="en-US" sz="1500" dirty="0"/>
          </a:p>
        </p:txBody>
      </p:sp>
      <p:sp>
        <p:nvSpPr>
          <p:cNvPr id="6" name="Text 4"/>
          <p:cNvSpPr txBox="1"/>
          <p:nvPr/>
        </p:nvSpPr>
        <p:spPr>
          <a:xfrm>
            <a:off x="594360" y="3172968"/>
            <a:ext cx="1828800" cy="274320"/>
          </a:xfrm>
          <a:prstGeom prst="rect">
            <a:avLst/>
          </a:prstGeom>
          <a:noFill/>
          <a:ln/>
        </p:spPr>
        <p:txBody>
          <a:bodyPr wrap="square" lIns="0" tIns="0" rIns="0" bIns="0" rtlCol="0" anchor="t"/>
          <a:lstStyle/>
          <a:p>
            <a:pPr algn="l" indent="0" marL="0">
              <a:lnSpc>
                <a:spcPct val="115000"/>
              </a:lnSpc>
              <a:buNone/>
            </a:pPr>
            <a:r>
              <a:rPr lang="en-US" sz="1050" dirty="0">
                <a:solidFill>
                  <a:srgbClr val="9AA6B2"/>
                </a:solidFill>
                <a:latin typeface="Calibri" pitchFamily="34" charset="0"/>
                <a:ea typeface="Calibri" pitchFamily="34" charset="-122"/>
                <a:cs typeface="Calibri" pitchFamily="34" charset="-120"/>
              </a:rPr>
              <a:t>hoje</a:t>
            </a:r>
            <a:endParaRPr lang="en-US" sz="1050" dirty="0"/>
          </a:p>
        </p:txBody>
      </p:sp>
      <p:sp>
        <p:nvSpPr>
          <p:cNvPr id="7" name="Shape 5"/>
          <p:cNvSpPr/>
          <p:nvPr/>
        </p:nvSpPr>
        <p:spPr>
          <a:xfrm>
            <a:off x="3606613" y="2903220"/>
            <a:ext cx="137160" cy="137160"/>
          </a:xfrm>
          <a:prstGeom prst="ellipse">
            <a:avLst/>
          </a:prstGeom>
          <a:solidFill>
            <a:srgbClr val="2E3A4A"/>
          </a:solidFill>
          <a:ln w="19050">
            <a:solidFill>
              <a:srgbClr val="9AA6B2"/>
            </a:solidFill>
            <a:prstDash val="solid"/>
          </a:ln>
        </p:spPr>
      </p:sp>
      <p:sp>
        <p:nvSpPr>
          <p:cNvPr id="8" name="Text 6"/>
          <p:cNvSpPr txBox="1"/>
          <p:nvPr/>
        </p:nvSpPr>
        <p:spPr>
          <a:xfrm>
            <a:off x="2760793" y="2194560"/>
            <a:ext cx="1828800" cy="365760"/>
          </a:xfrm>
          <a:prstGeom prst="rect">
            <a:avLst/>
          </a:prstGeom>
          <a:noFill/>
          <a:ln/>
        </p:spPr>
        <p:txBody>
          <a:bodyPr wrap="square" lIns="0" tIns="0" rIns="0" bIns="0" rtlCol="0" anchor="t"/>
          <a:lstStyle/>
          <a:p>
            <a:pPr algn="ctr" indent="0" marL="0">
              <a:lnSpc>
                <a:spcPct val="115000"/>
              </a:lnSpc>
              <a:buNone/>
            </a:pPr>
            <a:r>
              <a:rPr lang="en-US" sz="1500" b="1" dirty="0">
                <a:solidFill>
                  <a:srgbClr val="9AA6B2"/>
                </a:solidFill>
                <a:latin typeface="Calibri" pitchFamily="34" charset="0"/>
                <a:ea typeface="Calibri" pitchFamily="34" charset="-122"/>
                <a:cs typeface="Calibri" pitchFamily="34" charset="-120"/>
              </a:rPr>
              <a:t>R$ 176 mil</a:t>
            </a:r>
            <a:endParaRPr lang="en-US" sz="1500" dirty="0"/>
          </a:p>
        </p:txBody>
      </p:sp>
      <p:sp>
        <p:nvSpPr>
          <p:cNvPr id="9" name="Text 7"/>
          <p:cNvSpPr txBox="1"/>
          <p:nvPr/>
        </p:nvSpPr>
        <p:spPr>
          <a:xfrm>
            <a:off x="2760793" y="3172968"/>
            <a:ext cx="1828800" cy="274320"/>
          </a:xfrm>
          <a:prstGeom prst="rect">
            <a:avLst/>
          </a:prstGeom>
          <a:noFill/>
          <a:ln/>
        </p:spPr>
        <p:txBody>
          <a:bodyPr wrap="square" lIns="0" tIns="0" rIns="0" bIns="0" rtlCol="0" anchor="t"/>
          <a:lstStyle/>
          <a:p>
            <a:pPr algn="ctr" indent="0" marL="0">
              <a:lnSpc>
                <a:spcPct val="115000"/>
              </a:lnSpc>
              <a:buNone/>
            </a:pPr>
            <a:r>
              <a:rPr lang="en-US" sz="1050" dirty="0">
                <a:solidFill>
                  <a:srgbClr val="9AA6B2"/>
                </a:solidFill>
                <a:latin typeface="Calibri" pitchFamily="34" charset="0"/>
                <a:ea typeface="Calibri" pitchFamily="34" charset="-122"/>
                <a:cs typeface="Calibri" pitchFamily="34" charset="-120"/>
              </a:rPr>
              <a:t>conservador</a:t>
            </a:r>
            <a:endParaRPr lang="en-US" sz="1050" dirty="0"/>
          </a:p>
        </p:txBody>
      </p:sp>
      <p:sp>
        <p:nvSpPr>
          <p:cNvPr id="10" name="Shape 8"/>
          <p:cNvSpPr/>
          <p:nvPr/>
        </p:nvSpPr>
        <p:spPr>
          <a:xfrm>
            <a:off x="7787744" y="2903220"/>
            <a:ext cx="137160" cy="137160"/>
          </a:xfrm>
          <a:prstGeom prst="ellipse">
            <a:avLst/>
          </a:prstGeom>
          <a:solidFill>
            <a:srgbClr val="E8833A"/>
          </a:solidFill>
          <a:ln w="19050">
            <a:solidFill>
              <a:srgbClr val="E8833A"/>
            </a:solidFill>
            <a:prstDash val="solid"/>
          </a:ln>
        </p:spPr>
      </p:sp>
      <p:sp>
        <p:nvSpPr>
          <p:cNvPr id="11" name="Text 9"/>
          <p:cNvSpPr txBox="1"/>
          <p:nvPr/>
        </p:nvSpPr>
        <p:spPr>
          <a:xfrm>
            <a:off x="6941924" y="2194560"/>
            <a:ext cx="1828800" cy="365760"/>
          </a:xfrm>
          <a:prstGeom prst="rect">
            <a:avLst/>
          </a:prstGeom>
          <a:noFill/>
          <a:ln/>
        </p:spPr>
        <p:txBody>
          <a:bodyPr wrap="square" lIns="0" tIns="0" rIns="0" bIns="0" rtlCol="0" anchor="t"/>
          <a:lstStyle/>
          <a:p>
            <a:pPr algn="ctr" indent="0" marL="0">
              <a:lnSpc>
                <a:spcPct val="115000"/>
              </a:lnSpc>
              <a:buNone/>
            </a:pPr>
            <a:r>
              <a:rPr lang="en-US" sz="1500" b="1" dirty="0">
                <a:solidFill>
                  <a:srgbClr val="E8833A"/>
                </a:solidFill>
                <a:latin typeface="Calibri" pitchFamily="34" charset="0"/>
                <a:ea typeface="Calibri" pitchFamily="34" charset="-122"/>
                <a:cs typeface="Calibri" pitchFamily="34" charset="-120"/>
              </a:rPr>
              <a:t>R$ 237 mil</a:t>
            </a:r>
            <a:endParaRPr lang="en-US" sz="1500" dirty="0"/>
          </a:p>
        </p:txBody>
      </p:sp>
      <p:sp>
        <p:nvSpPr>
          <p:cNvPr id="12" name="Text 10"/>
          <p:cNvSpPr txBox="1"/>
          <p:nvPr/>
        </p:nvSpPr>
        <p:spPr>
          <a:xfrm>
            <a:off x="6941924" y="3172968"/>
            <a:ext cx="1828800" cy="274320"/>
          </a:xfrm>
          <a:prstGeom prst="rect">
            <a:avLst/>
          </a:prstGeom>
          <a:noFill/>
          <a:ln/>
        </p:spPr>
        <p:txBody>
          <a:bodyPr wrap="square" lIns="0" tIns="0" rIns="0" bIns="0" rtlCol="0" anchor="t"/>
          <a:lstStyle/>
          <a:p>
            <a:pPr algn="ctr" indent="0" marL="0">
              <a:lnSpc>
                <a:spcPct val="115000"/>
              </a:lnSpc>
              <a:buNone/>
            </a:pPr>
            <a:r>
              <a:rPr lang="en-US" sz="1050" dirty="0">
                <a:solidFill>
                  <a:srgbClr val="9AA6B2"/>
                </a:solidFill>
                <a:latin typeface="Calibri" pitchFamily="34" charset="0"/>
                <a:ea typeface="Calibri" pitchFamily="34" charset="-122"/>
                <a:cs typeface="Calibri" pitchFamily="34" charset="-120"/>
              </a:rPr>
              <a:t>otimista</a:t>
            </a:r>
            <a:endParaRPr lang="en-US" sz="1050" dirty="0"/>
          </a:p>
        </p:txBody>
      </p:sp>
      <p:sp>
        <p:nvSpPr>
          <p:cNvPr id="13" name="Shape 11"/>
          <p:cNvSpPr/>
          <p:nvPr/>
        </p:nvSpPr>
        <p:spPr>
          <a:xfrm>
            <a:off x="11528755" y="2903220"/>
            <a:ext cx="137160" cy="137160"/>
          </a:xfrm>
          <a:prstGeom prst="ellipse">
            <a:avLst/>
          </a:prstGeom>
          <a:solidFill>
            <a:srgbClr val="FFFFFF"/>
          </a:solidFill>
          <a:ln w="19050">
            <a:solidFill>
              <a:srgbClr val="FFFFFF"/>
            </a:solidFill>
            <a:prstDash val="solid"/>
          </a:ln>
        </p:spPr>
      </p:sp>
      <p:sp>
        <p:nvSpPr>
          <p:cNvPr id="14" name="Text 12"/>
          <p:cNvSpPr txBox="1"/>
          <p:nvPr/>
        </p:nvSpPr>
        <p:spPr>
          <a:xfrm>
            <a:off x="9768535" y="2194560"/>
            <a:ext cx="1828800" cy="365760"/>
          </a:xfrm>
          <a:prstGeom prst="rect">
            <a:avLst/>
          </a:prstGeom>
          <a:noFill/>
          <a:ln/>
        </p:spPr>
        <p:txBody>
          <a:bodyPr wrap="square" lIns="0" tIns="0" rIns="0" bIns="0" rtlCol="0" anchor="t"/>
          <a:lstStyle/>
          <a:p>
            <a:pPr algn="r" indent="0" marL="0">
              <a:lnSpc>
                <a:spcPct val="115000"/>
              </a:lnSpc>
              <a:buNone/>
            </a:pPr>
            <a:r>
              <a:rPr lang="en-US" sz="1500" b="1" dirty="0">
                <a:solidFill>
                  <a:srgbClr val="FFFFFF"/>
                </a:solidFill>
                <a:latin typeface="Calibri" pitchFamily="34" charset="0"/>
                <a:ea typeface="Calibri" pitchFamily="34" charset="-122"/>
                <a:cs typeface="Calibri" pitchFamily="34" charset="-120"/>
              </a:rPr>
              <a:t>R$ 300 mil</a:t>
            </a:r>
            <a:endParaRPr lang="en-US" sz="1500" dirty="0"/>
          </a:p>
        </p:txBody>
      </p:sp>
      <p:sp>
        <p:nvSpPr>
          <p:cNvPr id="15" name="Text 13"/>
          <p:cNvSpPr txBox="1"/>
          <p:nvPr/>
        </p:nvSpPr>
        <p:spPr>
          <a:xfrm>
            <a:off x="9768535" y="3172968"/>
            <a:ext cx="1828800" cy="274320"/>
          </a:xfrm>
          <a:prstGeom prst="rect">
            <a:avLst/>
          </a:prstGeom>
          <a:noFill/>
          <a:ln/>
        </p:spPr>
        <p:txBody>
          <a:bodyPr wrap="square" lIns="0" tIns="0" rIns="0" bIns="0" rtlCol="0" anchor="t"/>
          <a:lstStyle/>
          <a:p>
            <a:pPr algn="r" indent="0" marL="0">
              <a:lnSpc>
                <a:spcPct val="115000"/>
              </a:lnSpc>
              <a:buNone/>
            </a:pPr>
            <a:r>
              <a:rPr lang="en-US" sz="1050" dirty="0">
                <a:solidFill>
                  <a:srgbClr val="9AA6B2"/>
                </a:solidFill>
                <a:latin typeface="Calibri" pitchFamily="34" charset="0"/>
                <a:ea typeface="Calibri" pitchFamily="34" charset="-122"/>
                <a:cs typeface="Calibri" pitchFamily="34" charset="-120"/>
              </a:rPr>
              <a:t>meta</a:t>
            </a:r>
            <a:endParaRPr lang="en-US" sz="1050" dirty="0"/>
          </a:p>
        </p:txBody>
      </p:sp>
      <p:sp>
        <p:nvSpPr>
          <p:cNvPr id="16" name="Shape 14"/>
          <p:cNvSpPr/>
          <p:nvPr/>
        </p:nvSpPr>
        <p:spPr>
          <a:xfrm>
            <a:off x="7856324" y="3657600"/>
            <a:ext cx="3741012" cy="54864"/>
          </a:xfrm>
          <a:prstGeom prst="rect">
            <a:avLst/>
          </a:prstGeom>
          <a:solidFill>
            <a:srgbClr val="E8833A"/>
          </a:solidFill>
          <a:ln/>
        </p:spPr>
      </p:sp>
      <p:sp>
        <p:nvSpPr>
          <p:cNvPr id="17" name="Text 15"/>
          <p:cNvSpPr txBox="1"/>
          <p:nvPr/>
        </p:nvSpPr>
        <p:spPr>
          <a:xfrm>
            <a:off x="7490564" y="3886200"/>
            <a:ext cx="4106772" cy="731520"/>
          </a:xfrm>
          <a:prstGeom prst="rect">
            <a:avLst/>
          </a:prstGeom>
          <a:noFill/>
          <a:ln/>
        </p:spPr>
        <p:txBody>
          <a:bodyPr wrap="square" lIns="0" tIns="0" rIns="0" bIns="0" rtlCol="0" anchor="t"/>
          <a:lstStyle/>
          <a:p>
            <a:pPr algn="ctr" indent="0" marL="0">
              <a:lnSpc>
                <a:spcPct val="115000"/>
              </a:lnSpc>
              <a:buNone/>
            </a:pPr>
            <a:r>
              <a:rPr lang="en-US" sz="1250" b="1" dirty="0">
                <a:solidFill>
                  <a:srgbClr val="E8833A"/>
                </a:solidFill>
                <a:latin typeface="Calibri" pitchFamily="34" charset="0"/>
                <a:ea typeface="Calibri" pitchFamily="34" charset="-122"/>
                <a:cs typeface="Calibri" pitchFamily="34" charset="-120"/>
              </a:rPr>
              <a:t>esse pedaço exige mais um par de mãos vendendo e +25% de leads.</a:t>
            </a:r>
            <a:endParaRPr lang="en-US" sz="1250" dirty="0"/>
          </a:p>
          <a:p>
            <a:pPr algn="ctr" indent="0" marL="0">
              <a:lnSpc>
                <a:spcPct val="115000"/>
              </a:lnSpc>
              <a:buNone/>
            </a:pPr>
            <a:r>
              <a:rPr lang="en-US" sz="1250" b="1" dirty="0">
                <a:solidFill>
                  <a:srgbClr val="E8833A"/>
                </a:solidFill>
                <a:latin typeface="Calibri" pitchFamily="34" charset="0"/>
                <a:ea typeface="Calibri" pitchFamily="34" charset="-122"/>
                <a:cs typeface="Calibri" pitchFamily="34" charset="-120"/>
              </a:rPr>
              <a:t>Software nenhum resolve.</a:t>
            </a:r>
            <a:endParaRPr lang="en-US" sz="1250" dirty="0"/>
          </a:p>
        </p:txBody>
      </p:sp>
      <p:sp>
        <p:nvSpPr>
          <p:cNvPr id="18" name="Shape 16"/>
          <p:cNvSpPr/>
          <p:nvPr/>
        </p:nvSpPr>
        <p:spPr>
          <a:xfrm>
            <a:off x="594360" y="4892040"/>
            <a:ext cx="11002975" cy="868680"/>
          </a:xfrm>
          <a:prstGeom prst="roundRect">
            <a:avLst>
              <a:gd name="adj" fmla="val 8421"/>
            </a:avLst>
          </a:prstGeom>
          <a:solidFill>
            <a:srgbClr val="2E3A4A"/>
          </a:solidFill>
          <a:ln/>
        </p:spPr>
      </p:sp>
      <p:sp>
        <p:nvSpPr>
          <p:cNvPr id="19" name="Text 17"/>
          <p:cNvSpPr txBox="1"/>
          <p:nvPr/>
        </p:nvSpPr>
        <p:spPr>
          <a:xfrm>
            <a:off x="594360" y="5102352"/>
            <a:ext cx="11002975" cy="411480"/>
          </a:xfrm>
          <a:prstGeom prst="rect">
            <a:avLst/>
          </a:prstGeom>
          <a:noFill/>
          <a:ln/>
        </p:spPr>
        <p:txBody>
          <a:bodyPr wrap="square" lIns="0" tIns="0" rIns="0" bIns="0" rtlCol="0" anchor="t"/>
          <a:lstStyle/>
          <a:p>
            <a:pPr algn="ctr" indent="0" marL="0">
              <a:lnSpc>
                <a:spcPct val="115000"/>
              </a:lnSpc>
              <a:buNone/>
            </a:pPr>
            <a:r>
              <a:rPr lang="en-US" sz="1900" b="1" dirty="0">
                <a:solidFill>
                  <a:srgbClr val="FFFFFF"/>
                </a:solidFill>
                <a:latin typeface="Calibri" pitchFamily="34" charset="0"/>
                <a:ea typeface="Calibri" pitchFamily="34" charset="-122"/>
                <a:cs typeface="Calibri" pitchFamily="34" charset="-120"/>
              </a:rPr>
              <a:t>A meta pede 38 propostas por mês. Sua agenda comporta 20.</a:t>
            </a:r>
            <a:endParaRPr lang="en-US" sz="1900" dirty="0"/>
          </a:p>
        </p:txBody>
      </p:sp>
      <p:sp>
        <p:nvSpPr>
          <p:cNvPr id="20" name="Text 18"/>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9AA6B2"/>
                </a:solidFill>
                <a:latin typeface="Calibri" pitchFamily="34" charset="0"/>
                <a:ea typeface="Calibri" pitchFamily="34" charset="-122"/>
                <a:cs typeface="Calibri" pitchFamily="34" charset="-120"/>
              </a:rPr>
              <a:t>cenário otimista do funil corrigido = 11,9 contratos/mês × R$ 20.000 · projeção de confiança baixa-média, não promessa contratual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600" b="1" dirty="0">
                <a:solidFill>
                  <a:srgbClr val="1B2430"/>
                </a:solidFill>
                <a:latin typeface="Cambria" pitchFamily="34" charset="0"/>
                <a:ea typeface="Cambria" pitchFamily="34" charset="-122"/>
                <a:cs typeface="Cambria" pitchFamily="34" charset="-120"/>
              </a:rPr>
              <a:t>A CPFL subiu a alta tensão em 18,75% em abril.</a:t>
            </a:r>
            <a:endParaRPr lang="en-US" sz="2600" dirty="0"/>
          </a:p>
          <a:p>
            <a:pPr algn="l" indent="0" marL="0">
              <a:lnSpc>
                <a:spcPct val="95000"/>
              </a:lnSpc>
              <a:buNone/>
            </a:pPr>
            <a:r>
              <a:rPr lang="en-US" sz="2600" b="1" dirty="0">
                <a:solidFill>
                  <a:srgbClr val="1B2430"/>
                </a:solidFill>
                <a:latin typeface="Cambria" pitchFamily="34" charset="0"/>
                <a:ea typeface="Cambria" pitchFamily="34" charset="-122"/>
                <a:cs typeface="Cambria" pitchFamily="34" charset="-120"/>
              </a:rPr>
              <a:t>É a quarta alta em seis reajustes.</a:t>
            </a:r>
            <a:endParaRPr lang="en-US" sz="2600" dirty="0"/>
          </a:p>
        </p:txBody>
      </p:sp>
      <p:sp>
        <p:nvSpPr>
          <p:cNvPr id="3" name="Shape 1"/>
          <p:cNvSpPr/>
          <p:nvPr/>
        </p:nvSpPr>
        <p:spPr>
          <a:xfrm>
            <a:off x="777240" y="2880360"/>
            <a:ext cx="6035040" cy="0"/>
          </a:xfrm>
          <a:prstGeom prst="line">
            <a:avLst/>
          </a:prstGeom>
          <a:noFill/>
          <a:ln w="25400">
            <a:solidFill>
              <a:srgbClr val="DCE2E8"/>
            </a:solidFill>
            <a:prstDash val="solid"/>
          </a:ln>
        </p:spPr>
      </p:sp>
      <p:sp>
        <p:nvSpPr>
          <p:cNvPr id="4" name="Shape 2"/>
          <p:cNvSpPr/>
          <p:nvPr/>
        </p:nvSpPr>
        <p:spPr>
          <a:xfrm>
            <a:off x="1005840" y="2423160"/>
            <a:ext cx="457200" cy="457200"/>
          </a:xfrm>
          <a:prstGeom prst="rect">
            <a:avLst/>
          </a:prstGeom>
          <a:solidFill>
            <a:srgbClr val="2E3A4A"/>
          </a:solidFill>
          <a:ln/>
        </p:spPr>
      </p:sp>
      <p:sp>
        <p:nvSpPr>
          <p:cNvPr id="5" name="Text 3"/>
          <p:cNvSpPr txBox="1"/>
          <p:nvPr/>
        </p:nvSpPr>
        <p:spPr>
          <a:xfrm>
            <a:off x="731520" y="3291840"/>
            <a:ext cx="1005840" cy="274320"/>
          </a:xfrm>
          <a:prstGeom prst="rect">
            <a:avLst/>
          </a:prstGeom>
          <a:noFill/>
          <a:ln/>
        </p:spPr>
        <p:txBody>
          <a:bodyPr wrap="square" lIns="0" tIns="0" rIns="0" bIns="0" rtlCol="0" anchor="t"/>
          <a:lstStyle/>
          <a:p>
            <a:pPr algn="ctr" indent="0" marL="0">
              <a:lnSpc>
                <a:spcPct val="115000"/>
              </a:lnSpc>
              <a:buNone/>
            </a:pPr>
            <a:r>
              <a:rPr lang="en-US" sz="1000" dirty="0">
                <a:solidFill>
                  <a:srgbClr val="6B7785"/>
                </a:solidFill>
                <a:latin typeface="Calibri" pitchFamily="34" charset="0"/>
                <a:ea typeface="Calibri" pitchFamily="34" charset="-122"/>
                <a:cs typeface="Calibri" pitchFamily="34" charset="-120"/>
              </a:rPr>
              <a:t>2021</a:t>
            </a:r>
            <a:endParaRPr lang="en-US" sz="1000" dirty="0"/>
          </a:p>
        </p:txBody>
      </p:sp>
      <p:sp>
        <p:nvSpPr>
          <p:cNvPr id="6" name="Shape 4"/>
          <p:cNvSpPr/>
          <p:nvPr/>
        </p:nvSpPr>
        <p:spPr>
          <a:xfrm>
            <a:off x="2011680" y="2423160"/>
            <a:ext cx="457200" cy="457200"/>
          </a:xfrm>
          <a:prstGeom prst="rect">
            <a:avLst/>
          </a:prstGeom>
          <a:solidFill>
            <a:srgbClr val="2E3A4A"/>
          </a:solidFill>
          <a:ln/>
        </p:spPr>
      </p:sp>
      <p:sp>
        <p:nvSpPr>
          <p:cNvPr id="7" name="Text 5"/>
          <p:cNvSpPr txBox="1"/>
          <p:nvPr/>
        </p:nvSpPr>
        <p:spPr>
          <a:xfrm>
            <a:off x="1737360" y="3291840"/>
            <a:ext cx="1005840" cy="274320"/>
          </a:xfrm>
          <a:prstGeom prst="rect">
            <a:avLst/>
          </a:prstGeom>
          <a:noFill/>
          <a:ln/>
        </p:spPr>
        <p:txBody>
          <a:bodyPr wrap="square" lIns="0" tIns="0" rIns="0" bIns="0" rtlCol="0" anchor="t"/>
          <a:lstStyle/>
          <a:p>
            <a:pPr algn="ctr" indent="0" marL="0">
              <a:lnSpc>
                <a:spcPct val="115000"/>
              </a:lnSpc>
              <a:buNone/>
            </a:pPr>
            <a:r>
              <a:rPr lang="en-US" sz="1000" dirty="0">
                <a:solidFill>
                  <a:srgbClr val="6B7785"/>
                </a:solidFill>
                <a:latin typeface="Calibri" pitchFamily="34" charset="0"/>
                <a:ea typeface="Calibri" pitchFamily="34" charset="-122"/>
                <a:cs typeface="Calibri" pitchFamily="34" charset="-120"/>
              </a:rPr>
              <a:t>2022</a:t>
            </a:r>
            <a:endParaRPr lang="en-US" sz="1000" dirty="0"/>
          </a:p>
        </p:txBody>
      </p:sp>
      <p:sp>
        <p:nvSpPr>
          <p:cNvPr id="8" name="Shape 6"/>
          <p:cNvSpPr/>
          <p:nvPr/>
        </p:nvSpPr>
        <p:spPr>
          <a:xfrm>
            <a:off x="3017520" y="2423160"/>
            <a:ext cx="457200" cy="457200"/>
          </a:xfrm>
          <a:prstGeom prst="rect">
            <a:avLst/>
          </a:prstGeom>
          <a:solidFill>
            <a:srgbClr val="2E3A4A"/>
          </a:solidFill>
          <a:ln/>
        </p:spPr>
      </p:sp>
      <p:sp>
        <p:nvSpPr>
          <p:cNvPr id="9" name="Text 7"/>
          <p:cNvSpPr txBox="1"/>
          <p:nvPr/>
        </p:nvSpPr>
        <p:spPr>
          <a:xfrm>
            <a:off x="2743200" y="3291840"/>
            <a:ext cx="1005840" cy="274320"/>
          </a:xfrm>
          <a:prstGeom prst="rect">
            <a:avLst/>
          </a:prstGeom>
          <a:noFill/>
          <a:ln/>
        </p:spPr>
        <p:txBody>
          <a:bodyPr wrap="square" lIns="0" tIns="0" rIns="0" bIns="0" rtlCol="0" anchor="t"/>
          <a:lstStyle/>
          <a:p>
            <a:pPr algn="ctr" indent="0" marL="0">
              <a:lnSpc>
                <a:spcPct val="115000"/>
              </a:lnSpc>
              <a:buNone/>
            </a:pPr>
            <a:r>
              <a:rPr lang="en-US" sz="1000" dirty="0">
                <a:solidFill>
                  <a:srgbClr val="6B7785"/>
                </a:solidFill>
                <a:latin typeface="Calibri" pitchFamily="34" charset="0"/>
                <a:ea typeface="Calibri" pitchFamily="34" charset="-122"/>
                <a:cs typeface="Calibri" pitchFamily="34" charset="-120"/>
              </a:rPr>
              <a:t>2023</a:t>
            </a:r>
            <a:endParaRPr lang="en-US" sz="1000" dirty="0"/>
          </a:p>
        </p:txBody>
      </p:sp>
      <p:sp>
        <p:nvSpPr>
          <p:cNvPr id="10" name="Shape 8"/>
          <p:cNvSpPr/>
          <p:nvPr/>
        </p:nvSpPr>
        <p:spPr>
          <a:xfrm>
            <a:off x="4023360" y="2423160"/>
            <a:ext cx="457200" cy="457200"/>
          </a:xfrm>
          <a:prstGeom prst="rect">
            <a:avLst/>
          </a:prstGeom>
          <a:solidFill>
            <a:srgbClr val="2E3A4A"/>
          </a:solidFill>
          <a:ln/>
        </p:spPr>
      </p:sp>
      <p:sp>
        <p:nvSpPr>
          <p:cNvPr id="11" name="Text 9"/>
          <p:cNvSpPr txBox="1"/>
          <p:nvPr/>
        </p:nvSpPr>
        <p:spPr>
          <a:xfrm>
            <a:off x="3749040" y="3291840"/>
            <a:ext cx="1005840" cy="274320"/>
          </a:xfrm>
          <a:prstGeom prst="rect">
            <a:avLst/>
          </a:prstGeom>
          <a:noFill/>
          <a:ln/>
        </p:spPr>
        <p:txBody>
          <a:bodyPr wrap="square" lIns="0" tIns="0" rIns="0" bIns="0" rtlCol="0" anchor="t"/>
          <a:lstStyle/>
          <a:p>
            <a:pPr algn="ctr" indent="0" marL="0">
              <a:lnSpc>
                <a:spcPct val="115000"/>
              </a:lnSpc>
              <a:buNone/>
            </a:pPr>
            <a:r>
              <a:rPr lang="en-US" sz="1000" dirty="0">
                <a:solidFill>
                  <a:srgbClr val="6B7785"/>
                </a:solidFill>
                <a:latin typeface="Calibri" pitchFamily="34" charset="0"/>
                <a:ea typeface="Calibri" pitchFamily="34" charset="-122"/>
                <a:cs typeface="Calibri" pitchFamily="34" charset="-120"/>
              </a:rPr>
              <a:t>2024</a:t>
            </a:r>
            <a:endParaRPr lang="en-US" sz="1000" dirty="0"/>
          </a:p>
        </p:txBody>
      </p:sp>
      <p:sp>
        <p:nvSpPr>
          <p:cNvPr id="12" name="Shape 10"/>
          <p:cNvSpPr/>
          <p:nvPr/>
        </p:nvSpPr>
        <p:spPr>
          <a:xfrm>
            <a:off x="5029200" y="2880360"/>
            <a:ext cx="457200" cy="320040"/>
          </a:xfrm>
          <a:prstGeom prst="rect">
            <a:avLst/>
          </a:prstGeom>
          <a:solidFill>
            <a:srgbClr val="C7CFD8"/>
          </a:solidFill>
          <a:ln/>
        </p:spPr>
      </p:sp>
      <p:sp>
        <p:nvSpPr>
          <p:cNvPr id="13" name="Text 11"/>
          <p:cNvSpPr txBox="1"/>
          <p:nvPr/>
        </p:nvSpPr>
        <p:spPr>
          <a:xfrm>
            <a:off x="4754880" y="3291840"/>
            <a:ext cx="1005840" cy="274320"/>
          </a:xfrm>
          <a:prstGeom prst="rect">
            <a:avLst/>
          </a:prstGeom>
          <a:noFill/>
          <a:ln/>
        </p:spPr>
        <p:txBody>
          <a:bodyPr wrap="square" lIns="0" tIns="0" rIns="0" bIns="0" rtlCol="0" anchor="t"/>
          <a:lstStyle/>
          <a:p>
            <a:pPr algn="ctr" indent="0" marL="0">
              <a:lnSpc>
                <a:spcPct val="115000"/>
              </a:lnSpc>
              <a:buNone/>
            </a:pPr>
            <a:r>
              <a:rPr lang="en-US" sz="1000" dirty="0">
                <a:solidFill>
                  <a:srgbClr val="6B7785"/>
                </a:solidFill>
                <a:latin typeface="Calibri" pitchFamily="34" charset="0"/>
                <a:ea typeface="Calibri" pitchFamily="34" charset="-122"/>
                <a:cs typeface="Calibri" pitchFamily="34" charset="-120"/>
              </a:rPr>
              <a:t>2025</a:t>
            </a:r>
            <a:endParaRPr lang="en-US" sz="1000" dirty="0"/>
          </a:p>
        </p:txBody>
      </p:sp>
      <p:sp>
        <p:nvSpPr>
          <p:cNvPr id="14" name="Shape 12"/>
          <p:cNvSpPr/>
          <p:nvPr/>
        </p:nvSpPr>
        <p:spPr>
          <a:xfrm>
            <a:off x="6035040" y="2011680"/>
            <a:ext cx="457200" cy="868680"/>
          </a:xfrm>
          <a:prstGeom prst="rect">
            <a:avLst/>
          </a:prstGeom>
          <a:solidFill>
            <a:srgbClr val="E8833A"/>
          </a:solidFill>
          <a:ln/>
        </p:spPr>
      </p:sp>
      <p:sp>
        <p:nvSpPr>
          <p:cNvPr id="15" name="Text 13"/>
          <p:cNvSpPr txBox="1"/>
          <p:nvPr/>
        </p:nvSpPr>
        <p:spPr>
          <a:xfrm>
            <a:off x="5760720" y="3291840"/>
            <a:ext cx="1005840" cy="274320"/>
          </a:xfrm>
          <a:prstGeom prst="rect">
            <a:avLst/>
          </a:prstGeom>
          <a:noFill/>
          <a:ln/>
        </p:spPr>
        <p:txBody>
          <a:bodyPr wrap="square" lIns="0" tIns="0" rIns="0" bIns="0" rtlCol="0" anchor="t"/>
          <a:lstStyle/>
          <a:p>
            <a:pPr algn="ctr" indent="0" marL="0">
              <a:lnSpc>
                <a:spcPct val="115000"/>
              </a:lnSpc>
              <a:buNone/>
            </a:pPr>
            <a:r>
              <a:rPr lang="en-US" sz="1000" dirty="0">
                <a:solidFill>
                  <a:srgbClr val="6B7785"/>
                </a:solidFill>
                <a:latin typeface="Calibri" pitchFamily="34" charset="0"/>
                <a:ea typeface="Calibri" pitchFamily="34" charset="-122"/>
                <a:cs typeface="Calibri" pitchFamily="34" charset="-120"/>
              </a:rPr>
              <a:t>2026</a:t>
            </a:r>
            <a:endParaRPr lang="en-US" sz="1000" dirty="0"/>
          </a:p>
        </p:txBody>
      </p:sp>
      <p:sp>
        <p:nvSpPr>
          <p:cNvPr id="16" name="Text 14"/>
          <p:cNvSpPr txBox="1"/>
          <p:nvPr/>
        </p:nvSpPr>
        <p:spPr>
          <a:xfrm>
            <a:off x="5303520" y="1572768"/>
            <a:ext cx="1737360" cy="320040"/>
          </a:xfrm>
          <a:prstGeom prst="rect">
            <a:avLst/>
          </a:prstGeom>
          <a:noFill/>
          <a:ln/>
        </p:spPr>
        <p:txBody>
          <a:bodyPr wrap="square" lIns="0" tIns="0" rIns="0" bIns="0" rtlCol="0" anchor="t"/>
          <a:lstStyle/>
          <a:p>
            <a:pPr algn="ctr" indent="0" marL="0">
              <a:lnSpc>
                <a:spcPct val="115000"/>
              </a:lnSpc>
              <a:buNone/>
            </a:pPr>
            <a:r>
              <a:rPr lang="en-US" sz="1500" b="1" dirty="0">
                <a:solidFill>
                  <a:srgbClr val="E8833A"/>
                </a:solidFill>
                <a:latin typeface="Calibri" pitchFamily="34" charset="0"/>
                <a:ea typeface="Calibri" pitchFamily="34" charset="-122"/>
                <a:cs typeface="Calibri" pitchFamily="34" charset="-120"/>
              </a:rPr>
              <a:t>+18,75%</a:t>
            </a:r>
            <a:endParaRPr lang="en-US" sz="1500" dirty="0"/>
          </a:p>
        </p:txBody>
      </p:sp>
      <p:sp>
        <p:nvSpPr>
          <p:cNvPr id="17" name="Text 15"/>
          <p:cNvSpPr txBox="1"/>
          <p:nvPr/>
        </p:nvSpPr>
        <p:spPr>
          <a:xfrm>
            <a:off x="594360" y="3520440"/>
            <a:ext cx="6400800" cy="822960"/>
          </a:xfrm>
          <a:prstGeom prst="rect">
            <a:avLst/>
          </a:prstGeom>
          <a:noFill/>
          <a:ln/>
        </p:spPr>
        <p:txBody>
          <a:bodyPr wrap="square" lIns="0" tIns="0" rIns="0" bIns="0" rtlCol="0" anchor="t"/>
          <a:lstStyle/>
          <a:p>
            <a:pPr algn="l" indent="0" marL="0">
              <a:lnSpc>
                <a:spcPct val="130000"/>
              </a:lnSpc>
              <a:buNone/>
            </a:pPr>
            <a:r>
              <a:rPr lang="en-US" sz="1250" dirty="0">
                <a:solidFill>
                  <a:srgbClr val="1B2430"/>
                </a:solidFill>
                <a:latin typeface="Calibri" pitchFamily="34" charset="0"/>
                <a:ea typeface="Calibri" pitchFamily="34" charset="-122"/>
                <a:cs typeface="Calibri" pitchFamily="34" charset="-120"/>
              </a:rPr>
              <a:t>alta tensão · abril/2026 · +9,15% na baixa tensão</a:t>
            </a:r>
            <a:endParaRPr lang="en-US" sz="1250" dirty="0"/>
          </a:p>
          <a:p>
            <a:pPr algn="l" indent="0" marL="0">
              <a:lnSpc>
                <a:spcPct val="130000"/>
              </a:lnSpc>
              <a:buNone/>
            </a:pPr>
            <a:r>
              <a:rPr lang="en-US" sz="1250" dirty="0">
                <a:solidFill>
                  <a:srgbClr val="1B2430"/>
                </a:solidFill>
                <a:latin typeface="Calibri" pitchFamily="34" charset="0"/>
                <a:ea typeface="Calibri" pitchFamily="34" charset="-122"/>
                <a:cs typeface="Calibri" pitchFamily="34" charset="-120"/>
              </a:rPr>
              <a:t>Quatro altas em seis reajustes desde 2021. Isso não é argumento de vendedor — é conta de luz.</a:t>
            </a:r>
            <a:endParaRPr lang="en-US" sz="1250" dirty="0"/>
          </a:p>
        </p:txBody>
      </p:sp>
      <p:sp>
        <p:nvSpPr>
          <p:cNvPr id="18" name="Shape 16"/>
          <p:cNvSpPr/>
          <p:nvPr/>
        </p:nvSpPr>
        <p:spPr>
          <a:xfrm>
            <a:off x="7498080" y="1691640"/>
            <a:ext cx="4096512" cy="4023360"/>
          </a:xfrm>
          <a:prstGeom prst="roundRect">
            <a:avLst>
              <a:gd name="adj" fmla="val 1818"/>
            </a:avLst>
          </a:prstGeom>
          <a:solidFill>
            <a:srgbClr val="F4F6F8"/>
          </a:solidFill>
          <a:ln/>
        </p:spPr>
      </p:sp>
      <p:sp>
        <p:nvSpPr>
          <p:cNvPr id="19" name="Text 17"/>
          <p:cNvSpPr txBox="1"/>
          <p:nvPr/>
        </p:nvSpPr>
        <p:spPr>
          <a:xfrm>
            <a:off x="7818120" y="1938528"/>
            <a:ext cx="3474720" cy="457200"/>
          </a:xfrm>
          <a:prstGeom prst="rect">
            <a:avLst/>
          </a:prstGeom>
          <a:noFill/>
          <a:ln/>
        </p:spPr>
        <p:txBody>
          <a:bodyPr wrap="square" lIns="0" tIns="0" rIns="0" bIns="0" rtlCol="0" anchor="t"/>
          <a:lstStyle/>
          <a:p>
            <a:pPr algn="l" indent="0" marL="0">
              <a:lnSpc>
                <a:spcPct val="115000"/>
              </a:lnSpc>
              <a:buNone/>
            </a:pPr>
            <a:r>
              <a:rPr lang="en-US" sz="950" b="1" dirty="0">
                <a:solidFill>
                  <a:srgbClr val="6B7785"/>
                </a:solidFill>
                <a:latin typeface="Calibri" pitchFamily="34" charset="0"/>
                <a:ea typeface="Calibri" pitchFamily="34" charset="-122"/>
                <a:cs typeface="Calibri" pitchFamily="34" charset="-120"/>
              </a:rPr>
              <a:t>O QUE NENHUM DOS 7 CONCORRENTES PUBLICA</a:t>
            </a:r>
            <a:endParaRPr lang="en-US" sz="950" dirty="0"/>
          </a:p>
        </p:txBody>
      </p:sp>
      <p:sp>
        <p:nvSpPr>
          <p:cNvPr id="20" name="Text 18"/>
          <p:cNvSpPr txBox="1"/>
          <p:nvPr/>
        </p:nvSpPr>
        <p:spPr>
          <a:xfrm>
            <a:off x="7818120" y="2487168"/>
            <a:ext cx="3474720" cy="36576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prazo de instalação</a:t>
            </a:r>
            <a:endParaRPr lang="en-US" sz="1350" dirty="0"/>
          </a:p>
        </p:txBody>
      </p:sp>
      <p:sp>
        <p:nvSpPr>
          <p:cNvPr id="21" name="Text 19"/>
          <p:cNvSpPr txBox="1"/>
          <p:nvPr/>
        </p:nvSpPr>
        <p:spPr>
          <a:xfrm>
            <a:off x="7818120" y="2944368"/>
            <a:ext cx="3474720" cy="36576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garantia detalhada</a:t>
            </a:r>
            <a:endParaRPr lang="en-US" sz="1350" dirty="0"/>
          </a:p>
        </p:txBody>
      </p:sp>
      <p:sp>
        <p:nvSpPr>
          <p:cNvPr id="22" name="Text 20"/>
          <p:cNvSpPr txBox="1"/>
          <p:nvPr/>
        </p:nvSpPr>
        <p:spPr>
          <a:xfrm>
            <a:off x="7818120" y="3401568"/>
            <a:ext cx="3474720" cy="36576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simulação de financiamento real</a:t>
            </a:r>
            <a:endParaRPr lang="en-US" sz="1350" dirty="0"/>
          </a:p>
        </p:txBody>
      </p:sp>
      <p:sp>
        <p:nvSpPr>
          <p:cNvPr id="23" name="Text 21"/>
          <p:cNvSpPr txBox="1"/>
          <p:nvPr/>
        </p:nvSpPr>
        <p:spPr>
          <a:xfrm>
            <a:off x="7818120" y="3858768"/>
            <a:ext cx="3474720" cy="36576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promessa de tempo de resposta</a:t>
            </a:r>
            <a:endParaRPr lang="en-US" sz="1350" dirty="0"/>
          </a:p>
        </p:txBody>
      </p:sp>
      <p:sp>
        <p:nvSpPr>
          <p:cNvPr id="24" name="Text 22"/>
          <p:cNvSpPr txBox="1"/>
          <p:nvPr/>
        </p:nvSpPr>
        <p:spPr>
          <a:xfrm>
            <a:off x="7818120" y="4407408"/>
            <a:ext cx="3474720" cy="566928"/>
          </a:xfrm>
          <a:prstGeom prst="rect">
            <a:avLst/>
          </a:prstGeom>
          <a:noFill/>
          <a:ln/>
        </p:spPr>
        <p:txBody>
          <a:bodyPr wrap="square" lIns="0" tIns="0" rIns="0" bIns="0" rtlCol="0" anchor="t"/>
          <a:lstStyle/>
          <a:p>
            <a:pPr algn="l" indent="0" marL="0">
              <a:lnSpc>
                <a:spcPct val="115000"/>
              </a:lnSpc>
              <a:buNone/>
            </a:pPr>
            <a:r>
              <a:rPr lang="en-US" sz="1300" b="1" dirty="0">
                <a:solidFill>
                  <a:srgbClr val="E8833A"/>
                </a:solidFill>
                <a:latin typeface="Calibri" pitchFamily="34" charset="0"/>
                <a:ea typeface="Calibri" pitchFamily="34" charset="-122"/>
                <a:cs typeface="Calibri" pitchFamily="34" charset="-120"/>
              </a:rPr>
              <a:t>Você tem os quatro, há 6 anos. E ninguém em Franca sabe disso.</a:t>
            </a:r>
            <a:endParaRPr lang="en-US" sz="1300" dirty="0"/>
          </a:p>
        </p:txBody>
      </p:sp>
      <p:sp>
        <p:nvSpPr>
          <p:cNvPr id="25" name="Text 23"/>
          <p:cNvSpPr txBox="1"/>
          <p:nvPr/>
        </p:nvSpPr>
        <p:spPr>
          <a:xfrm>
            <a:off x="7818120" y="5047488"/>
            <a:ext cx="3474720" cy="658368"/>
          </a:xfrm>
          <a:prstGeom prst="rect">
            <a:avLst/>
          </a:prstGeom>
          <a:noFill/>
          <a:ln/>
        </p:spPr>
        <p:txBody>
          <a:bodyPr wrap="square" lIns="0" tIns="0" rIns="0" bIns="0" rtlCol="0" anchor="t"/>
          <a:lstStyle/>
          <a:p>
            <a:pPr algn="l" indent="0" marL="0">
              <a:lnSpc>
                <a:spcPct val="115000"/>
              </a:lnSpc>
              <a:buNone/>
            </a:pPr>
            <a:r>
              <a:rPr lang="en-US" sz="1050" dirty="0">
                <a:solidFill>
                  <a:srgbClr val="6B7785"/>
                </a:solidFill>
                <a:latin typeface="Calibri" pitchFamily="34" charset="0"/>
                <a:ea typeface="Calibri" pitchFamily="34" charset="-122"/>
                <a:cs typeface="Calibri" pitchFamily="34" charset="-120"/>
              </a:rPr>
              <a:t>As duas franquias nacionais aqui têm nota pública fraca. Quando o concorrente grande tem nota baixa, você não briga por preço. Briga por confiança.</a:t>
            </a:r>
            <a:endParaRPr lang="en-US" sz="1050" dirty="0"/>
          </a:p>
        </p:txBody>
      </p:sp>
      <p:sp>
        <p:nvSpPr>
          <p:cNvPr id="26" name="Text 24"/>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reajuste homologado pela ANEEL para a CPFL Paulista, abril/2026, efeito médio +12,13% · levantamento de concorrentes de 07/09/2026 · SolarPrime 6,62/10 e Ilumisol 3,0/5 no Reclame Aqui (redes nacionais)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Primeiro medir e decidir. Depois converter.</a:t>
            </a:r>
            <a:endParaRPr lang="en-US" sz="2700" dirty="0"/>
          </a:p>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Escalar por último.</a:t>
            </a:r>
            <a:endParaRPr lang="en-US" sz="2700" dirty="0"/>
          </a:p>
        </p:txBody>
      </p:sp>
      <p:sp>
        <p:nvSpPr>
          <p:cNvPr id="3" name="Shape 1"/>
          <p:cNvSpPr/>
          <p:nvPr/>
        </p:nvSpPr>
        <p:spPr>
          <a:xfrm>
            <a:off x="594360" y="1874520"/>
            <a:ext cx="3493008" cy="2148840"/>
          </a:xfrm>
          <a:prstGeom prst="roundRect">
            <a:avLst>
              <a:gd name="adj" fmla="val 3404"/>
            </a:avLst>
          </a:prstGeom>
          <a:solidFill>
            <a:srgbClr val="1B2430"/>
          </a:solidFill>
          <a:ln/>
        </p:spPr>
      </p:sp>
      <p:sp>
        <p:nvSpPr>
          <p:cNvPr id="4" name="Text 2"/>
          <p:cNvSpPr txBox="1"/>
          <p:nvPr/>
        </p:nvSpPr>
        <p:spPr>
          <a:xfrm>
            <a:off x="914400" y="2121408"/>
            <a:ext cx="2852928" cy="365760"/>
          </a:xfrm>
          <a:prstGeom prst="rect">
            <a:avLst/>
          </a:prstGeom>
          <a:noFill/>
          <a:ln/>
        </p:spPr>
        <p:txBody>
          <a:bodyPr wrap="square" lIns="0" tIns="0" rIns="0" bIns="0" rtlCol="0" anchor="t"/>
          <a:lstStyle/>
          <a:p>
            <a:pPr algn="l" indent="0" marL="0">
              <a:lnSpc>
                <a:spcPct val="115000"/>
              </a:lnSpc>
              <a:buNone/>
            </a:pPr>
            <a:r>
              <a:rPr lang="en-US" sz="1300" b="1" dirty="0">
                <a:solidFill>
                  <a:srgbClr val="E8833A"/>
                </a:solidFill>
                <a:latin typeface="Calibri" pitchFamily="34" charset="0"/>
                <a:ea typeface="Calibri" pitchFamily="34" charset="-122"/>
                <a:cs typeface="Calibri" pitchFamily="34" charset="-120"/>
              </a:rPr>
              <a:t>DIA 1</a:t>
            </a:r>
            <a:endParaRPr lang="en-US" sz="1300" dirty="0"/>
          </a:p>
        </p:txBody>
      </p:sp>
      <p:sp>
        <p:nvSpPr>
          <p:cNvPr id="5" name="Text 3"/>
          <p:cNvSpPr txBox="1"/>
          <p:nvPr/>
        </p:nvSpPr>
        <p:spPr>
          <a:xfrm>
            <a:off x="914400" y="2606040"/>
            <a:ext cx="2852928" cy="1188720"/>
          </a:xfrm>
          <a:prstGeom prst="rect">
            <a:avLst/>
          </a:prstGeom>
          <a:noFill/>
          <a:ln/>
        </p:spPr>
        <p:txBody>
          <a:bodyPr wrap="square" lIns="0" tIns="0" rIns="0" bIns="0" rtlCol="0" anchor="t"/>
          <a:lstStyle/>
          <a:p>
            <a:pPr algn="l" indent="0" marL="0">
              <a:lnSpc>
                <a:spcPct val="125000"/>
              </a:lnSpc>
              <a:buNone/>
            </a:pPr>
            <a:r>
              <a:rPr lang="en-US" sz="1400" b="1" dirty="0">
                <a:solidFill>
                  <a:srgbClr val="FFFFFF"/>
                </a:solidFill>
                <a:latin typeface="Calibri" pitchFamily="34" charset="0"/>
                <a:ea typeface="Calibri" pitchFamily="34" charset="-122"/>
                <a:cs typeface="Calibri" pitchFamily="34" charset="-120"/>
              </a:rPr>
              <a:t>Mentoria Comercial</a:t>
            </a:r>
            <a:endParaRPr lang="en-US" sz="1400" dirty="0"/>
          </a:p>
          <a:p>
            <a:pPr algn="l" indent="0" marL="0">
              <a:lnSpc>
                <a:spcPct val="125000"/>
              </a:lnSpc>
              <a:buNone/>
            </a:pPr>
            <a:r>
              <a:rPr lang="en-US" sz="1400" b="1" dirty="0">
                <a:solidFill>
                  <a:srgbClr val="FFFFFF"/>
                </a:solidFill>
                <a:latin typeface="Calibri" pitchFamily="34" charset="0"/>
                <a:ea typeface="Calibri" pitchFamily="34" charset="-122"/>
                <a:cs typeface="Calibri" pitchFamily="34" charset="-120"/>
              </a:rPr>
              <a:t>+ atendimento e qualificação no WhatsApp</a:t>
            </a:r>
            <a:endParaRPr lang="en-US" sz="1400" dirty="0"/>
          </a:p>
        </p:txBody>
      </p:sp>
      <p:sp>
        <p:nvSpPr>
          <p:cNvPr id="6" name="Text 4"/>
          <p:cNvSpPr txBox="1"/>
          <p:nvPr/>
        </p:nvSpPr>
        <p:spPr>
          <a:xfrm>
            <a:off x="4105656" y="2743200"/>
            <a:ext cx="201168" cy="365760"/>
          </a:xfrm>
          <a:prstGeom prst="rect">
            <a:avLst/>
          </a:prstGeom>
          <a:noFill/>
          <a:ln/>
        </p:spPr>
        <p:txBody>
          <a:bodyPr wrap="square" lIns="0" tIns="0" rIns="0" bIns="0" rtlCol="0" anchor="t"/>
          <a:lstStyle/>
          <a:p>
            <a:pPr algn="ctr" indent="0" marL="0">
              <a:lnSpc>
                <a:spcPct val="115000"/>
              </a:lnSpc>
              <a:buNone/>
            </a:pPr>
            <a:r>
              <a:rPr lang="en-US" sz="1600" dirty="0">
                <a:solidFill>
                  <a:srgbClr val="6B7785"/>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4325112" y="1874520"/>
            <a:ext cx="3493008" cy="2148840"/>
          </a:xfrm>
          <a:prstGeom prst="roundRect">
            <a:avLst>
              <a:gd name="adj" fmla="val 3404"/>
            </a:avLst>
          </a:prstGeom>
          <a:solidFill>
            <a:srgbClr val="2E3A4A"/>
          </a:solidFill>
          <a:ln/>
        </p:spPr>
      </p:sp>
      <p:sp>
        <p:nvSpPr>
          <p:cNvPr id="8" name="Text 6"/>
          <p:cNvSpPr txBox="1"/>
          <p:nvPr/>
        </p:nvSpPr>
        <p:spPr>
          <a:xfrm>
            <a:off x="4645152" y="2121408"/>
            <a:ext cx="2852928" cy="365760"/>
          </a:xfrm>
          <a:prstGeom prst="rect">
            <a:avLst/>
          </a:prstGeom>
          <a:noFill/>
          <a:ln/>
        </p:spPr>
        <p:txBody>
          <a:bodyPr wrap="square" lIns="0" tIns="0" rIns="0" bIns="0" rtlCol="0" anchor="t"/>
          <a:lstStyle/>
          <a:p>
            <a:pPr algn="l" indent="0" marL="0">
              <a:lnSpc>
                <a:spcPct val="115000"/>
              </a:lnSpc>
              <a:buNone/>
            </a:pPr>
            <a:r>
              <a:rPr lang="en-US" sz="1300" b="1" dirty="0">
                <a:solidFill>
                  <a:srgbClr val="E8833A"/>
                </a:solidFill>
                <a:latin typeface="Calibri" pitchFamily="34" charset="0"/>
                <a:ea typeface="Calibri" pitchFamily="34" charset="-122"/>
                <a:cs typeface="Calibri" pitchFamily="34" charset="-120"/>
              </a:rPr>
              <a:t>DIA 31</a:t>
            </a:r>
            <a:endParaRPr lang="en-US" sz="1300" dirty="0"/>
          </a:p>
        </p:txBody>
      </p:sp>
      <p:sp>
        <p:nvSpPr>
          <p:cNvPr id="9" name="Text 7"/>
          <p:cNvSpPr txBox="1"/>
          <p:nvPr/>
        </p:nvSpPr>
        <p:spPr>
          <a:xfrm>
            <a:off x="4645152" y="2606040"/>
            <a:ext cx="2852928" cy="1188720"/>
          </a:xfrm>
          <a:prstGeom prst="rect">
            <a:avLst/>
          </a:prstGeom>
          <a:noFill/>
          <a:ln/>
        </p:spPr>
        <p:txBody>
          <a:bodyPr wrap="square" lIns="0" tIns="0" rIns="0" bIns="0" rtlCol="0" anchor="t"/>
          <a:lstStyle/>
          <a:p>
            <a:pPr algn="l" indent="0" marL="0">
              <a:lnSpc>
                <a:spcPct val="125000"/>
              </a:lnSpc>
              <a:buNone/>
            </a:pPr>
            <a:r>
              <a:rPr lang="en-US" sz="1600" b="1" dirty="0">
                <a:solidFill>
                  <a:srgbClr val="FFFFFF"/>
                </a:solidFill>
                <a:latin typeface="Calibri" pitchFamily="34" charset="0"/>
                <a:ea typeface="Calibri" pitchFamily="34" charset="-122"/>
                <a:cs typeface="Calibri" pitchFamily="34" charset="-120"/>
              </a:rPr>
              <a:t>Cadência pós-proposta</a:t>
            </a:r>
            <a:endParaRPr lang="en-US" sz="1600" dirty="0"/>
          </a:p>
        </p:txBody>
      </p:sp>
      <p:sp>
        <p:nvSpPr>
          <p:cNvPr id="10" name="Text 8"/>
          <p:cNvSpPr txBox="1"/>
          <p:nvPr/>
        </p:nvSpPr>
        <p:spPr>
          <a:xfrm>
            <a:off x="7836408" y="2743200"/>
            <a:ext cx="201168" cy="365760"/>
          </a:xfrm>
          <a:prstGeom prst="rect">
            <a:avLst/>
          </a:prstGeom>
          <a:noFill/>
          <a:ln/>
        </p:spPr>
        <p:txBody>
          <a:bodyPr wrap="square" lIns="0" tIns="0" rIns="0" bIns="0" rtlCol="0" anchor="t"/>
          <a:lstStyle/>
          <a:p>
            <a:pPr algn="ctr" indent="0" marL="0">
              <a:lnSpc>
                <a:spcPct val="115000"/>
              </a:lnSpc>
              <a:buNone/>
            </a:pPr>
            <a:r>
              <a:rPr lang="en-US" sz="1600" dirty="0">
                <a:solidFill>
                  <a:srgbClr val="6B7785"/>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8055864" y="1874520"/>
            <a:ext cx="3493008" cy="2148840"/>
          </a:xfrm>
          <a:prstGeom prst="roundRect">
            <a:avLst>
              <a:gd name="adj" fmla="val 3404"/>
            </a:avLst>
          </a:prstGeom>
          <a:solidFill>
            <a:srgbClr val="F4F6F8"/>
          </a:solidFill>
          <a:ln w="12700">
            <a:solidFill>
              <a:srgbClr val="DCE2E8"/>
            </a:solidFill>
            <a:prstDash val="solid"/>
          </a:ln>
        </p:spPr>
      </p:sp>
      <p:sp>
        <p:nvSpPr>
          <p:cNvPr id="12" name="Text 10"/>
          <p:cNvSpPr txBox="1"/>
          <p:nvPr/>
        </p:nvSpPr>
        <p:spPr>
          <a:xfrm>
            <a:off x="8375904" y="2121408"/>
            <a:ext cx="2852928" cy="365760"/>
          </a:xfrm>
          <a:prstGeom prst="rect">
            <a:avLst/>
          </a:prstGeom>
          <a:noFill/>
          <a:ln/>
        </p:spPr>
        <p:txBody>
          <a:bodyPr wrap="square" lIns="0" tIns="0" rIns="0" bIns="0" rtlCol="0" anchor="t"/>
          <a:lstStyle/>
          <a:p>
            <a:pPr algn="l" indent="0" marL="0">
              <a:lnSpc>
                <a:spcPct val="115000"/>
              </a:lnSpc>
              <a:buNone/>
            </a:pPr>
            <a:r>
              <a:rPr lang="en-US" sz="1300" b="1" dirty="0">
                <a:solidFill>
                  <a:srgbClr val="6B7785"/>
                </a:solidFill>
                <a:latin typeface="Calibri" pitchFamily="34" charset="0"/>
                <a:ea typeface="Calibri" pitchFamily="34" charset="-122"/>
                <a:cs typeface="Calibri" pitchFamily="34" charset="-120"/>
              </a:rPr>
              <a:t>DIA 61+</a:t>
            </a:r>
            <a:endParaRPr lang="en-US" sz="1300" dirty="0"/>
          </a:p>
        </p:txBody>
      </p:sp>
      <p:sp>
        <p:nvSpPr>
          <p:cNvPr id="13" name="Text 11"/>
          <p:cNvSpPr txBox="1"/>
          <p:nvPr/>
        </p:nvSpPr>
        <p:spPr>
          <a:xfrm>
            <a:off x="8375904" y="2606040"/>
            <a:ext cx="2852928" cy="1188720"/>
          </a:xfrm>
          <a:prstGeom prst="rect">
            <a:avLst/>
          </a:prstGeom>
          <a:noFill/>
          <a:ln/>
        </p:spPr>
        <p:txBody>
          <a:bodyPr wrap="square" lIns="0" tIns="0" rIns="0" bIns="0" rtlCol="0" anchor="t"/>
          <a:lstStyle/>
          <a:p>
            <a:pPr algn="l" indent="0" marL="0">
              <a:lnSpc>
                <a:spcPct val="125000"/>
              </a:lnSpc>
              <a:buNone/>
            </a:pPr>
            <a:r>
              <a:rPr lang="en-US" sz="1400" b="1" dirty="0">
                <a:solidFill>
                  <a:srgbClr val="1B2430"/>
                </a:solidFill>
                <a:latin typeface="Calibri" pitchFamily="34" charset="0"/>
                <a:ea typeface="Calibri" pitchFamily="34" charset="-122"/>
                <a:cs typeface="Calibri" pitchFamily="34" charset="-120"/>
              </a:rPr>
              <a:t>Geração de leads</a:t>
            </a:r>
            <a:endParaRPr lang="en-US" sz="1400" dirty="0"/>
          </a:p>
          <a:p>
            <a:pPr algn="l" indent="0" marL="0">
              <a:lnSpc>
                <a:spcPct val="125000"/>
              </a:lnSpc>
              <a:buNone/>
            </a:pPr>
            <a:r>
              <a:rPr lang="en-US" sz="1400" b="1" dirty="0">
                <a:solidFill>
                  <a:srgbClr val="1B2430"/>
                </a:solidFill>
                <a:latin typeface="Calibri" pitchFamily="34" charset="0"/>
                <a:ea typeface="Calibri" pitchFamily="34" charset="-122"/>
                <a:cs typeface="Calibri" pitchFamily="34" charset="-120"/>
              </a:rPr>
              <a:t>só com gatilho: lead→proposta ≥ 45% por 2 meses</a:t>
            </a:r>
            <a:endParaRPr lang="en-US" sz="1400" dirty="0"/>
          </a:p>
        </p:txBody>
      </p:sp>
      <p:sp>
        <p:nvSpPr>
          <p:cNvPr id="14" name="Shape 12"/>
          <p:cNvSpPr/>
          <p:nvPr/>
        </p:nvSpPr>
        <p:spPr>
          <a:xfrm>
            <a:off x="594360" y="4343400"/>
            <a:ext cx="11002975" cy="1371600"/>
          </a:xfrm>
          <a:prstGeom prst="roundRect">
            <a:avLst>
              <a:gd name="adj" fmla="val 5333"/>
            </a:avLst>
          </a:prstGeom>
          <a:solidFill>
            <a:srgbClr val="F4F6F8"/>
          </a:solidFill>
          <a:ln/>
        </p:spPr>
      </p:sp>
      <p:sp>
        <p:nvSpPr>
          <p:cNvPr id="15" name="Text 13"/>
          <p:cNvSpPr txBox="1"/>
          <p:nvPr/>
        </p:nvSpPr>
        <p:spPr>
          <a:xfrm>
            <a:off x="914400" y="4553712"/>
            <a:ext cx="3657600" cy="274320"/>
          </a:xfrm>
          <a:prstGeom prst="rect">
            <a:avLst/>
          </a:prstGeom>
          <a:noFill/>
          <a:ln/>
        </p:spPr>
        <p:txBody>
          <a:bodyPr wrap="square" lIns="0" tIns="0" rIns="0" bIns="0" rtlCol="0" anchor="t"/>
          <a:lstStyle/>
          <a:p>
            <a:pPr algn="l" indent="0" marL="0">
              <a:lnSpc>
                <a:spcPct val="115000"/>
              </a:lnSpc>
              <a:buNone/>
            </a:pPr>
            <a:r>
              <a:rPr lang="en-US" sz="1000" b="1" dirty="0">
                <a:solidFill>
                  <a:srgbClr val="E8833A"/>
                </a:solidFill>
                <a:latin typeface="Calibri" pitchFamily="34" charset="0"/>
                <a:ea typeface="Calibri" pitchFamily="34" charset="-122"/>
                <a:cs typeface="Calibri" pitchFamily="34" charset="-120"/>
              </a:rPr>
              <a:t>FICA DE FORA DO MÊS 1</a:t>
            </a:r>
            <a:endParaRPr lang="en-US" sz="1000" dirty="0"/>
          </a:p>
        </p:txBody>
      </p:sp>
      <p:sp>
        <p:nvSpPr>
          <p:cNvPr id="16" name="Text 14"/>
          <p:cNvSpPr txBox="1"/>
          <p:nvPr/>
        </p:nvSpPr>
        <p:spPr>
          <a:xfrm>
            <a:off x="914400" y="4864608"/>
            <a:ext cx="10332720" cy="41148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mídia paga   ·   nicho calçadista   ·   site novo   ·   contratar vendedor antes de a comissão estar escrita</a:t>
            </a:r>
            <a:endParaRPr lang="en-US" sz="1350" dirty="0"/>
          </a:p>
        </p:txBody>
      </p:sp>
      <p:sp>
        <p:nvSpPr>
          <p:cNvPr id="17" name="Text 15"/>
          <p:cNvSpPr txBox="1"/>
          <p:nvPr/>
        </p:nvSpPr>
        <p:spPr>
          <a:xfrm>
            <a:off x="914400" y="5321808"/>
            <a:ext cx="10332720" cy="274320"/>
          </a:xfrm>
          <a:prstGeom prst="rect">
            <a:avLst/>
          </a:prstGeom>
          <a:noFill/>
          <a:ln/>
        </p:spPr>
        <p:txBody>
          <a:bodyPr wrap="square" lIns="0" tIns="0" rIns="0" bIns="0" rtlCol="0" anchor="t"/>
          <a:lstStyle/>
          <a:p>
            <a:pPr algn="l" indent="0" marL="0">
              <a:lnSpc>
                <a:spcPct val="115000"/>
              </a:lnSpc>
              <a:buNone/>
            </a:pPr>
            <a:r>
              <a:rPr lang="en-US" sz="1150" i="1" dirty="0">
                <a:solidFill>
                  <a:srgbClr val="6B7785"/>
                </a:solidFill>
                <a:latin typeface="Calibri" pitchFamily="34" charset="0"/>
                <a:ea typeface="Calibri" pitchFamily="34" charset="-122"/>
                <a:cs typeface="Calibri" pitchFamily="34" charset="-120"/>
              </a:rPr>
              <a:t>Proposta que recomenda tudo não é recomendação, é catálogo.</a:t>
            </a:r>
            <a:endParaRPr lang="en-US" sz="1150" dirty="0"/>
          </a:p>
        </p:txBody>
      </p:sp>
      <p:sp>
        <p:nvSpPr>
          <p:cNvPr id="18" name="Text 16"/>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regra que define a ordem — não se coloca tráfego num funil que não converte · processo primeiro, escala depois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800" b="1" dirty="0">
                <a:solidFill>
                  <a:srgbClr val="1B2430"/>
                </a:solidFill>
                <a:latin typeface="Cambria" pitchFamily="34" charset="0"/>
                <a:ea typeface="Cambria" pitchFamily="34" charset="-122"/>
                <a:cs typeface="Cambria" pitchFamily="34" charset="-120"/>
              </a:rPr>
              <a:t>Toda segunda, 30 minutos,</a:t>
            </a:r>
            <a:endParaRPr lang="en-US" sz="2800" dirty="0"/>
          </a:p>
          <a:p>
            <a:pPr algn="l" indent="0" marL="0">
              <a:lnSpc>
                <a:spcPct val="95000"/>
              </a:lnSpc>
              <a:buNone/>
            </a:pPr>
            <a:r>
              <a:rPr lang="en-US" sz="2800" b="1" dirty="0">
                <a:solidFill>
                  <a:srgbClr val="1B2430"/>
                </a:solidFill>
                <a:latin typeface="Cambria" pitchFamily="34" charset="0"/>
                <a:ea typeface="Cambria" pitchFamily="34" charset="-122"/>
                <a:cs typeface="Cambria" pitchFamily="34" charset="-120"/>
              </a:rPr>
              <a:t>sete números na sua frente</a:t>
            </a:r>
            <a:endParaRPr lang="en-US" sz="2800" dirty="0"/>
          </a:p>
        </p:txBody>
      </p:sp>
      <p:sp>
        <p:nvSpPr>
          <p:cNvPr id="3" name="Shape 1"/>
          <p:cNvSpPr/>
          <p:nvPr/>
        </p:nvSpPr>
        <p:spPr>
          <a:xfrm>
            <a:off x="594360" y="1920240"/>
            <a:ext cx="6035040" cy="3794760"/>
          </a:xfrm>
          <a:prstGeom prst="roundRect">
            <a:avLst>
              <a:gd name="adj" fmla="val 1928"/>
            </a:avLst>
          </a:prstGeom>
          <a:solidFill>
            <a:srgbClr val="F4F6F8"/>
          </a:solidFill>
          <a:ln/>
        </p:spPr>
      </p:sp>
      <p:sp>
        <p:nvSpPr>
          <p:cNvPr id="4" name="Text 2"/>
          <p:cNvSpPr txBox="1"/>
          <p:nvPr/>
        </p:nvSpPr>
        <p:spPr>
          <a:xfrm>
            <a:off x="960120" y="214884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6B7785"/>
                </a:solidFill>
                <a:latin typeface="Calibri" pitchFamily="34" charset="0"/>
                <a:ea typeface="Calibri" pitchFamily="34" charset="-122"/>
                <a:cs typeface="Calibri" pitchFamily="34" charset="-120"/>
              </a:rPr>
              <a:t>FICHA SEMANAL</a:t>
            </a:r>
            <a:endParaRPr lang="en-US" sz="1000" dirty="0"/>
          </a:p>
        </p:txBody>
      </p:sp>
      <p:sp>
        <p:nvSpPr>
          <p:cNvPr id="5" name="Text 3"/>
          <p:cNvSpPr txBox="1"/>
          <p:nvPr/>
        </p:nvSpPr>
        <p:spPr>
          <a:xfrm>
            <a:off x="960120" y="2542032"/>
            <a:ext cx="320040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leads</a:t>
            </a:r>
            <a:endParaRPr lang="en-US" sz="1300" dirty="0"/>
          </a:p>
        </p:txBody>
      </p:sp>
      <p:sp>
        <p:nvSpPr>
          <p:cNvPr id="6" name="Shape 4"/>
          <p:cNvSpPr/>
          <p:nvPr/>
        </p:nvSpPr>
        <p:spPr>
          <a:xfrm>
            <a:off x="4251960" y="2798064"/>
            <a:ext cx="2011680" cy="0"/>
          </a:xfrm>
          <a:prstGeom prst="line">
            <a:avLst/>
          </a:prstGeom>
          <a:noFill/>
          <a:ln w="12700">
            <a:solidFill>
              <a:srgbClr val="DCE2E8"/>
            </a:solidFill>
            <a:prstDash val="solid"/>
          </a:ln>
        </p:spPr>
      </p:sp>
      <p:sp>
        <p:nvSpPr>
          <p:cNvPr id="7" name="Text 5"/>
          <p:cNvSpPr txBox="1"/>
          <p:nvPr/>
        </p:nvSpPr>
        <p:spPr>
          <a:xfrm>
            <a:off x="960120" y="2962656"/>
            <a:ext cx="3200400" cy="320040"/>
          </a:xfrm>
          <a:prstGeom prst="rect">
            <a:avLst/>
          </a:prstGeom>
          <a:noFill/>
          <a:ln/>
        </p:spPr>
        <p:txBody>
          <a:bodyPr wrap="square" lIns="0" tIns="0" rIns="0" bIns="0" rtlCol="0" anchor="t"/>
          <a:lstStyle/>
          <a:p>
            <a:pPr algn="l" indent="0" marL="0">
              <a:lnSpc>
                <a:spcPct val="115000"/>
              </a:lnSpc>
              <a:buNone/>
            </a:pPr>
            <a:r>
              <a:rPr lang="en-US" sz="1300" b="1" dirty="0">
                <a:solidFill>
                  <a:srgbClr val="E8833A"/>
                </a:solidFill>
                <a:latin typeface="Calibri" pitchFamily="34" charset="0"/>
                <a:ea typeface="Calibri" pitchFamily="34" charset="-122"/>
                <a:cs typeface="Calibri" pitchFamily="34" charset="-120"/>
              </a:rPr>
              <a:t>qualificados</a:t>
            </a:r>
            <a:endParaRPr lang="en-US" sz="1300" dirty="0"/>
          </a:p>
        </p:txBody>
      </p:sp>
      <p:sp>
        <p:nvSpPr>
          <p:cNvPr id="8" name="Shape 6"/>
          <p:cNvSpPr/>
          <p:nvPr/>
        </p:nvSpPr>
        <p:spPr>
          <a:xfrm>
            <a:off x="4251960" y="3218688"/>
            <a:ext cx="2011680" cy="0"/>
          </a:xfrm>
          <a:prstGeom prst="line">
            <a:avLst/>
          </a:prstGeom>
          <a:noFill/>
          <a:ln w="12700">
            <a:solidFill>
              <a:srgbClr val="E8833A"/>
            </a:solidFill>
            <a:prstDash val="solid"/>
          </a:ln>
        </p:spPr>
      </p:sp>
      <p:sp>
        <p:nvSpPr>
          <p:cNvPr id="9" name="Text 7"/>
          <p:cNvSpPr txBox="1"/>
          <p:nvPr/>
        </p:nvSpPr>
        <p:spPr>
          <a:xfrm>
            <a:off x="960120" y="3383280"/>
            <a:ext cx="3200400" cy="320040"/>
          </a:xfrm>
          <a:prstGeom prst="rect">
            <a:avLst/>
          </a:prstGeom>
          <a:noFill/>
          <a:ln/>
        </p:spPr>
        <p:txBody>
          <a:bodyPr wrap="square" lIns="0" tIns="0" rIns="0" bIns="0" rtlCol="0" anchor="t"/>
          <a:lstStyle/>
          <a:p>
            <a:pPr algn="l" indent="0" marL="0">
              <a:lnSpc>
                <a:spcPct val="115000"/>
              </a:lnSpc>
              <a:buNone/>
            </a:pPr>
            <a:r>
              <a:rPr lang="en-US" sz="1300" b="1" dirty="0">
                <a:solidFill>
                  <a:srgbClr val="E8833A"/>
                </a:solidFill>
                <a:latin typeface="Calibri" pitchFamily="34" charset="0"/>
                <a:ea typeface="Calibri" pitchFamily="34" charset="-122"/>
                <a:cs typeface="Calibri" pitchFamily="34" charset="-120"/>
              </a:rPr>
              <a:t>diagnósticos</a:t>
            </a:r>
            <a:endParaRPr lang="en-US" sz="1300" dirty="0"/>
          </a:p>
        </p:txBody>
      </p:sp>
      <p:sp>
        <p:nvSpPr>
          <p:cNvPr id="10" name="Shape 8"/>
          <p:cNvSpPr/>
          <p:nvPr/>
        </p:nvSpPr>
        <p:spPr>
          <a:xfrm>
            <a:off x="4251960" y="3639312"/>
            <a:ext cx="2011680" cy="0"/>
          </a:xfrm>
          <a:prstGeom prst="line">
            <a:avLst/>
          </a:prstGeom>
          <a:noFill/>
          <a:ln w="12700">
            <a:solidFill>
              <a:srgbClr val="E8833A"/>
            </a:solidFill>
            <a:prstDash val="solid"/>
          </a:ln>
        </p:spPr>
      </p:sp>
      <p:sp>
        <p:nvSpPr>
          <p:cNvPr id="11" name="Text 9"/>
          <p:cNvSpPr txBox="1"/>
          <p:nvPr/>
        </p:nvSpPr>
        <p:spPr>
          <a:xfrm>
            <a:off x="960120" y="3803904"/>
            <a:ext cx="320040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propostas</a:t>
            </a:r>
            <a:endParaRPr lang="en-US" sz="1300" dirty="0"/>
          </a:p>
        </p:txBody>
      </p:sp>
      <p:sp>
        <p:nvSpPr>
          <p:cNvPr id="12" name="Shape 10"/>
          <p:cNvSpPr/>
          <p:nvPr/>
        </p:nvSpPr>
        <p:spPr>
          <a:xfrm>
            <a:off x="4251960" y="4059936"/>
            <a:ext cx="2011680" cy="0"/>
          </a:xfrm>
          <a:prstGeom prst="line">
            <a:avLst/>
          </a:prstGeom>
          <a:noFill/>
          <a:ln w="12700">
            <a:solidFill>
              <a:srgbClr val="DCE2E8"/>
            </a:solidFill>
            <a:prstDash val="solid"/>
          </a:ln>
        </p:spPr>
      </p:sp>
      <p:sp>
        <p:nvSpPr>
          <p:cNvPr id="13" name="Text 11"/>
          <p:cNvSpPr txBox="1"/>
          <p:nvPr/>
        </p:nvSpPr>
        <p:spPr>
          <a:xfrm>
            <a:off x="960120" y="4224528"/>
            <a:ext cx="320040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vendas</a:t>
            </a:r>
            <a:endParaRPr lang="en-US" sz="1300" dirty="0"/>
          </a:p>
        </p:txBody>
      </p:sp>
      <p:sp>
        <p:nvSpPr>
          <p:cNvPr id="14" name="Shape 12"/>
          <p:cNvSpPr/>
          <p:nvPr/>
        </p:nvSpPr>
        <p:spPr>
          <a:xfrm>
            <a:off x="4251960" y="4480560"/>
            <a:ext cx="2011680" cy="0"/>
          </a:xfrm>
          <a:prstGeom prst="line">
            <a:avLst/>
          </a:prstGeom>
          <a:noFill/>
          <a:ln w="12700">
            <a:solidFill>
              <a:srgbClr val="DCE2E8"/>
            </a:solidFill>
            <a:prstDash val="solid"/>
          </a:ln>
        </p:spPr>
      </p:sp>
      <p:sp>
        <p:nvSpPr>
          <p:cNvPr id="15" name="Text 13"/>
          <p:cNvSpPr txBox="1"/>
          <p:nvPr/>
        </p:nvSpPr>
        <p:spPr>
          <a:xfrm>
            <a:off x="960120" y="4645152"/>
            <a:ext cx="320040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conversão</a:t>
            </a:r>
            <a:endParaRPr lang="en-US" sz="1300" dirty="0"/>
          </a:p>
        </p:txBody>
      </p:sp>
      <p:sp>
        <p:nvSpPr>
          <p:cNvPr id="16" name="Shape 14"/>
          <p:cNvSpPr/>
          <p:nvPr/>
        </p:nvSpPr>
        <p:spPr>
          <a:xfrm>
            <a:off x="4251960" y="4901184"/>
            <a:ext cx="2011680" cy="0"/>
          </a:xfrm>
          <a:prstGeom prst="line">
            <a:avLst/>
          </a:prstGeom>
          <a:noFill/>
          <a:ln w="12700">
            <a:solidFill>
              <a:srgbClr val="DCE2E8"/>
            </a:solidFill>
            <a:prstDash val="solid"/>
          </a:ln>
        </p:spPr>
      </p:sp>
      <p:sp>
        <p:nvSpPr>
          <p:cNvPr id="17" name="Text 15"/>
          <p:cNvSpPr txBox="1"/>
          <p:nvPr/>
        </p:nvSpPr>
        <p:spPr>
          <a:xfrm>
            <a:off x="960120" y="5065776"/>
            <a:ext cx="3200400" cy="32004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principal motivo de perda</a:t>
            </a:r>
            <a:endParaRPr lang="en-US" sz="1300" dirty="0"/>
          </a:p>
        </p:txBody>
      </p:sp>
      <p:sp>
        <p:nvSpPr>
          <p:cNvPr id="18" name="Shape 16"/>
          <p:cNvSpPr/>
          <p:nvPr/>
        </p:nvSpPr>
        <p:spPr>
          <a:xfrm>
            <a:off x="4251960" y="5321808"/>
            <a:ext cx="2011680" cy="0"/>
          </a:xfrm>
          <a:prstGeom prst="line">
            <a:avLst/>
          </a:prstGeom>
          <a:noFill/>
          <a:ln w="12700">
            <a:solidFill>
              <a:srgbClr val="DCE2E8"/>
            </a:solidFill>
            <a:prstDash val="solid"/>
          </a:ln>
        </p:spPr>
      </p:sp>
      <p:sp>
        <p:nvSpPr>
          <p:cNvPr id="19" name="Text 17"/>
          <p:cNvSpPr txBox="1"/>
          <p:nvPr/>
        </p:nvSpPr>
        <p:spPr>
          <a:xfrm>
            <a:off x="960120" y="5440680"/>
            <a:ext cx="5303520" cy="274320"/>
          </a:xfrm>
          <a:prstGeom prst="rect">
            <a:avLst/>
          </a:prstGeom>
          <a:noFill/>
          <a:ln/>
        </p:spPr>
        <p:txBody>
          <a:bodyPr wrap="square" lIns="0" tIns="0" rIns="0" bIns="0" rtlCol="0" anchor="t"/>
          <a:lstStyle/>
          <a:p>
            <a:pPr algn="l" indent="0" marL="0">
              <a:lnSpc>
                <a:spcPct val="115000"/>
              </a:lnSpc>
              <a:buNone/>
            </a:pPr>
            <a:r>
              <a:rPr lang="en-US" sz="1050" b="1" dirty="0">
                <a:solidFill>
                  <a:srgbClr val="E8833A"/>
                </a:solidFill>
                <a:latin typeface="Calibri" pitchFamily="34" charset="0"/>
                <a:ea typeface="Calibri" pitchFamily="34" charset="-122"/>
                <a:cs typeface="Calibri" pitchFamily="34" charset="-120"/>
              </a:rPr>
              <a:t>três destes sete não existem hoje em lugar nenhum, nem na sua cabeça</a:t>
            </a:r>
            <a:endParaRPr lang="en-US" sz="1050" dirty="0"/>
          </a:p>
        </p:txBody>
      </p:sp>
      <p:sp>
        <p:nvSpPr>
          <p:cNvPr id="20" name="Shape 18"/>
          <p:cNvSpPr/>
          <p:nvPr/>
        </p:nvSpPr>
        <p:spPr>
          <a:xfrm>
            <a:off x="7086600" y="1920240"/>
            <a:ext cx="4507992" cy="1691640"/>
          </a:xfrm>
          <a:prstGeom prst="roundRect">
            <a:avLst>
              <a:gd name="adj" fmla="val 4324"/>
            </a:avLst>
          </a:prstGeom>
          <a:solidFill>
            <a:srgbClr val="1B2430"/>
          </a:solidFill>
          <a:ln/>
        </p:spPr>
      </p:sp>
      <p:sp>
        <p:nvSpPr>
          <p:cNvPr id="21" name="Text 19"/>
          <p:cNvSpPr txBox="1"/>
          <p:nvPr/>
        </p:nvSpPr>
        <p:spPr>
          <a:xfrm>
            <a:off x="7406640" y="2148840"/>
            <a:ext cx="3840480" cy="274320"/>
          </a:xfrm>
          <a:prstGeom prst="rect">
            <a:avLst/>
          </a:prstGeom>
          <a:noFill/>
          <a:ln/>
        </p:spPr>
        <p:txBody>
          <a:bodyPr wrap="square" lIns="0" tIns="0" rIns="0" bIns="0" rtlCol="0" anchor="t"/>
          <a:lstStyle/>
          <a:p>
            <a:pPr algn="l" indent="0" marL="0">
              <a:lnSpc>
                <a:spcPct val="115000"/>
              </a:lnSpc>
              <a:buNone/>
            </a:pPr>
            <a:r>
              <a:rPr lang="en-US" sz="1100" dirty="0">
                <a:solidFill>
                  <a:srgbClr val="9AA6B2"/>
                </a:solidFill>
                <a:latin typeface="Calibri" pitchFamily="34" charset="0"/>
                <a:ea typeface="Calibri" pitchFamily="34" charset="-122"/>
                <a:cs typeface="Calibri" pitchFamily="34" charset="-120"/>
              </a:rPr>
              <a:t>Sai da reunião com</a:t>
            </a:r>
            <a:endParaRPr lang="en-US" sz="1100" dirty="0"/>
          </a:p>
        </p:txBody>
      </p:sp>
      <p:sp>
        <p:nvSpPr>
          <p:cNvPr id="22" name="Text 20"/>
          <p:cNvSpPr txBox="1"/>
          <p:nvPr/>
        </p:nvSpPr>
        <p:spPr>
          <a:xfrm>
            <a:off x="7406640" y="2468880"/>
            <a:ext cx="3931920" cy="502920"/>
          </a:xfrm>
          <a:prstGeom prst="rect">
            <a:avLst/>
          </a:prstGeom>
          <a:noFill/>
          <a:ln/>
        </p:spPr>
        <p:txBody>
          <a:bodyPr wrap="square" lIns="0" tIns="0" rIns="0" bIns="0" rtlCol="0" anchor="t"/>
          <a:lstStyle/>
          <a:p>
            <a:pPr algn="l" indent="0" marL="0">
              <a:lnSpc>
                <a:spcPct val="115000"/>
              </a:lnSpc>
              <a:buNone/>
            </a:pPr>
            <a:r>
              <a:rPr lang="en-US" sz="1500" b="1" dirty="0">
                <a:solidFill>
                  <a:srgbClr val="FFFFFF"/>
                </a:solidFill>
                <a:latin typeface="Calibri" pitchFamily="34" charset="0"/>
                <a:ea typeface="Calibri" pitchFamily="34" charset="-122"/>
                <a:cs typeface="Calibri" pitchFamily="34" charset="-120"/>
              </a:rPr>
              <a:t>1 ação · 1 responsável · 1 data</a:t>
            </a:r>
            <a:endParaRPr lang="en-US" sz="1500" dirty="0"/>
          </a:p>
        </p:txBody>
      </p:sp>
      <p:sp>
        <p:nvSpPr>
          <p:cNvPr id="23" name="Text 21"/>
          <p:cNvSpPr txBox="1"/>
          <p:nvPr/>
        </p:nvSpPr>
        <p:spPr>
          <a:xfrm>
            <a:off x="7406640" y="3017520"/>
            <a:ext cx="3840480" cy="274320"/>
          </a:xfrm>
          <a:prstGeom prst="rect">
            <a:avLst/>
          </a:prstGeom>
          <a:noFill/>
          <a:ln/>
        </p:spPr>
        <p:txBody>
          <a:bodyPr wrap="square" lIns="0" tIns="0" rIns="0" bIns="0" rtlCol="0" anchor="t"/>
          <a:lstStyle/>
          <a:p>
            <a:pPr algn="l" indent="0" marL="0">
              <a:lnSpc>
                <a:spcPct val="115000"/>
              </a:lnSpc>
              <a:buNone/>
            </a:pPr>
            <a:r>
              <a:rPr lang="en-US" sz="1150" b="1" dirty="0">
                <a:solidFill>
                  <a:srgbClr val="E8833A"/>
                </a:solidFill>
                <a:latin typeface="Calibri" pitchFamily="34" charset="0"/>
                <a:ea typeface="Calibri" pitchFamily="34" charset="-122"/>
                <a:cs typeface="Calibri" pitchFamily="34" charset="-120"/>
              </a:rPr>
              <a:t>Ninguém levanta sem as três.</a:t>
            </a:r>
            <a:endParaRPr lang="en-US" sz="1150" dirty="0"/>
          </a:p>
        </p:txBody>
      </p:sp>
      <p:sp>
        <p:nvSpPr>
          <p:cNvPr id="24" name="Shape 22"/>
          <p:cNvSpPr/>
          <p:nvPr/>
        </p:nvSpPr>
        <p:spPr>
          <a:xfrm>
            <a:off x="7086600" y="3886200"/>
            <a:ext cx="4507992" cy="1828800"/>
          </a:xfrm>
          <a:prstGeom prst="roundRect">
            <a:avLst>
              <a:gd name="adj" fmla="val 4000"/>
            </a:avLst>
          </a:prstGeom>
          <a:solidFill>
            <a:srgbClr val="F4F6F8"/>
          </a:solidFill>
          <a:ln/>
        </p:spPr>
      </p:sp>
      <p:sp>
        <p:nvSpPr>
          <p:cNvPr id="25" name="Text 23"/>
          <p:cNvSpPr txBox="1"/>
          <p:nvPr/>
        </p:nvSpPr>
        <p:spPr>
          <a:xfrm>
            <a:off x="7406640" y="4114800"/>
            <a:ext cx="3840480" cy="274320"/>
          </a:xfrm>
          <a:prstGeom prst="rect">
            <a:avLst/>
          </a:prstGeom>
          <a:noFill/>
          <a:ln/>
        </p:spPr>
        <p:txBody>
          <a:bodyPr wrap="square" lIns="0" tIns="0" rIns="0" bIns="0" rtlCol="0" anchor="t"/>
          <a:lstStyle/>
          <a:p>
            <a:pPr algn="l" indent="0" marL="0">
              <a:lnSpc>
                <a:spcPct val="115000"/>
              </a:lnSpc>
              <a:buNone/>
            </a:pPr>
            <a:r>
              <a:rPr lang="en-US" sz="950" b="1" dirty="0">
                <a:solidFill>
                  <a:srgbClr val="6B7785"/>
                </a:solidFill>
                <a:latin typeface="Calibri" pitchFamily="34" charset="0"/>
                <a:ea typeface="Calibri" pitchFamily="34" charset="-122"/>
                <a:cs typeface="Calibri" pitchFamily="34" charset="-120"/>
              </a:rPr>
              <a:t>E DUAS DECISÕES ATÉ O DIA 30</a:t>
            </a:r>
            <a:endParaRPr lang="en-US" sz="950" dirty="0"/>
          </a:p>
        </p:txBody>
      </p:sp>
      <p:sp>
        <p:nvSpPr>
          <p:cNvPr id="26" name="Text 24"/>
          <p:cNvSpPr txBox="1"/>
          <p:nvPr/>
        </p:nvSpPr>
        <p:spPr>
          <a:xfrm>
            <a:off x="7406640" y="4462272"/>
            <a:ext cx="3840480" cy="822960"/>
          </a:xfrm>
          <a:prstGeom prst="rect">
            <a:avLst/>
          </a:prstGeom>
          <a:noFill/>
          <a:ln/>
        </p:spPr>
        <p:txBody>
          <a:bodyPr wrap="square" lIns="0" tIns="0" rIns="0" bIns="0" rtlCol="0" anchor="t"/>
          <a:lstStyle/>
          <a:p>
            <a:pPr algn="l" indent="0" marL="0">
              <a:lnSpc>
                <a:spcPct val="130000"/>
              </a:lnSpc>
              <a:buNone/>
            </a:pPr>
            <a:r>
              <a:rPr lang="en-US" sz="1300" b="1" dirty="0">
                <a:solidFill>
                  <a:srgbClr val="1B2430"/>
                </a:solidFill>
                <a:latin typeface="Calibri" pitchFamily="34" charset="0"/>
                <a:ea typeface="Calibri" pitchFamily="34" charset="-122"/>
                <a:cs typeface="Calibri" pitchFamily="34" charset="-120"/>
              </a:rPr>
              <a:t>Política de desconto escrita, com teto</a:t>
            </a:r>
            <a:endParaRPr lang="en-US" sz="1300" dirty="0"/>
          </a:p>
          <a:p>
            <a:pPr algn="l" indent="0" marL="0">
              <a:lnSpc>
                <a:spcPct val="130000"/>
              </a:lnSpc>
              <a:buNone/>
            </a:pPr>
            <a:r>
              <a:rPr lang="en-US" sz="1300" b="1" dirty="0">
                <a:solidFill>
                  <a:srgbClr val="1B2430"/>
                </a:solidFill>
                <a:latin typeface="Calibri" pitchFamily="34" charset="0"/>
                <a:ea typeface="Calibri" pitchFamily="34" charset="-122"/>
                <a:cs typeface="Calibri" pitchFamily="34" charset="-120"/>
              </a:rPr>
              <a:t>Regra de comissão sobre margem, não sobre faturamento</a:t>
            </a:r>
            <a:endParaRPr lang="en-US" sz="1300" dirty="0"/>
          </a:p>
        </p:txBody>
      </p:sp>
      <p:sp>
        <p:nvSpPr>
          <p:cNvPr id="27" name="Text 25"/>
          <p:cNvSpPr txBox="1"/>
          <p:nvPr/>
        </p:nvSpPr>
        <p:spPr>
          <a:xfrm>
            <a:off x="7406640" y="5321808"/>
            <a:ext cx="3840480" cy="320040"/>
          </a:xfrm>
          <a:prstGeom prst="rect">
            <a:avLst/>
          </a:prstGeom>
          <a:noFill/>
          <a:ln/>
        </p:spPr>
        <p:txBody>
          <a:bodyPr wrap="square" lIns="0" tIns="0" rIns="0" bIns="0" rtlCol="0" anchor="t"/>
          <a:lstStyle/>
          <a:p>
            <a:pPr algn="l" indent="0" marL="0">
              <a:lnSpc>
                <a:spcPct val="115000"/>
              </a:lnSpc>
              <a:buNone/>
            </a:pPr>
            <a:r>
              <a:rPr lang="en-US" sz="1100" dirty="0">
                <a:solidFill>
                  <a:srgbClr val="6B7785"/>
                </a:solidFill>
                <a:latin typeface="Calibri" pitchFamily="34" charset="0"/>
                <a:ea typeface="Calibri" pitchFamily="34" charset="-122"/>
                <a:cs typeface="Calibri" pitchFamily="34" charset="-120"/>
              </a:rPr>
              <a:t>Antes de existir vendedor. Corrigir depois não é ajuste, é conflito.</a:t>
            </a:r>
            <a:endParaRPr lang="en-US" sz="1100" dirty="0"/>
          </a:p>
        </p:txBody>
      </p:sp>
      <p:sp>
        <p:nvSpPr>
          <p:cNvPr id="28" name="Text 26"/>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componente: Mentoria Comercial · entra no dia 1 · a reunião semanal é KPI de primeira classe: 4 de 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Você para de receber 60 conversas</a:t>
            </a:r>
            <a:endParaRPr lang="en-US" sz="2700" dirty="0"/>
          </a:p>
          <a:p>
            <a:pPr algn="l" indent="0" marL="0">
              <a:lnSpc>
                <a:spcPct val="95000"/>
              </a:lnSpc>
              <a:buNone/>
            </a:pPr>
            <a:r>
              <a:rPr lang="en-US" sz="2700" b="1" dirty="0">
                <a:solidFill>
                  <a:srgbClr val="1B2430"/>
                </a:solidFill>
                <a:latin typeface="Cambria" pitchFamily="34" charset="0"/>
                <a:ea typeface="Cambria" pitchFamily="34" charset="-122"/>
                <a:cs typeface="Cambria" pitchFamily="34" charset="-120"/>
              </a:rPr>
              <a:t>e passa a receber oportunidades prontas</a:t>
            </a:r>
            <a:endParaRPr lang="en-US" sz="2700" dirty="0"/>
          </a:p>
        </p:txBody>
      </p:sp>
      <p:sp>
        <p:nvSpPr>
          <p:cNvPr id="3" name="Shape 1"/>
          <p:cNvSpPr/>
          <p:nvPr/>
        </p:nvSpPr>
        <p:spPr>
          <a:xfrm>
            <a:off x="594360" y="1874520"/>
            <a:ext cx="5029200" cy="3063240"/>
          </a:xfrm>
          <a:prstGeom prst="roundRect">
            <a:avLst>
              <a:gd name="adj" fmla="val 2388"/>
            </a:avLst>
          </a:prstGeom>
          <a:solidFill>
            <a:srgbClr val="F4F6F8"/>
          </a:solidFill>
          <a:ln/>
        </p:spPr>
      </p:sp>
      <p:sp>
        <p:nvSpPr>
          <p:cNvPr id="4" name="Text 2"/>
          <p:cNvSpPr txBox="1"/>
          <p:nvPr/>
        </p:nvSpPr>
        <p:spPr>
          <a:xfrm>
            <a:off x="960120" y="2103120"/>
            <a:ext cx="4297680" cy="274320"/>
          </a:xfrm>
          <a:prstGeom prst="rect">
            <a:avLst/>
          </a:prstGeom>
          <a:noFill/>
          <a:ln/>
        </p:spPr>
        <p:txBody>
          <a:bodyPr wrap="square" lIns="0" tIns="0" rIns="0" bIns="0" rtlCol="0" anchor="t"/>
          <a:lstStyle/>
          <a:p>
            <a:pPr algn="l" indent="0" marL="0">
              <a:lnSpc>
                <a:spcPct val="115000"/>
              </a:lnSpc>
              <a:buNone/>
            </a:pPr>
            <a:r>
              <a:rPr lang="en-US" sz="1000" b="1" dirty="0">
                <a:solidFill>
                  <a:srgbClr val="6B7785"/>
                </a:solidFill>
                <a:latin typeface="Calibri" pitchFamily="34" charset="0"/>
                <a:ea typeface="Calibri" pitchFamily="34" charset="-122"/>
                <a:cs typeface="Calibri" pitchFamily="34" charset="-120"/>
              </a:rPr>
              <a:t>HOJE</a:t>
            </a:r>
            <a:endParaRPr lang="en-US" sz="1000" dirty="0"/>
          </a:p>
        </p:txBody>
      </p:sp>
      <p:sp>
        <p:nvSpPr>
          <p:cNvPr id="5" name="Text 3"/>
          <p:cNvSpPr txBox="1"/>
          <p:nvPr/>
        </p:nvSpPr>
        <p:spPr>
          <a:xfrm>
            <a:off x="960120" y="2514600"/>
            <a:ext cx="4297680" cy="411480"/>
          </a:xfrm>
          <a:prstGeom prst="rect">
            <a:avLst/>
          </a:prstGeom>
          <a:noFill/>
          <a:ln/>
        </p:spPr>
        <p:txBody>
          <a:bodyPr wrap="square" lIns="0" tIns="0" rIns="0" bIns="0" rtlCol="0" anchor="t"/>
          <a:lstStyle/>
          <a:p>
            <a:pPr algn="l" indent="0" marL="0">
              <a:lnSpc>
                <a:spcPct val="110000"/>
              </a:lnSpc>
              <a:buNone/>
            </a:pPr>
            <a:r>
              <a:rPr lang="en-US" sz="1350" dirty="0">
                <a:solidFill>
                  <a:srgbClr val="6B7785"/>
                </a:solidFill>
                <a:latin typeface="Calibri" pitchFamily="34" charset="0"/>
                <a:ea typeface="Calibri" pitchFamily="34" charset="-122"/>
                <a:cs typeface="Calibri" pitchFamily="34" charset="-120"/>
              </a:rPr>
              <a:t>60 conversas caem no seu celular</a:t>
            </a:r>
            <a:endParaRPr lang="en-US" sz="1350" dirty="0"/>
          </a:p>
        </p:txBody>
      </p:sp>
      <p:sp>
        <p:nvSpPr>
          <p:cNvPr id="6" name="Text 4"/>
          <p:cNvSpPr txBox="1"/>
          <p:nvPr/>
        </p:nvSpPr>
        <p:spPr>
          <a:xfrm>
            <a:off x="960120" y="3063240"/>
            <a:ext cx="4297680" cy="411480"/>
          </a:xfrm>
          <a:prstGeom prst="rect">
            <a:avLst/>
          </a:prstGeom>
          <a:noFill/>
          <a:ln/>
        </p:spPr>
        <p:txBody>
          <a:bodyPr wrap="square" lIns="0" tIns="0" rIns="0" bIns="0" rtlCol="0" anchor="t"/>
          <a:lstStyle/>
          <a:p>
            <a:pPr algn="l" indent="0" marL="0">
              <a:lnSpc>
                <a:spcPct val="110000"/>
              </a:lnSpc>
              <a:buNone/>
            </a:pPr>
            <a:r>
              <a:rPr lang="en-US" sz="1350" dirty="0">
                <a:solidFill>
                  <a:srgbClr val="6B7785"/>
                </a:solidFill>
                <a:latin typeface="Calibri" pitchFamily="34" charset="0"/>
                <a:ea typeface="Calibri" pitchFamily="34" charset="-122"/>
                <a:cs typeface="Calibri" pitchFamily="34" charset="-120"/>
              </a:rPr>
              <a:t>você tria todas</a:t>
            </a:r>
            <a:endParaRPr lang="en-US" sz="1350" dirty="0"/>
          </a:p>
        </p:txBody>
      </p:sp>
      <p:sp>
        <p:nvSpPr>
          <p:cNvPr id="7" name="Text 5"/>
          <p:cNvSpPr txBox="1"/>
          <p:nvPr/>
        </p:nvSpPr>
        <p:spPr>
          <a:xfrm>
            <a:off x="960120" y="3611880"/>
            <a:ext cx="4297680" cy="411480"/>
          </a:xfrm>
          <a:prstGeom prst="rect">
            <a:avLst/>
          </a:prstGeom>
          <a:noFill/>
          <a:ln/>
        </p:spPr>
        <p:txBody>
          <a:bodyPr wrap="square" lIns="0" tIns="0" rIns="0" bIns="0" rtlCol="0" anchor="t"/>
          <a:lstStyle/>
          <a:p>
            <a:pPr algn="l" indent="0" marL="0">
              <a:lnSpc>
                <a:spcPct val="110000"/>
              </a:lnSpc>
              <a:buNone/>
            </a:pPr>
            <a:r>
              <a:rPr lang="en-US" sz="1350" dirty="0">
                <a:solidFill>
                  <a:srgbClr val="6B7785"/>
                </a:solidFill>
                <a:latin typeface="Calibri" pitchFamily="34" charset="0"/>
                <a:ea typeface="Calibri" pitchFamily="34" charset="-122"/>
                <a:cs typeface="Calibri" pitchFamily="34" charset="-120"/>
              </a:rPr>
              <a:t>10 min de resposta, em média</a:t>
            </a:r>
            <a:endParaRPr lang="en-US" sz="1350" dirty="0"/>
          </a:p>
        </p:txBody>
      </p:sp>
      <p:sp>
        <p:nvSpPr>
          <p:cNvPr id="8" name="Text 6"/>
          <p:cNvSpPr txBox="1"/>
          <p:nvPr/>
        </p:nvSpPr>
        <p:spPr>
          <a:xfrm>
            <a:off x="960120" y="4160520"/>
            <a:ext cx="4297680" cy="411480"/>
          </a:xfrm>
          <a:prstGeom prst="rect">
            <a:avLst/>
          </a:prstGeom>
          <a:noFill/>
          <a:ln/>
        </p:spPr>
        <p:txBody>
          <a:bodyPr wrap="square" lIns="0" tIns="0" rIns="0" bIns="0" rtlCol="0" anchor="t"/>
          <a:lstStyle/>
          <a:p>
            <a:pPr algn="l" indent="0" marL="0">
              <a:lnSpc>
                <a:spcPct val="110000"/>
              </a:lnSpc>
              <a:buNone/>
            </a:pPr>
            <a:r>
              <a:rPr lang="en-US" sz="1350" dirty="0">
                <a:solidFill>
                  <a:srgbClr val="6B7785"/>
                </a:solidFill>
                <a:latin typeface="Calibri" pitchFamily="34" charset="0"/>
                <a:ea typeface="Calibri" pitchFamily="34" charset="-122"/>
                <a:cs typeface="Calibri" pitchFamily="34" charset="-120"/>
              </a:rPr>
              <a:t>nada fica registrado</a:t>
            </a:r>
            <a:endParaRPr lang="en-US" sz="1350" dirty="0"/>
          </a:p>
        </p:txBody>
      </p:sp>
      <p:sp>
        <p:nvSpPr>
          <p:cNvPr id="9" name="Shape 7"/>
          <p:cNvSpPr/>
          <p:nvPr/>
        </p:nvSpPr>
        <p:spPr>
          <a:xfrm>
            <a:off x="5989320" y="1874520"/>
            <a:ext cx="5605272" cy="3063240"/>
          </a:xfrm>
          <a:prstGeom prst="roundRect">
            <a:avLst>
              <a:gd name="adj" fmla="val 2388"/>
            </a:avLst>
          </a:prstGeom>
          <a:solidFill>
            <a:srgbClr val="1B2430"/>
          </a:solidFill>
          <a:ln/>
        </p:spPr>
      </p:sp>
      <p:sp>
        <p:nvSpPr>
          <p:cNvPr id="10" name="Text 8"/>
          <p:cNvSpPr txBox="1"/>
          <p:nvPr/>
        </p:nvSpPr>
        <p:spPr>
          <a:xfrm>
            <a:off x="6355080" y="2103120"/>
            <a:ext cx="4846320" cy="274320"/>
          </a:xfrm>
          <a:prstGeom prst="rect">
            <a:avLst/>
          </a:prstGeom>
          <a:noFill/>
          <a:ln/>
        </p:spPr>
        <p:txBody>
          <a:bodyPr wrap="square" lIns="0" tIns="0" rIns="0" bIns="0" rtlCol="0" anchor="t"/>
          <a:lstStyle/>
          <a:p>
            <a:pPr algn="l" indent="0" marL="0">
              <a:lnSpc>
                <a:spcPct val="115000"/>
              </a:lnSpc>
              <a:buNone/>
            </a:pPr>
            <a:r>
              <a:rPr lang="en-US" sz="1000" b="1" dirty="0">
                <a:solidFill>
                  <a:srgbClr val="E8833A"/>
                </a:solidFill>
                <a:latin typeface="Calibri" pitchFamily="34" charset="0"/>
                <a:ea typeface="Calibri" pitchFamily="34" charset="-122"/>
                <a:cs typeface="Calibri" pitchFamily="34" charset="-120"/>
              </a:rPr>
              <a:t>COM O PROGRAMA</a:t>
            </a:r>
            <a:endParaRPr lang="en-US" sz="1000" dirty="0"/>
          </a:p>
        </p:txBody>
      </p:sp>
      <p:sp>
        <p:nvSpPr>
          <p:cNvPr id="11" name="Text 9"/>
          <p:cNvSpPr txBox="1"/>
          <p:nvPr/>
        </p:nvSpPr>
        <p:spPr>
          <a:xfrm>
            <a:off x="6355080" y="2487168"/>
            <a:ext cx="4846320" cy="411480"/>
          </a:xfrm>
          <a:prstGeom prst="rect">
            <a:avLst/>
          </a:prstGeom>
          <a:noFill/>
          <a:ln/>
        </p:spPr>
        <p:txBody>
          <a:bodyPr wrap="square" lIns="0" tIns="0" rIns="0" bIns="0" rtlCol="0" anchor="t"/>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resposta em menos de 1 minuto, 22h de domingo inclusive</a:t>
            </a:r>
            <a:endParaRPr lang="en-US" sz="1250" dirty="0"/>
          </a:p>
        </p:txBody>
      </p:sp>
      <p:sp>
        <p:nvSpPr>
          <p:cNvPr id="12" name="Text 10"/>
          <p:cNvSpPr txBox="1"/>
          <p:nvPr/>
        </p:nvSpPr>
        <p:spPr>
          <a:xfrm>
            <a:off x="6355080" y="2962656"/>
            <a:ext cx="4846320" cy="411480"/>
          </a:xfrm>
          <a:prstGeom prst="rect">
            <a:avLst/>
          </a:prstGeom>
          <a:noFill/>
          <a:ln/>
        </p:spPr>
        <p:txBody>
          <a:bodyPr wrap="square" lIns="0" tIns="0" rIns="0" bIns="0" rtlCol="0" anchor="t"/>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pede a conta de luz na primeira mensagem</a:t>
            </a:r>
            <a:endParaRPr lang="en-US" sz="1250" dirty="0"/>
          </a:p>
        </p:txBody>
      </p:sp>
      <p:sp>
        <p:nvSpPr>
          <p:cNvPr id="13" name="Text 11"/>
          <p:cNvSpPr txBox="1"/>
          <p:nvPr/>
        </p:nvSpPr>
        <p:spPr>
          <a:xfrm>
            <a:off x="6355080" y="3438144"/>
            <a:ext cx="4846320" cy="411480"/>
          </a:xfrm>
          <a:prstGeom prst="rect">
            <a:avLst/>
          </a:prstGeom>
          <a:noFill/>
          <a:ln/>
        </p:spPr>
        <p:txBody>
          <a:bodyPr wrap="square" lIns="0" tIns="0" rIns="0" bIns="0" rtlCol="0" anchor="t"/>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8 critérios conferidos, uma pergunta por vez</a:t>
            </a:r>
            <a:endParaRPr lang="en-US" sz="1250" dirty="0"/>
          </a:p>
        </p:txBody>
      </p:sp>
      <p:sp>
        <p:nvSpPr>
          <p:cNvPr id="14" name="Text 12"/>
          <p:cNvSpPr txBox="1"/>
          <p:nvPr/>
        </p:nvSpPr>
        <p:spPr>
          <a:xfrm>
            <a:off x="6355080" y="3913632"/>
            <a:ext cx="4846320" cy="411480"/>
          </a:xfrm>
          <a:prstGeom prst="rect">
            <a:avLst/>
          </a:prstGeom>
          <a:noFill/>
          <a:ln/>
        </p:spPr>
        <p:txBody>
          <a:bodyPr wrap="square" lIns="0" tIns="0" rIns="0" bIns="0" rtlCol="0" anchor="t"/>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chega na sua mesa dividido em A, B e C</a:t>
            </a:r>
            <a:endParaRPr lang="en-US" sz="1250" dirty="0"/>
          </a:p>
        </p:txBody>
      </p:sp>
      <p:sp>
        <p:nvSpPr>
          <p:cNvPr id="15" name="Text 13"/>
          <p:cNvSpPr txBox="1"/>
          <p:nvPr/>
        </p:nvSpPr>
        <p:spPr>
          <a:xfrm>
            <a:off x="6355080" y="4389120"/>
            <a:ext cx="4846320" cy="411480"/>
          </a:xfrm>
          <a:prstGeom prst="rect">
            <a:avLst/>
          </a:prstGeom>
          <a:noFill/>
          <a:ln/>
        </p:spPr>
        <p:txBody>
          <a:bodyPr wrap="square" lIns="0" tIns="0" rIns="0" bIns="0" rtlCol="0" anchor="t"/>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todo lead com etapa e motivo registrados</a:t>
            </a:r>
            <a:endParaRPr lang="en-US" sz="1250" dirty="0"/>
          </a:p>
        </p:txBody>
      </p:sp>
      <p:sp>
        <p:nvSpPr>
          <p:cNvPr id="16" name="Shape 14"/>
          <p:cNvSpPr/>
          <p:nvPr/>
        </p:nvSpPr>
        <p:spPr>
          <a:xfrm>
            <a:off x="594360" y="5166360"/>
            <a:ext cx="11002975" cy="868680"/>
          </a:xfrm>
          <a:prstGeom prst="roundRect">
            <a:avLst>
              <a:gd name="adj" fmla="val 8421"/>
            </a:avLst>
          </a:prstGeom>
          <a:solidFill>
            <a:srgbClr val="F4F6F8"/>
          </a:solidFill>
          <a:ln/>
        </p:spPr>
      </p:sp>
      <p:sp>
        <p:nvSpPr>
          <p:cNvPr id="17" name="Text 15"/>
          <p:cNvSpPr txBox="1"/>
          <p:nvPr/>
        </p:nvSpPr>
        <p:spPr>
          <a:xfrm>
            <a:off x="960120" y="5376672"/>
            <a:ext cx="6309360" cy="411480"/>
          </a:xfrm>
          <a:prstGeom prst="rect">
            <a:avLst/>
          </a:prstGeom>
          <a:noFill/>
          <a:ln/>
        </p:spPr>
        <p:txBody>
          <a:bodyPr wrap="square" lIns="0" tIns="0" rIns="0" bIns="0" rtlCol="0" anchor="t"/>
          <a:lstStyle/>
          <a:p>
            <a:pPr algn="l" indent="0" marL="0">
              <a:lnSpc>
                <a:spcPct val="115000"/>
              </a:lnSpc>
              <a:buNone/>
            </a:pPr>
            <a:r>
              <a:rPr lang="en-US" sz="1500" b="1" dirty="0">
                <a:solidFill>
                  <a:srgbClr val="1B2430"/>
                </a:solidFill>
                <a:latin typeface="Calibri" pitchFamily="34" charset="0"/>
                <a:ea typeface="Calibri" pitchFamily="34" charset="-122"/>
                <a:cs typeface="Calibri" pitchFamily="34" charset="-120"/>
              </a:rPr>
              <a:t>~17 horas/mês de volta na sua agenda ≈ 8 propostas</a:t>
            </a:r>
            <a:endParaRPr lang="en-US" sz="1500" dirty="0"/>
          </a:p>
        </p:txBody>
      </p:sp>
      <p:sp>
        <p:nvSpPr>
          <p:cNvPr id="18" name="Text 16"/>
          <p:cNvSpPr txBox="1"/>
          <p:nvPr/>
        </p:nvSpPr>
        <p:spPr>
          <a:xfrm>
            <a:off x="7360920" y="5422392"/>
            <a:ext cx="4297680" cy="320040"/>
          </a:xfrm>
          <a:prstGeom prst="rect">
            <a:avLst/>
          </a:prstGeom>
          <a:noFill/>
          <a:ln/>
        </p:spPr>
        <p:txBody>
          <a:bodyPr wrap="square" lIns="0" tIns="0" rIns="0" bIns="0" rtlCol="0" anchor="t"/>
          <a:lstStyle/>
          <a:p>
            <a:pPr algn="r" indent="0" marL="0">
              <a:lnSpc>
                <a:spcPct val="115000"/>
              </a:lnSpc>
              <a:buNone/>
            </a:pPr>
            <a:r>
              <a:rPr lang="en-US" sz="1200" b="1" dirty="0">
                <a:solidFill>
                  <a:srgbClr val="E8833A"/>
                </a:solidFill>
                <a:latin typeface="Calibri" pitchFamily="34" charset="0"/>
                <a:ea typeface="Calibri" pitchFamily="34" charset="-122"/>
                <a:cs typeface="Calibri" pitchFamily="34" charset="-120"/>
              </a:rPr>
              <a:t>E o registro acende a luz nas três etapas cegas.</a:t>
            </a:r>
            <a:endParaRPr lang="en-US" sz="1200" dirty="0"/>
          </a:p>
        </p:txBody>
      </p:sp>
      <p:sp>
        <p:nvSpPr>
          <p:cNvPr id="19" name="Text 17"/>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as 17 horas são ESTIMATIVA nossa, não medição — confiança baixa, e é a primeira coisa que a gente confere na call · componente: atendimento e qualificação · entra no dia 1</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2500" b="1" dirty="0">
                <a:solidFill>
                  <a:srgbClr val="1B2430"/>
                </a:solidFill>
                <a:latin typeface="Cambria" pitchFamily="34" charset="0"/>
                <a:ea typeface="Cambria" pitchFamily="34" charset="-122"/>
                <a:cs typeface="Cambria" pitchFamily="34" charset="-120"/>
              </a:rPr>
              <a:t>Enquanto o investimento ficar abaixo de R$ 10.900</a:t>
            </a:r>
            <a:endParaRPr lang="en-US" sz="2500" dirty="0"/>
          </a:p>
          <a:p>
            <a:pPr algn="l" indent="0" marL="0">
              <a:lnSpc>
                <a:spcPct val="95000"/>
              </a:lnSpc>
              <a:buNone/>
            </a:pPr>
            <a:r>
              <a:rPr lang="en-US" sz="2500" b="1" dirty="0">
                <a:solidFill>
                  <a:srgbClr val="1B2430"/>
                </a:solidFill>
                <a:latin typeface="Cambria" pitchFamily="34" charset="0"/>
                <a:ea typeface="Cambria" pitchFamily="34" charset="-122"/>
                <a:cs typeface="Cambria" pitchFamily="34" charset="-120"/>
              </a:rPr>
              <a:t>por mês, ele se paga dentro do próprio mês</a:t>
            </a:r>
            <a:endParaRPr lang="en-US" sz="2500" dirty="0"/>
          </a:p>
        </p:txBody>
      </p:sp>
      <p:sp>
        <p:nvSpPr>
          <p:cNvPr id="3" name="Shape 1"/>
          <p:cNvSpPr/>
          <p:nvPr/>
        </p:nvSpPr>
        <p:spPr>
          <a:xfrm>
            <a:off x="594360" y="2011680"/>
            <a:ext cx="6492240" cy="566928"/>
          </a:xfrm>
          <a:prstGeom prst="roundRect">
            <a:avLst>
              <a:gd name="adj" fmla="val 12903"/>
            </a:avLst>
          </a:prstGeom>
          <a:solidFill>
            <a:srgbClr val="F4F6F8"/>
          </a:solidFill>
          <a:ln/>
        </p:spPr>
      </p:sp>
      <p:sp>
        <p:nvSpPr>
          <p:cNvPr id="4" name="Text 2"/>
          <p:cNvSpPr txBox="1"/>
          <p:nvPr/>
        </p:nvSpPr>
        <p:spPr>
          <a:xfrm>
            <a:off x="914400" y="2167128"/>
            <a:ext cx="3291840" cy="32004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Mentoria Comercial</a:t>
            </a:r>
            <a:endParaRPr lang="en-US" sz="1350" dirty="0"/>
          </a:p>
        </p:txBody>
      </p:sp>
      <p:sp>
        <p:nvSpPr>
          <p:cNvPr id="5" name="Text 3"/>
          <p:cNvSpPr txBox="1"/>
          <p:nvPr/>
        </p:nvSpPr>
        <p:spPr>
          <a:xfrm>
            <a:off x="4343400" y="2185416"/>
            <a:ext cx="914400" cy="274320"/>
          </a:xfrm>
          <a:prstGeom prst="rect">
            <a:avLst/>
          </a:prstGeom>
          <a:noFill/>
          <a:ln/>
        </p:spPr>
        <p:txBody>
          <a:bodyPr wrap="square" lIns="0" tIns="0" rIns="0" bIns="0" rtlCol="0" anchor="t"/>
          <a:lstStyle/>
          <a:p>
            <a:pPr algn="l" indent="0" marL="0">
              <a:lnSpc>
                <a:spcPct val="115000"/>
              </a:lnSpc>
              <a:buNone/>
            </a:pPr>
            <a:r>
              <a:rPr lang="en-US" sz="1100" dirty="0">
                <a:solidFill>
                  <a:srgbClr val="6B7785"/>
                </a:solidFill>
                <a:latin typeface="Calibri" pitchFamily="34" charset="0"/>
                <a:ea typeface="Calibri" pitchFamily="34" charset="-122"/>
                <a:cs typeface="Calibri" pitchFamily="34" charset="-120"/>
              </a:rPr>
              <a:t>dia 1</a:t>
            </a:r>
            <a:endParaRPr lang="en-US" sz="1100" dirty="0"/>
          </a:p>
        </p:txBody>
      </p:sp>
      <p:sp>
        <p:nvSpPr>
          <p:cNvPr id="6" name="Text 4"/>
          <p:cNvSpPr txBox="1"/>
          <p:nvPr/>
        </p:nvSpPr>
        <p:spPr>
          <a:xfrm>
            <a:off x="5166360" y="2167128"/>
            <a:ext cx="1600200" cy="320040"/>
          </a:xfrm>
          <a:prstGeom prst="rect">
            <a:avLst/>
          </a:prstGeom>
          <a:noFill/>
          <a:ln/>
        </p:spPr>
        <p:txBody>
          <a:bodyPr wrap="square" lIns="0" tIns="0" rIns="0" bIns="0" rtlCol="0" anchor="t"/>
          <a:lstStyle/>
          <a:p>
            <a:pPr algn="r" indent="0" marL="0">
              <a:lnSpc>
                <a:spcPct val="115000"/>
              </a:lnSpc>
              <a:buNone/>
            </a:pPr>
            <a:r>
              <a:rPr lang="en-US" sz="1200" i="1" dirty="0">
                <a:solidFill>
                  <a:srgbClr val="E8833A"/>
                </a:solidFill>
                <a:latin typeface="Calibri" pitchFamily="34" charset="0"/>
                <a:ea typeface="Calibri" pitchFamily="34" charset="-122"/>
                <a:cs typeface="Calibri" pitchFamily="34" charset="-120"/>
              </a:rPr>
              <a:t>‹preencher›</a:t>
            </a:r>
            <a:endParaRPr lang="en-US" sz="1200" dirty="0"/>
          </a:p>
        </p:txBody>
      </p:sp>
      <p:sp>
        <p:nvSpPr>
          <p:cNvPr id="7" name="Shape 5"/>
          <p:cNvSpPr/>
          <p:nvPr/>
        </p:nvSpPr>
        <p:spPr>
          <a:xfrm>
            <a:off x="594360" y="2670048"/>
            <a:ext cx="6492240" cy="566928"/>
          </a:xfrm>
          <a:prstGeom prst="roundRect">
            <a:avLst>
              <a:gd name="adj" fmla="val 12903"/>
            </a:avLst>
          </a:prstGeom>
          <a:solidFill>
            <a:srgbClr val="F4F6F8"/>
          </a:solidFill>
          <a:ln/>
        </p:spPr>
      </p:sp>
      <p:sp>
        <p:nvSpPr>
          <p:cNvPr id="8" name="Text 6"/>
          <p:cNvSpPr txBox="1"/>
          <p:nvPr/>
        </p:nvSpPr>
        <p:spPr>
          <a:xfrm>
            <a:off x="914400" y="2825496"/>
            <a:ext cx="3291840" cy="32004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Atendimento e qualificação</a:t>
            </a:r>
            <a:endParaRPr lang="en-US" sz="1350" dirty="0"/>
          </a:p>
        </p:txBody>
      </p:sp>
      <p:sp>
        <p:nvSpPr>
          <p:cNvPr id="9" name="Text 7"/>
          <p:cNvSpPr txBox="1"/>
          <p:nvPr/>
        </p:nvSpPr>
        <p:spPr>
          <a:xfrm>
            <a:off x="4343400" y="2843784"/>
            <a:ext cx="914400" cy="274320"/>
          </a:xfrm>
          <a:prstGeom prst="rect">
            <a:avLst/>
          </a:prstGeom>
          <a:noFill/>
          <a:ln/>
        </p:spPr>
        <p:txBody>
          <a:bodyPr wrap="square" lIns="0" tIns="0" rIns="0" bIns="0" rtlCol="0" anchor="t"/>
          <a:lstStyle/>
          <a:p>
            <a:pPr algn="l" indent="0" marL="0">
              <a:lnSpc>
                <a:spcPct val="115000"/>
              </a:lnSpc>
              <a:buNone/>
            </a:pPr>
            <a:r>
              <a:rPr lang="en-US" sz="1100" dirty="0">
                <a:solidFill>
                  <a:srgbClr val="6B7785"/>
                </a:solidFill>
                <a:latin typeface="Calibri" pitchFamily="34" charset="0"/>
                <a:ea typeface="Calibri" pitchFamily="34" charset="-122"/>
                <a:cs typeface="Calibri" pitchFamily="34" charset="-120"/>
              </a:rPr>
              <a:t>dia 1</a:t>
            </a:r>
            <a:endParaRPr lang="en-US" sz="1100" dirty="0"/>
          </a:p>
        </p:txBody>
      </p:sp>
      <p:sp>
        <p:nvSpPr>
          <p:cNvPr id="10" name="Text 8"/>
          <p:cNvSpPr txBox="1"/>
          <p:nvPr/>
        </p:nvSpPr>
        <p:spPr>
          <a:xfrm>
            <a:off x="5166360" y="2825496"/>
            <a:ext cx="1600200" cy="320040"/>
          </a:xfrm>
          <a:prstGeom prst="rect">
            <a:avLst/>
          </a:prstGeom>
          <a:noFill/>
          <a:ln/>
        </p:spPr>
        <p:txBody>
          <a:bodyPr wrap="square" lIns="0" tIns="0" rIns="0" bIns="0" rtlCol="0" anchor="t"/>
          <a:lstStyle/>
          <a:p>
            <a:pPr algn="r" indent="0" marL="0">
              <a:lnSpc>
                <a:spcPct val="115000"/>
              </a:lnSpc>
              <a:buNone/>
            </a:pPr>
            <a:r>
              <a:rPr lang="en-US" sz="1200" i="1" dirty="0">
                <a:solidFill>
                  <a:srgbClr val="E8833A"/>
                </a:solidFill>
                <a:latin typeface="Calibri" pitchFamily="34" charset="0"/>
                <a:ea typeface="Calibri" pitchFamily="34" charset="-122"/>
                <a:cs typeface="Calibri" pitchFamily="34" charset="-120"/>
              </a:rPr>
              <a:t>‹preencher›</a:t>
            </a:r>
            <a:endParaRPr lang="en-US" sz="1200" dirty="0"/>
          </a:p>
        </p:txBody>
      </p:sp>
      <p:sp>
        <p:nvSpPr>
          <p:cNvPr id="11" name="Shape 9"/>
          <p:cNvSpPr/>
          <p:nvPr/>
        </p:nvSpPr>
        <p:spPr>
          <a:xfrm>
            <a:off x="594360" y="3328416"/>
            <a:ext cx="6492240" cy="566928"/>
          </a:xfrm>
          <a:prstGeom prst="roundRect">
            <a:avLst>
              <a:gd name="adj" fmla="val 12903"/>
            </a:avLst>
          </a:prstGeom>
          <a:solidFill>
            <a:srgbClr val="F4F6F8"/>
          </a:solidFill>
          <a:ln/>
        </p:spPr>
      </p:sp>
      <p:sp>
        <p:nvSpPr>
          <p:cNvPr id="12" name="Text 10"/>
          <p:cNvSpPr txBox="1"/>
          <p:nvPr/>
        </p:nvSpPr>
        <p:spPr>
          <a:xfrm>
            <a:off x="914400" y="3483864"/>
            <a:ext cx="3291840" cy="320040"/>
          </a:xfrm>
          <a:prstGeom prst="rect">
            <a:avLst/>
          </a:prstGeom>
          <a:noFill/>
          <a:ln/>
        </p:spPr>
        <p:txBody>
          <a:bodyPr wrap="square" lIns="0" tIns="0" rIns="0" bIns="0" rtlCol="0" anchor="t"/>
          <a:lstStyle/>
          <a:p>
            <a:pPr algn="l" indent="0" marL="0">
              <a:lnSpc>
                <a:spcPct val="115000"/>
              </a:lnSpc>
              <a:buNone/>
            </a:pPr>
            <a:r>
              <a:rPr lang="en-US" sz="1350" b="1" dirty="0">
                <a:solidFill>
                  <a:srgbClr val="1B2430"/>
                </a:solidFill>
                <a:latin typeface="Calibri" pitchFamily="34" charset="0"/>
                <a:ea typeface="Calibri" pitchFamily="34" charset="-122"/>
                <a:cs typeface="Calibri" pitchFamily="34" charset="-120"/>
              </a:rPr>
              <a:t>Cadência pós-proposta</a:t>
            </a:r>
            <a:endParaRPr lang="en-US" sz="1350" dirty="0"/>
          </a:p>
        </p:txBody>
      </p:sp>
      <p:sp>
        <p:nvSpPr>
          <p:cNvPr id="13" name="Text 11"/>
          <p:cNvSpPr txBox="1"/>
          <p:nvPr/>
        </p:nvSpPr>
        <p:spPr>
          <a:xfrm>
            <a:off x="4343400" y="3502152"/>
            <a:ext cx="914400" cy="274320"/>
          </a:xfrm>
          <a:prstGeom prst="rect">
            <a:avLst/>
          </a:prstGeom>
          <a:noFill/>
          <a:ln/>
        </p:spPr>
        <p:txBody>
          <a:bodyPr wrap="square" lIns="0" tIns="0" rIns="0" bIns="0" rtlCol="0" anchor="t"/>
          <a:lstStyle/>
          <a:p>
            <a:pPr algn="l" indent="0" marL="0">
              <a:lnSpc>
                <a:spcPct val="115000"/>
              </a:lnSpc>
              <a:buNone/>
            </a:pPr>
            <a:r>
              <a:rPr lang="en-US" sz="1100" dirty="0">
                <a:solidFill>
                  <a:srgbClr val="6B7785"/>
                </a:solidFill>
                <a:latin typeface="Calibri" pitchFamily="34" charset="0"/>
                <a:ea typeface="Calibri" pitchFamily="34" charset="-122"/>
                <a:cs typeface="Calibri" pitchFamily="34" charset="-120"/>
              </a:rPr>
              <a:t>dia 31</a:t>
            </a:r>
            <a:endParaRPr lang="en-US" sz="1100" dirty="0"/>
          </a:p>
        </p:txBody>
      </p:sp>
      <p:sp>
        <p:nvSpPr>
          <p:cNvPr id="14" name="Text 12"/>
          <p:cNvSpPr txBox="1"/>
          <p:nvPr/>
        </p:nvSpPr>
        <p:spPr>
          <a:xfrm>
            <a:off x="5166360" y="3483864"/>
            <a:ext cx="1600200" cy="320040"/>
          </a:xfrm>
          <a:prstGeom prst="rect">
            <a:avLst/>
          </a:prstGeom>
          <a:noFill/>
          <a:ln/>
        </p:spPr>
        <p:txBody>
          <a:bodyPr wrap="square" lIns="0" tIns="0" rIns="0" bIns="0" rtlCol="0" anchor="t"/>
          <a:lstStyle/>
          <a:p>
            <a:pPr algn="r" indent="0" marL="0">
              <a:lnSpc>
                <a:spcPct val="115000"/>
              </a:lnSpc>
              <a:buNone/>
            </a:pPr>
            <a:r>
              <a:rPr lang="en-US" sz="1200" i="1" dirty="0">
                <a:solidFill>
                  <a:srgbClr val="E8833A"/>
                </a:solidFill>
                <a:latin typeface="Calibri" pitchFamily="34" charset="0"/>
                <a:ea typeface="Calibri" pitchFamily="34" charset="-122"/>
                <a:cs typeface="Calibri" pitchFamily="34" charset="-120"/>
              </a:rPr>
              <a:t>‹preencher›</a:t>
            </a:r>
            <a:endParaRPr lang="en-US" sz="1200" dirty="0"/>
          </a:p>
        </p:txBody>
      </p:sp>
      <p:sp>
        <p:nvSpPr>
          <p:cNvPr id="15" name="Shape 13"/>
          <p:cNvSpPr/>
          <p:nvPr/>
        </p:nvSpPr>
        <p:spPr>
          <a:xfrm>
            <a:off x="594360" y="4041648"/>
            <a:ext cx="6492240" cy="566928"/>
          </a:xfrm>
          <a:prstGeom prst="roundRect">
            <a:avLst>
              <a:gd name="adj" fmla="val 12903"/>
            </a:avLst>
          </a:prstGeom>
          <a:solidFill>
            <a:srgbClr val="1B2430"/>
          </a:solidFill>
          <a:ln/>
        </p:spPr>
      </p:sp>
      <p:sp>
        <p:nvSpPr>
          <p:cNvPr id="16" name="Text 14"/>
          <p:cNvSpPr txBox="1"/>
          <p:nvPr/>
        </p:nvSpPr>
        <p:spPr>
          <a:xfrm>
            <a:off x="914400" y="4206240"/>
            <a:ext cx="3291840" cy="320040"/>
          </a:xfrm>
          <a:prstGeom prst="rect">
            <a:avLst/>
          </a:prstGeom>
          <a:noFill/>
          <a:ln/>
        </p:spPr>
        <p:txBody>
          <a:bodyPr wrap="square" lIns="0" tIns="0" rIns="0" bIns="0" rtlCol="0" anchor="t"/>
          <a:lstStyle/>
          <a:p>
            <a:pPr algn="l" indent="0" marL="0">
              <a:lnSpc>
                <a:spcPct val="115000"/>
              </a:lnSpc>
              <a:buNone/>
            </a:pPr>
            <a:r>
              <a:rPr lang="en-US" sz="1300" b="1" dirty="0">
                <a:solidFill>
                  <a:srgbClr val="FFFFFF"/>
                </a:solidFill>
                <a:latin typeface="Calibri" pitchFamily="34" charset="0"/>
                <a:ea typeface="Calibri" pitchFamily="34" charset="-122"/>
                <a:cs typeface="Calibri" pitchFamily="34" charset="-120"/>
              </a:rPr>
              <a:t>TOTAL MENSAL</a:t>
            </a:r>
            <a:endParaRPr lang="en-US" sz="1300" dirty="0"/>
          </a:p>
        </p:txBody>
      </p:sp>
      <p:sp>
        <p:nvSpPr>
          <p:cNvPr id="17" name="Text 15"/>
          <p:cNvSpPr txBox="1"/>
          <p:nvPr/>
        </p:nvSpPr>
        <p:spPr>
          <a:xfrm>
            <a:off x="5166360" y="4206240"/>
            <a:ext cx="1600200" cy="320040"/>
          </a:xfrm>
          <a:prstGeom prst="rect">
            <a:avLst/>
          </a:prstGeom>
          <a:noFill/>
          <a:ln/>
        </p:spPr>
        <p:txBody>
          <a:bodyPr wrap="square" lIns="0" tIns="0" rIns="0" bIns="0" rtlCol="0" anchor="t"/>
          <a:lstStyle/>
          <a:p>
            <a:pPr algn="r" indent="0" marL="0">
              <a:lnSpc>
                <a:spcPct val="115000"/>
              </a:lnSpc>
              <a:buNone/>
            </a:pPr>
            <a:r>
              <a:rPr lang="en-US" sz="1200" i="1" dirty="0">
                <a:solidFill>
                  <a:srgbClr val="E8833A"/>
                </a:solidFill>
                <a:latin typeface="Calibri" pitchFamily="34" charset="0"/>
                <a:ea typeface="Calibri" pitchFamily="34" charset="-122"/>
                <a:cs typeface="Calibri" pitchFamily="34" charset="-120"/>
              </a:rPr>
              <a:t>‹preencher›</a:t>
            </a:r>
            <a:endParaRPr lang="en-US" sz="1200" dirty="0"/>
          </a:p>
        </p:txBody>
      </p:sp>
      <p:sp>
        <p:nvSpPr>
          <p:cNvPr id="18" name="Shape 16"/>
          <p:cNvSpPr/>
          <p:nvPr/>
        </p:nvSpPr>
        <p:spPr>
          <a:xfrm>
            <a:off x="7635240" y="2011680"/>
            <a:ext cx="3959352" cy="2596896"/>
          </a:xfrm>
          <a:prstGeom prst="roundRect">
            <a:avLst>
              <a:gd name="adj" fmla="val 2817"/>
            </a:avLst>
          </a:prstGeom>
          <a:solidFill>
            <a:srgbClr val="F4F6F8"/>
          </a:solidFill>
          <a:ln/>
        </p:spPr>
      </p:sp>
      <p:sp>
        <p:nvSpPr>
          <p:cNvPr id="19" name="Text 17"/>
          <p:cNvSpPr txBox="1"/>
          <p:nvPr/>
        </p:nvSpPr>
        <p:spPr>
          <a:xfrm>
            <a:off x="7955280" y="2240280"/>
            <a:ext cx="3291840" cy="274320"/>
          </a:xfrm>
          <a:prstGeom prst="rect">
            <a:avLst/>
          </a:prstGeom>
          <a:noFill/>
          <a:ln/>
        </p:spPr>
        <p:txBody>
          <a:bodyPr wrap="square" lIns="0" tIns="0" rIns="0" bIns="0" rtlCol="0" anchor="t"/>
          <a:lstStyle/>
          <a:p>
            <a:pPr algn="l" indent="0" marL="0">
              <a:lnSpc>
                <a:spcPct val="115000"/>
              </a:lnSpc>
              <a:buNone/>
            </a:pPr>
            <a:r>
              <a:rPr lang="en-US" sz="950" b="1" dirty="0">
                <a:solidFill>
                  <a:srgbClr val="6B7785"/>
                </a:solidFill>
                <a:latin typeface="Calibri" pitchFamily="34" charset="0"/>
                <a:ea typeface="Calibri" pitchFamily="34" charset="-122"/>
                <a:cs typeface="Calibri" pitchFamily="34" charset="-120"/>
              </a:rPr>
              <a:t>O QUE JÁ SAI HOJE</a:t>
            </a:r>
            <a:endParaRPr lang="en-US" sz="950" dirty="0"/>
          </a:p>
        </p:txBody>
      </p:sp>
      <p:sp>
        <p:nvSpPr>
          <p:cNvPr id="20" name="Text 18"/>
          <p:cNvSpPr txBox="1"/>
          <p:nvPr/>
        </p:nvSpPr>
        <p:spPr>
          <a:xfrm>
            <a:off x="7955280" y="2560320"/>
            <a:ext cx="3291840" cy="594360"/>
          </a:xfrm>
          <a:prstGeom prst="rect">
            <a:avLst/>
          </a:prstGeom>
          <a:noFill/>
          <a:ln/>
        </p:spPr>
        <p:txBody>
          <a:bodyPr wrap="square" lIns="0" tIns="0" rIns="0" bIns="0" rtlCol="0" anchor="t"/>
          <a:lstStyle/>
          <a:p>
            <a:pPr algn="l" indent="0" marL="0">
              <a:lnSpc>
                <a:spcPct val="115000"/>
              </a:lnSpc>
              <a:buNone/>
            </a:pPr>
            <a:r>
              <a:rPr lang="en-US" sz="3200" b="1" dirty="0">
                <a:solidFill>
                  <a:srgbClr val="E8833A"/>
                </a:solidFill>
                <a:latin typeface="Calibri" pitchFamily="34" charset="0"/>
                <a:ea typeface="Calibri" pitchFamily="34" charset="-122"/>
                <a:cs typeface="Calibri" pitchFamily="34" charset="-120"/>
              </a:rPr>
              <a:t>R$ 10.900</a:t>
            </a:r>
            <a:endParaRPr lang="en-US" sz="3200" dirty="0"/>
          </a:p>
        </p:txBody>
      </p:sp>
      <p:sp>
        <p:nvSpPr>
          <p:cNvPr id="21" name="Text 19"/>
          <p:cNvSpPr txBox="1"/>
          <p:nvPr/>
        </p:nvSpPr>
        <p:spPr>
          <a:xfrm>
            <a:off x="7955280" y="3182112"/>
            <a:ext cx="3291840" cy="320040"/>
          </a:xfrm>
          <a:prstGeom prst="rect">
            <a:avLst/>
          </a:prstGeom>
          <a:noFill/>
          <a:ln/>
        </p:spPr>
        <p:txBody>
          <a:bodyPr wrap="square" lIns="0" tIns="0" rIns="0" bIns="0" rtlCol="0" anchor="t"/>
          <a:lstStyle/>
          <a:p>
            <a:pPr algn="l" indent="0" marL="0">
              <a:lnSpc>
                <a:spcPct val="115000"/>
              </a:lnSpc>
              <a:buNone/>
            </a:pPr>
            <a:r>
              <a:rPr lang="en-US" sz="1150" dirty="0">
                <a:solidFill>
                  <a:srgbClr val="6B7785"/>
                </a:solidFill>
                <a:latin typeface="Calibri" pitchFamily="34" charset="0"/>
                <a:ea typeface="Calibri" pitchFamily="34" charset="-122"/>
                <a:cs typeface="Calibri" pitchFamily="34" charset="-120"/>
              </a:rPr>
              <a:t>por mês, no cenário mais conservador</a:t>
            </a:r>
            <a:endParaRPr lang="en-US" sz="1150" dirty="0"/>
          </a:p>
        </p:txBody>
      </p:sp>
      <p:sp>
        <p:nvSpPr>
          <p:cNvPr id="22" name="Text 20"/>
          <p:cNvSpPr txBox="1"/>
          <p:nvPr/>
        </p:nvSpPr>
        <p:spPr>
          <a:xfrm>
            <a:off x="7955280" y="3611880"/>
            <a:ext cx="3291840" cy="777240"/>
          </a:xfrm>
          <a:prstGeom prst="rect">
            <a:avLst/>
          </a:prstGeom>
          <a:noFill/>
          <a:ln/>
        </p:spPr>
        <p:txBody>
          <a:bodyPr wrap="square" lIns="0" tIns="0" rIns="0" bIns="0" rtlCol="0" anchor="t"/>
          <a:lstStyle/>
          <a:p>
            <a:pPr algn="l" indent="0" marL="0">
              <a:lnSpc>
                <a:spcPct val="125000"/>
              </a:lnSpc>
              <a:buNone/>
            </a:pPr>
            <a:r>
              <a:rPr lang="en-US" sz="1200" b="1" dirty="0">
                <a:solidFill>
                  <a:srgbClr val="1B2430"/>
                </a:solidFill>
                <a:latin typeface="Calibri" pitchFamily="34" charset="0"/>
                <a:ea typeface="Calibri" pitchFamily="34" charset="-122"/>
                <a:cs typeface="Calibri" pitchFamily="34" charset="-120"/>
              </a:rPr>
              <a:t>Sem contar um real dos R$ 48 mil da meta.</a:t>
            </a:r>
            <a:endParaRPr lang="en-US" sz="1200" dirty="0"/>
          </a:p>
          <a:p>
            <a:pPr algn="l" indent="0" marL="0">
              <a:lnSpc>
                <a:spcPct val="125000"/>
              </a:lnSpc>
              <a:buNone/>
            </a:pPr>
            <a:r>
              <a:rPr lang="en-US" sz="1200" b="1" dirty="0">
                <a:solidFill>
                  <a:srgbClr val="1B2430"/>
                </a:solidFill>
                <a:latin typeface="Calibri" pitchFamily="34" charset="0"/>
                <a:ea typeface="Calibri" pitchFamily="34" charset="-122"/>
                <a:cs typeface="Calibri" pitchFamily="34" charset="-120"/>
              </a:rPr>
              <a:t>Sem contar nada da política de desconto.</a:t>
            </a:r>
            <a:endParaRPr lang="en-US" sz="1200" dirty="0"/>
          </a:p>
        </p:txBody>
      </p:sp>
      <p:sp>
        <p:nvSpPr>
          <p:cNvPr id="23" name="Shape 21"/>
          <p:cNvSpPr/>
          <p:nvPr/>
        </p:nvSpPr>
        <p:spPr>
          <a:xfrm>
            <a:off x="594360" y="4892040"/>
            <a:ext cx="11002975" cy="822960"/>
          </a:xfrm>
          <a:prstGeom prst="roundRect">
            <a:avLst>
              <a:gd name="adj" fmla="val 8889"/>
            </a:avLst>
          </a:prstGeom>
          <a:solidFill>
            <a:srgbClr val="F4F6F8"/>
          </a:solidFill>
          <a:ln/>
        </p:spPr>
      </p:sp>
      <p:sp>
        <p:nvSpPr>
          <p:cNvPr id="24" name="Text 22"/>
          <p:cNvSpPr txBox="1"/>
          <p:nvPr/>
        </p:nvSpPr>
        <p:spPr>
          <a:xfrm>
            <a:off x="914400" y="5102352"/>
            <a:ext cx="10332720" cy="411480"/>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Calibri" pitchFamily="34" charset="0"/>
                <a:ea typeface="Calibri" pitchFamily="34" charset="-122"/>
                <a:cs typeface="Calibri" pitchFamily="34" charset="-120"/>
              </a:rPr>
              <a:t>Se for metade disso, se paga em 15 dias. Se for um terço, em 10. A comparação não é com zero — é com o que já está saindo.</a:t>
            </a:r>
            <a:endParaRPr lang="en-US" sz="1400" dirty="0"/>
          </a:p>
        </p:txBody>
      </p:sp>
      <p:sp>
        <p:nvSpPr>
          <p:cNvPr id="25" name="Text 23"/>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payback = investimento mensal ÷ R$ 10.900 de margem recuperada no cenário conservador · projeção, não promessa contratual · nenhum preço foi inventado neste documento</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1002975" cy="914400"/>
          </a:xfrm>
          <a:prstGeom prst="rect">
            <a:avLst/>
          </a:prstGeom>
          <a:noFill/>
          <a:ln/>
        </p:spPr>
        <p:txBody>
          <a:bodyPr wrap="square" lIns="0" tIns="0" rIns="0" bIns="0" rtlCol="0" anchor="t"/>
          <a:lstStyle/>
          <a:p>
            <a:pPr algn="l" indent="0" marL="0">
              <a:lnSpc>
                <a:spcPct val="95000"/>
              </a:lnSpc>
              <a:buNone/>
            </a:pPr>
            <a:r>
              <a:rPr lang="en-US" sz="3000" b="1" dirty="0">
                <a:solidFill>
                  <a:srgbClr val="1B2430"/>
                </a:solidFill>
                <a:latin typeface="Cambria" pitchFamily="34" charset="0"/>
                <a:ea typeface="Cambria" pitchFamily="34" charset="-122"/>
                <a:cs typeface="Cambria" pitchFamily="34" charset="-120"/>
              </a:rPr>
              <a:t>Mês 1 não promete faturamento.</a:t>
            </a:r>
            <a:endParaRPr lang="en-US" sz="3000" dirty="0"/>
          </a:p>
          <a:p>
            <a:pPr algn="l" indent="0" marL="0">
              <a:lnSpc>
                <a:spcPct val="95000"/>
              </a:lnSpc>
              <a:buNone/>
            </a:pPr>
            <a:r>
              <a:rPr lang="en-US" sz="3000" b="1" dirty="0">
                <a:solidFill>
                  <a:srgbClr val="1B2430"/>
                </a:solidFill>
                <a:latin typeface="Cambria" pitchFamily="34" charset="0"/>
                <a:ea typeface="Cambria" pitchFamily="34" charset="-122"/>
                <a:cs typeface="Cambria" pitchFamily="34" charset="-120"/>
              </a:rPr>
              <a:t>Promete enxergar.</a:t>
            </a:r>
            <a:endParaRPr lang="en-US" sz="3000" dirty="0"/>
          </a:p>
        </p:txBody>
      </p:sp>
      <p:sp>
        <p:nvSpPr>
          <p:cNvPr id="3" name="Shape 1"/>
          <p:cNvSpPr/>
          <p:nvPr/>
        </p:nvSpPr>
        <p:spPr>
          <a:xfrm>
            <a:off x="594360" y="1874520"/>
            <a:ext cx="3493008" cy="658368"/>
          </a:xfrm>
          <a:prstGeom prst="roundRect">
            <a:avLst>
              <a:gd name="adj" fmla="val 11111"/>
            </a:avLst>
          </a:prstGeom>
          <a:solidFill>
            <a:srgbClr val="1B2430"/>
          </a:solidFill>
          <a:ln/>
        </p:spPr>
      </p:sp>
      <p:sp>
        <p:nvSpPr>
          <p:cNvPr id="4" name="Text 2"/>
          <p:cNvSpPr txBox="1"/>
          <p:nvPr/>
        </p:nvSpPr>
        <p:spPr>
          <a:xfrm>
            <a:off x="868680" y="2002536"/>
            <a:ext cx="1645920" cy="274320"/>
          </a:xfrm>
          <a:prstGeom prst="rect">
            <a:avLst/>
          </a:prstGeom>
          <a:noFill/>
          <a:ln/>
        </p:spPr>
        <p:txBody>
          <a:bodyPr wrap="square" lIns="0" tIns="0" rIns="0" bIns="0" rtlCol="0" anchor="t"/>
          <a:lstStyle/>
          <a:p>
            <a:pPr algn="l" indent="0" marL="0">
              <a:lnSpc>
                <a:spcPct val="115000"/>
              </a:lnSpc>
              <a:buNone/>
            </a:pPr>
            <a:r>
              <a:rPr lang="en-US" sz="1200" b="1" dirty="0">
                <a:solidFill>
                  <a:srgbClr val="FFFFFF"/>
                </a:solidFill>
                <a:latin typeface="Calibri" pitchFamily="34" charset="0"/>
                <a:ea typeface="Calibri" pitchFamily="34" charset="-122"/>
                <a:cs typeface="Calibri" pitchFamily="34" charset="-120"/>
              </a:rPr>
              <a:t>DIAS 1–30</a:t>
            </a:r>
            <a:endParaRPr lang="en-US" sz="1200" dirty="0"/>
          </a:p>
        </p:txBody>
      </p:sp>
      <p:sp>
        <p:nvSpPr>
          <p:cNvPr id="5" name="Text 3"/>
          <p:cNvSpPr txBox="1"/>
          <p:nvPr/>
        </p:nvSpPr>
        <p:spPr>
          <a:xfrm>
            <a:off x="868680" y="2231136"/>
            <a:ext cx="2926080" cy="256032"/>
          </a:xfrm>
          <a:prstGeom prst="rect">
            <a:avLst/>
          </a:prstGeom>
          <a:noFill/>
          <a:ln/>
        </p:spPr>
        <p:txBody>
          <a:bodyPr wrap="square" lIns="0" tIns="0" rIns="0" bIns="0" rtlCol="0" anchor="t"/>
          <a:lstStyle/>
          <a:p>
            <a:pPr algn="l" indent="0" marL="0">
              <a:lnSpc>
                <a:spcPct val="115000"/>
              </a:lnSpc>
              <a:buNone/>
            </a:pPr>
            <a:r>
              <a:rPr lang="en-US" sz="1050" dirty="0">
                <a:solidFill>
                  <a:srgbClr val="9AA6B2"/>
                </a:solidFill>
                <a:latin typeface="Calibri" pitchFamily="34" charset="0"/>
                <a:ea typeface="Calibri" pitchFamily="34" charset="-122"/>
                <a:cs typeface="Calibri" pitchFamily="34" charset="-120"/>
              </a:rPr>
              <a:t>medir e decidir</a:t>
            </a:r>
            <a:endParaRPr lang="en-US" sz="1050" dirty="0"/>
          </a:p>
        </p:txBody>
      </p:sp>
      <p:sp>
        <p:nvSpPr>
          <p:cNvPr id="6" name="Shape 4"/>
          <p:cNvSpPr/>
          <p:nvPr/>
        </p:nvSpPr>
        <p:spPr>
          <a:xfrm>
            <a:off x="594360" y="2624328"/>
            <a:ext cx="3493008" cy="2514600"/>
          </a:xfrm>
          <a:prstGeom prst="roundRect">
            <a:avLst>
              <a:gd name="adj" fmla="val 2909"/>
            </a:avLst>
          </a:prstGeom>
          <a:solidFill>
            <a:srgbClr val="F4F6F8"/>
          </a:solidFill>
          <a:ln/>
        </p:spPr>
      </p:sp>
      <p:sp>
        <p:nvSpPr>
          <p:cNvPr id="7" name="Text 5"/>
          <p:cNvSpPr txBox="1"/>
          <p:nvPr/>
        </p:nvSpPr>
        <p:spPr>
          <a:xfrm>
            <a:off x="868680" y="2852928"/>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manter R$ 140 mil</a:t>
            </a:r>
            <a:endParaRPr lang="en-US" sz="1250" dirty="0"/>
          </a:p>
        </p:txBody>
      </p:sp>
      <p:sp>
        <p:nvSpPr>
          <p:cNvPr id="8" name="Text 6"/>
          <p:cNvSpPr txBox="1"/>
          <p:nvPr/>
        </p:nvSpPr>
        <p:spPr>
          <a:xfrm>
            <a:off x="868680" y="3419856"/>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3 etapas com número</a:t>
            </a:r>
            <a:endParaRPr lang="en-US" sz="1250" dirty="0"/>
          </a:p>
        </p:txBody>
      </p:sp>
      <p:sp>
        <p:nvSpPr>
          <p:cNvPr id="9" name="Text 7"/>
          <p:cNvSpPr txBox="1"/>
          <p:nvPr/>
        </p:nvSpPr>
        <p:spPr>
          <a:xfrm>
            <a:off x="868680" y="3986784"/>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desconto e comissão escritos</a:t>
            </a:r>
            <a:endParaRPr lang="en-US" sz="1250" dirty="0"/>
          </a:p>
        </p:txBody>
      </p:sp>
      <p:sp>
        <p:nvSpPr>
          <p:cNvPr id="10" name="Text 8"/>
          <p:cNvSpPr txBox="1"/>
          <p:nvPr/>
        </p:nvSpPr>
        <p:spPr>
          <a:xfrm>
            <a:off x="868680" y="4553712"/>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resposta &lt; 5 min</a:t>
            </a:r>
            <a:endParaRPr lang="en-US" sz="1250" dirty="0"/>
          </a:p>
        </p:txBody>
      </p:sp>
      <p:sp>
        <p:nvSpPr>
          <p:cNvPr id="11" name="Shape 9"/>
          <p:cNvSpPr/>
          <p:nvPr/>
        </p:nvSpPr>
        <p:spPr>
          <a:xfrm>
            <a:off x="4325112" y="1874520"/>
            <a:ext cx="3493008" cy="658368"/>
          </a:xfrm>
          <a:prstGeom prst="roundRect">
            <a:avLst>
              <a:gd name="adj" fmla="val 11111"/>
            </a:avLst>
          </a:prstGeom>
          <a:solidFill>
            <a:srgbClr val="2E3A4A"/>
          </a:solidFill>
          <a:ln/>
        </p:spPr>
      </p:sp>
      <p:sp>
        <p:nvSpPr>
          <p:cNvPr id="12" name="Text 10"/>
          <p:cNvSpPr txBox="1"/>
          <p:nvPr/>
        </p:nvSpPr>
        <p:spPr>
          <a:xfrm>
            <a:off x="4599432" y="2002536"/>
            <a:ext cx="1645920" cy="274320"/>
          </a:xfrm>
          <a:prstGeom prst="rect">
            <a:avLst/>
          </a:prstGeom>
          <a:noFill/>
          <a:ln/>
        </p:spPr>
        <p:txBody>
          <a:bodyPr wrap="square" lIns="0" tIns="0" rIns="0" bIns="0" rtlCol="0" anchor="t"/>
          <a:lstStyle/>
          <a:p>
            <a:pPr algn="l" indent="0" marL="0">
              <a:lnSpc>
                <a:spcPct val="115000"/>
              </a:lnSpc>
              <a:buNone/>
            </a:pPr>
            <a:r>
              <a:rPr lang="en-US" sz="1200" b="1" dirty="0">
                <a:solidFill>
                  <a:srgbClr val="FFFFFF"/>
                </a:solidFill>
                <a:latin typeface="Calibri" pitchFamily="34" charset="0"/>
                <a:ea typeface="Calibri" pitchFamily="34" charset="-122"/>
                <a:cs typeface="Calibri" pitchFamily="34" charset="-120"/>
              </a:rPr>
              <a:t>DIAS 31–60</a:t>
            </a:r>
            <a:endParaRPr lang="en-US" sz="1200" dirty="0"/>
          </a:p>
        </p:txBody>
      </p:sp>
      <p:sp>
        <p:nvSpPr>
          <p:cNvPr id="13" name="Text 11"/>
          <p:cNvSpPr txBox="1"/>
          <p:nvPr/>
        </p:nvSpPr>
        <p:spPr>
          <a:xfrm>
            <a:off x="4599432" y="2231136"/>
            <a:ext cx="2926080" cy="256032"/>
          </a:xfrm>
          <a:prstGeom prst="rect">
            <a:avLst/>
          </a:prstGeom>
          <a:noFill/>
          <a:ln/>
        </p:spPr>
        <p:txBody>
          <a:bodyPr wrap="square" lIns="0" tIns="0" rIns="0" bIns="0" rtlCol="0" anchor="t"/>
          <a:lstStyle/>
          <a:p>
            <a:pPr algn="l" indent="0" marL="0">
              <a:lnSpc>
                <a:spcPct val="115000"/>
              </a:lnSpc>
              <a:buNone/>
            </a:pPr>
            <a:r>
              <a:rPr lang="en-US" sz="1050" dirty="0">
                <a:solidFill>
                  <a:srgbClr val="9AA6B2"/>
                </a:solidFill>
                <a:latin typeface="Calibri" pitchFamily="34" charset="0"/>
                <a:ea typeface="Calibri" pitchFamily="34" charset="-122"/>
                <a:cs typeface="Calibri" pitchFamily="34" charset="-120"/>
              </a:rPr>
              <a:t>converter</a:t>
            </a:r>
            <a:endParaRPr lang="en-US" sz="1050" dirty="0"/>
          </a:p>
        </p:txBody>
      </p:sp>
      <p:sp>
        <p:nvSpPr>
          <p:cNvPr id="14" name="Shape 12"/>
          <p:cNvSpPr/>
          <p:nvPr/>
        </p:nvSpPr>
        <p:spPr>
          <a:xfrm>
            <a:off x="4325112" y="2624328"/>
            <a:ext cx="3493008" cy="2514600"/>
          </a:xfrm>
          <a:prstGeom prst="roundRect">
            <a:avLst>
              <a:gd name="adj" fmla="val 2909"/>
            </a:avLst>
          </a:prstGeom>
          <a:solidFill>
            <a:srgbClr val="F4F6F8"/>
          </a:solidFill>
          <a:ln/>
        </p:spPr>
      </p:sp>
      <p:sp>
        <p:nvSpPr>
          <p:cNvPr id="15" name="Text 13"/>
          <p:cNvSpPr txBox="1"/>
          <p:nvPr/>
        </p:nvSpPr>
        <p:spPr>
          <a:xfrm>
            <a:off x="4599432" y="2852928"/>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R$ 150 a 176 mil</a:t>
            </a:r>
            <a:endParaRPr lang="en-US" sz="1250" dirty="0"/>
          </a:p>
        </p:txBody>
      </p:sp>
      <p:sp>
        <p:nvSpPr>
          <p:cNvPr id="16" name="Text 14"/>
          <p:cNvSpPr txBox="1"/>
          <p:nvPr/>
        </p:nvSpPr>
        <p:spPr>
          <a:xfrm>
            <a:off x="4599432" y="3419856"/>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lead→proposta ≥ 42%</a:t>
            </a:r>
            <a:endParaRPr lang="en-US" sz="1250" dirty="0"/>
          </a:p>
        </p:txBody>
      </p:sp>
      <p:sp>
        <p:nvSpPr>
          <p:cNvPr id="17" name="Text 15"/>
          <p:cNvSpPr txBox="1"/>
          <p:nvPr/>
        </p:nvSpPr>
        <p:spPr>
          <a:xfrm>
            <a:off x="4599432" y="3986784"/>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100% das perdas com motivo</a:t>
            </a:r>
            <a:endParaRPr lang="en-US" sz="1250" dirty="0"/>
          </a:p>
        </p:txBody>
      </p:sp>
      <p:sp>
        <p:nvSpPr>
          <p:cNvPr id="18" name="Text 16"/>
          <p:cNvSpPr txBox="1"/>
          <p:nvPr/>
        </p:nvSpPr>
        <p:spPr>
          <a:xfrm>
            <a:off x="4599432" y="4553712"/>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decisão sobre capacidade</a:t>
            </a:r>
            <a:endParaRPr lang="en-US" sz="1250" dirty="0"/>
          </a:p>
        </p:txBody>
      </p:sp>
      <p:sp>
        <p:nvSpPr>
          <p:cNvPr id="19" name="Shape 17"/>
          <p:cNvSpPr/>
          <p:nvPr/>
        </p:nvSpPr>
        <p:spPr>
          <a:xfrm>
            <a:off x="8055864" y="1874520"/>
            <a:ext cx="3493008" cy="658368"/>
          </a:xfrm>
          <a:prstGeom prst="roundRect">
            <a:avLst>
              <a:gd name="adj" fmla="val 11111"/>
            </a:avLst>
          </a:prstGeom>
          <a:solidFill>
            <a:srgbClr val="E8833A"/>
          </a:solidFill>
          <a:ln/>
        </p:spPr>
      </p:sp>
      <p:sp>
        <p:nvSpPr>
          <p:cNvPr id="20" name="Text 18"/>
          <p:cNvSpPr txBox="1"/>
          <p:nvPr/>
        </p:nvSpPr>
        <p:spPr>
          <a:xfrm>
            <a:off x="8330184" y="2002536"/>
            <a:ext cx="1645920" cy="274320"/>
          </a:xfrm>
          <a:prstGeom prst="rect">
            <a:avLst/>
          </a:prstGeom>
          <a:noFill/>
          <a:ln/>
        </p:spPr>
        <p:txBody>
          <a:bodyPr wrap="square" lIns="0" tIns="0" rIns="0" bIns="0" rtlCol="0" anchor="t"/>
          <a:lstStyle/>
          <a:p>
            <a:pPr algn="l" indent="0" marL="0">
              <a:lnSpc>
                <a:spcPct val="115000"/>
              </a:lnSpc>
              <a:buNone/>
            </a:pPr>
            <a:r>
              <a:rPr lang="en-US" sz="1200" b="1" dirty="0">
                <a:solidFill>
                  <a:srgbClr val="FFFFFF"/>
                </a:solidFill>
                <a:latin typeface="Calibri" pitchFamily="34" charset="0"/>
                <a:ea typeface="Calibri" pitchFamily="34" charset="-122"/>
                <a:cs typeface="Calibri" pitchFamily="34" charset="-120"/>
              </a:rPr>
              <a:t>DIAS 61–90</a:t>
            </a:r>
            <a:endParaRPr lang="en-US" sz="1200" dirty="0"/>
          </a:p>
        </p:txBody>
      </p:sp>
      <p:sp>
        <p:nvSpPr>
          <p:cNvPr id="21" name="Text 19"/>
          <p:cNvSpPr txBox="1"/>
          <p:nvPr/>
        </p:nvSpPr>
        <p:spPr>
          <a:xfrm>
            <a:off x="8330184" y="2231136"/>
            <a:ext cx="2926080" cy="256032"/>
          </a:xfrm>
          <a:prstGeom prst="rect">
            <a:avLst/>
          </a:prstGeom>
          <a:noFill/>
          <a:ln/>
        </p:spPr>
        <p:txBody>
          <a:bodyPr wrap="square" lIns="0" tIns="0" rIns="0" bIns="0" rtlCol="0" anchor="t"/>
          <a:lstStyle/>
          <a:p>
            <a:pPr algn="l" indent="0" marL="0">
              <a:lnSpc>
                <a:spcPct val="115000"/>
              </a:lnSpc>
              <a:buNone/>
            </a:pPr>
            <a:r>
              <a:rPr lang="en-US" sz="1050" dirty="0">
                <a:solidFill>
                  <a:srgbClr val="FFF0E0"/>
                </a:solidFill>
                <a:latin typeface="Calibri" pitchFamily="34" charset="0"/>
                <a:ea typeface="Calibri" pitchFamily="34" charset="-122"/>
                <a:cs typeface="Calibri" pitchFamily="34" charset="-120"/>
              </a:rPr>
              <a:t>escalar</a:t>
            </a:r>
            <a:endParaRPr lang="en-US" sz="1050" dirty="0"/>
          </a:p>
        </p:txBody>
      </p:sp>
      <p:sp>
        <p:nvSpPr>
          <p:cNvPr id="22" name="Shape 20"/>
          <p:cNvSpPr/>
          <p:nvPr/>
        </p:nvSpPr>
        <p:spPr>
          <a:xfrm>
            <a:off x="8055864" y="2624328"/>
            <a:ext cx="3493008" cy="2514600"/>
          </a:xfrm>
          <a:prstGeom prst="roundRect">
            <a:avLst>
              <a:gd name="adj" fmla="val 2909"/>
            </a:avLst>
          </a:prstGeom>
          <a:solidFill>
            <a:srgbClr val="F4F6F8"/>
          </a:solidFill>
          <a:ln/>
        </p:spPr>
      </p:sp>
      <p:sp>
        <p:nvSpPr>
          <p:cNvPr id="23" name="Text 21"/>
          <p:cNvSpPr txBox="1"/>
          <p:nvPr/>
        </p:nvSpPr>
        <p:spPr>
          <a:xfrm>
            <a:off x="8330184" y="2852928"/>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R$ 180 a 208 mil</a:t>
            </a:r>
            <a:endParaRPr lang="en-US" sz="1250" dirty="0"/>
          </a:p>
        </p:txBody>
      </p:sp>
      <p:sp>
        <p:nvSpPr>
          <p:cNvPr id="24" name="Text 22"/>
          <p:cNvSpPr txBox="1"/>
          <p:nvPr/>
        </p:nvSpPr>
        <p:spPr>
          <a:xfrm>
            <a:off x="8330184" y="3419856"/>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lead→proposta 50%</a:t>
            </a:r>
            <a:endParaRPr lang="en-US" sz="1250" dirty="0"/>
          </a:p>
        </p:txBody>
      </p:sp>
      <p:sp>
        <p:nvSpPr>
          <p:cNvPr id="25" name="Text 23"/>
          <p:cNvSpPr txBox="1"/>
          <p:nvPr/>
        </p:nvSpPr>
        <p:spPr>
          <a:xfrm>
            <a:off x="8330184" y="3986784"/>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9 a 10 contratos/mês</a:t>
            </a:r>
            <a:endParaRPr lang="en-US" sz="1250" dirty="0"/>
          </a:p>
        </p:txBody>
      </p:sp>
      <p:sp>
        <p:nvSpPr>
          <p:cNvPr id="26" name="Text 24"/>
          <p:cNvSpPr txBox="1"/>
          <p:nvPr/>
        </p:nvSpPr>
        <p:spPr>
          <a:xfrm>
            <a:off x="8330184" y="4553712"/>
            <a:ext cx="2944368" cy="502920"/>
          </a:xfrm>
          <a:prstGeom prst="rect">
            <a:avLst/>
          </a:prstGeom>
          <a:noFill/>
          <a:ln/>
        </p:spPr>
        <p:txBody>
          <a:bodyPr wrap="square" lIns="0" tIns="0" rIns="0" bIns="0" rtlCol="0" anchor="t"/>
          <a:lstStyle/>
          <a:p>
            <a:pPr algn="l" indent="0" marL="0">
              <a:lnSpc>
                <a:spcPct val="110000"/>
              </a:lnSpc>
              <a:buNone/>
            </a:pPr>
            <a:r>
              <a:rPr lang="en-US" sz="1250" dirty="0">
                <a:solidFill>
                  <a:srgbClr val="1B2430"/>
                </a:solidFill>
                <a:latin typeface="Calibri" pitchFamily="34" charset="0"/>
                <a:ea typeface="Calibri" pitchFamily="34" charset="-122"/>
                <a:cs typeface="Calibri" pitchFamily="34" charset="-120"/>
              </a:rPr>
              <a:t>·  custo por projeto calculado</a:t>
            </a:r>
            <a:endParaRPr lang="en-US" sz="1250" dirty="0"/>
          </a:p>
        </p:txBody>
      </p:sp>
      <p:sp>
        <p:nvSpPr>
          <p:cNvPr id="27" name="Shape 25"/>
          <p:cNvSpPr/>
          <p:nvPr/>
        </p:nvSpPr>
        <p:spPr>
          <a:xfrm>
            <a:off x="594360" y="5440680"/>
            <a:ext cx="11002975" cy="566928"/>
          </a:xfrm>
          <a:prstGeom prst="roundRect">
            <a:avLst>
              <a:gd name="adj" fmla="val 12903"/>
            </a:avLst>
          </a:prstGeom>
          <a:solidFill>
            <a:srgbClr val="F4F6F8"/>
          </a:solidFill>
          <a:ln/>
        </p:spPr>
      </p:sp>
      <p:sp>
        <p:nvSpPr>
          <p:cNvPr id="28" name="Text 26"/>
          <p:cNvSpPr txBox="1"/>
          <p:nvPr/>
        </p:nvSpPr>
        <p:spPr>
          <a:xfrm>
            <a:off x="594360" y="5596128"/>
            <a:ext cx="11002975" cy="320040"/>
          </a:xfrm>
          <a:prstGeom prst="rect">
            <a:avLst/>
          </a:prstGeom>
          <a:noFill/>
          <a:ln/>
        </p:spPr>
        <p:txBody>
          <a:bodyPr wrap="square" lIns="0" tIns="0" rIns="0" bIns="0" rtlCol="0" anchor="t"/>
          <a:lstStyle/>
          <a:p>
            <a:pPr algn="ctr" indent="0" marL="0">
              <a:lnSpc>
                <a:spcPct val="115000"/>
              </a:lnSpc>
              <a:buNone/>
            </a:pPr>
            <a:r>
              <a:rPr lang="en-US" sz="1250" i="1" dirty="0">
                <a:solidFill>
                  <a:srgbClr val="6B7785"/>
                </a:solidFill>
                <a:latin typeface="Calibri" pitchFamily="34" charset="0"/>
                <a:ea typeface="Calibri" pitchFamily="34" charset="-122"/>
                <a:cs typeface="Calibri" pitchFamily="34" charset="-120"/>
              </a:rPr>
              <a:t>Tudo conferível na ficha toda segunda-feira. Se em quatro semanas não tiver melhorado nada, você vai ver isso antes de mim.</a:t>
            </a:r>
            <a:endParaRPr lang="en-US" sz="1250" dirty="0"/>
          </a:p>
        </p:txBody>
      </p:sp>
      <p:sp>
        <p:nvSpPr>
          <p:cNvPr id="29" name="Text 27"/>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6B7785"/>
                </a:solidFill>
                <a:latin typeface="Calibri" pitchFamily="34" charset="0"/>
                <a:ea typeface="Calibri" pitchFamily="34" charset="-122"/>
                <a:cs typeface="Calibri" pitchFamily="34" charset="-120"/>
              </a:rPr>
              <a:t>faixas de faturamento são PROJEÇÃO, não promessa contratual · todos os KPIs são verificáveis semanalmente na ficha</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94360" y="548640"/>
            <a:ext cx="11002975" cy="1280160"/>
          </a:xfrm>
          <a:prstGeom prst="rect">
            <a:avLst/>
          </a:prstGeom>
          <a:noFill/>
          <a:ln/>
        </p:spPr>
        <p:txBody>
          <a:bodyPr wrap="square" lIns="0" tIns="0" rIns="0" bIns="0" rtlCol="0" anchor="t"/>
          <a:lstStyle/>
          <a:p>
            <a:pPr algn="l" indent="0" marL="0">
              <a:lnSpc>
                <a:spcPct val="95000"/>
              </a:lnSpc>
              <a:buNone/>
            </a:pPr>
            <a:r>
              <a:rPr lang="en-US" sz="3600" b="1" dirty="0">
                <a:solidFill>
                  <a:srgbClr val="FFFFFF"/>
                </a:solidFill>
                <a:latin typeface="Cambria" pitchFamily="34" charset="0"/>
                <a:ea typeface="Cambria" pitchFamily="34" charset="-122"/>
                <a:cs typeface="Cambria" pitchFamily="34" charset="-120"/>
              </a:rPr>
              <a:t>45 minutos da sua agenda,</a:t>
            </a:r>
            <a:endParaRPr lang="en-US" sz="3600" dirty="0"/>
          </a:p>
          <a:p>
            <a:pPr algn="l" indent="0" marL="0">
              <a:lnSpc>
                <a:spcPct val="95000"/>
              </a:lnSpc>
              <a:buNone/>
            </a:pPr>
            <a:r>
              <a:rPr lang="en-US" sz="3600" b="1" dirty="0">
                <a:solidFill>
                  <a:srgbClr val="FFFFFF"/>
                </a:solidFill>
                <a:latin typeface="Cambria" pitchFamily="34" charset="0"/>
                <a:ea typeface="Cambria" pitchFamily="34" charset="-122"/>
                <a:cs typeface="Cambria" pitchFamily="34" charset="-120"/>
              </a:rPr>
              <a:t>até sexta 11/09</a:t>
            </a:r>
            <a:endParaRPr lang="en-US" sz="3600" dirty="0"/>
          </a:p>
        </p:txBody>
      </p:sp>
      <p:sp>
        <p:nvSpPr>
          <p:cNvPr id="3" name="Shape 1"/>
          <p:cNvSpPr/>
          <p:nvPr/>
        </p:nvSpPr>
        <p:spPr>
          <a:xfrm>
            <a:off x="594360" y="2148840"/>
            <a:ext cx="5120640" cy="1828800"/>
          </a:xfrm>
          <a:prstGeom prst="roundRect">
            <a:avLst>
              <a:gd name="adj" fmla="val 4000"/>
            </a:avLst>
          </a:prstGeom>
          <a:solidFill>
            <a:srgbClr val="2E3A4A"/>
          </a:solidFill>
          <a:ln/>
        </p:spPr>
      </p:sp>
      <p:sp>
        <p:nvSpPr>
          <p:cNvPr id="4" name="Text 2"/>
          <p:cNvSpPr txBox="1"/>
          <p:nvPr/>
        </p:nvSpPr>
        <p:spPr>
          <a:xfrm>
            <a:off x="960120" y="2377440"/>
            <a:ext cx="1737360" cy="274320"/>
          </a:xfrm>
          <a:prstGeom prst="rect">
            <a:avLst/>
          </a:prstGeom>
          <a:noFill/>
          <a:ln/>
        </p:spPr>
        <p:txBody>
          <a:bodyPr wrap="square" lIns="0" tIns="0" rIns="0" bIns="0" rtlCol="0" anchor="t"/>
          <a:lstStyle/>
          <a:p>
            <a:pPr algn="l" indent="0" marL="0">
              <a:lnSpc>
                <a:spcPct val="115000"/>
              </a:lnSpc>
              <a:buNone/>
            </a:pPr>
            <a:r>
              <a:rPr lang="en-US" sz="1000" b="1" dirty="0">
                <a:solidFill>
                  <a:srgbClr val="E8833A"/>
                </a:solidFill>
                <a:latin typeface="Calibri" pitchFamily="34" charset="0"/>
                <a:ea typeface="Calibri" pitchFamily="34" charset="-122"/>
                <a:cs typeface="Calibri" pitchFamily="34" charset="-120"/>
              </a:rPr>
              <a:t>AÇÃO</a:t>
            </a:r>
            <a:endParaRPr lang="en-US" sz="1000" dirty="0"/>
          </a:p>
        </p:txBody>
      </p:sp>
      <p:sp>
        <p:nvSpPr>
          <p:cNvPr id="5" name="Text 3"/>
          <p:cNvSpPr txBox="1"/>
          <p:nvPr/>
        </p:nvSpPr>
        <p:spPr>
          <a:xfrm>
            <a:off x="2697480" y="2350008"/>
            <a:ext cx="2788920" cy="365760"/>
          </a:xfrm>
          <a:prstGeom prst="rect">
            <a:avLst/>
          </a:prstGeom>
          <a:noFill/>
          <a:ln/>
        </p:spPr>
        <p:txBody>
          <a:bodyPr wrap="square" lIns="0" tIns="0" rIns="0" bIns="0" rtlCol="0" anchor="t"/>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responder 7 perguntas sobre o seu funil</a:t>
            </a:r>
            <a:endParaRPr lang="en-US" sz="1250" dirty="0"/>
          </a:p>
        </p:txBody>
      </p:sp>
      <p:sp>
        <p:nvSpPr>
          <p:cNvPr id="6" name="Text 4"/>
          <p:cNvSpPr txBox="1"/>
          <p:nvPr/>
        </p:nvSpPr>
        <p:spPr>
          <a:xfrm>
            <a:off x="960120" y="2926080"/>
            <a:ext cx="1737360" cy="274320"/>
          </a:xfrm>
          <a:prstGeom prst="rect">
            <a:avLst/>
          </a:prstGeom>
          <a:noFill/>
          <a:ln/>
        </p:spPr>
        <p:txBody>
          <a:bodyPr wrap="square" lIns="0" tIns="0" rIns="0" bIns="0" rtlCol="0" anchor="t"/>
          <a:lstStyle/>
          <a:p>
            <a:pPr algn="l" indent="0" marL="0">
              <a:lnSpc>
                <a:spcPct val="115000"/>
              </a:lnSpc>
              <a:buNone/>
            </a:pPr>
            <a:r>
              <a:rPr lang="en-US" sz="1000" b="1" dirty="0">
                <a:solidFill>
                  <a:srgbClr val="E8833A"/>
                </a:solidFill>
                <a:latin typeface="Calibri" pitchFamily="34" charset="0"/>
                <a:ea typeface="Calibri" pitchFamily="34" charset="-122"/>
                <a:cs typeface="Calibri" pitchFamily="34" charset="-120"/>
              </a:rPr>
              <a:t>RESPONSÁVEL</a:t>
            </a:r>
            <a:endParaRPr lang="en-US" sz="1000" dirty="0"/>
          </a:p>
        </p:txBody>
      </p:sp>
      <p:sp>
        <p:nvSpPr>
          <p:cNvPr id="7" name="Text 5"/>
          <p:cNvSpPr txBox="1"/>
          <p:nvPr/>
        </p:nvSpPr>
        <p:spPr>
          <a:xfrm>
            <a:off x="2697480" y="2898648"/>
            <a:ext cx="2788920" cy="365760"/>
          </a:xfrm>
          <a:prstGeom prst="rect">
            <a:avLst/>
          </a:prstGeom>
          <a:noFill/>
          <a:ln/>
        </p:spPr>
        <p:txBody>
          <a:bodyPr wrap="square" lIns="0" tIns="0" rIns="0" bIns="0" rtlCol="0" anchor="t"/>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você, comigo conduzindo</a:t>
            </a:r>
            <a:endParaRPr lang="en-US" sz="1250" dirty="0"/>
          </a:p>
        </p:txBody>
      </p:sp>
      <p:sp>
        <p:nvSpPr>
          <p:cNvPr id="8" name="Text 6"/>
          <p:cNvSpPr txBox="1"/>
          <p:nvPr/>
        </p:nvSpPr>
        <p:spPr>
          <a:xfrm>
            <a:off x="960120" y="3474720"/>
            <a:ext cx="1737360" cy="274320"/>
          </a:xfrm>
          <a:prstGeom prst="rect">
            <a:avLst/>
          </a:prstGeom>
          <a:noFill/>
          <a:ln/>
        </p:spPr>
        <p:txBody>
          <a:bodyPr wrap="square" lIns="0" tIns="0" rIns="0" bIns="0" rtlCol="0" anchor="t"/>
          <a:lstStyle/>
          <a:p>
            <a:pPr algn="l" indent="0" marL="0">
              <a:lnSpc>
                <a:spcPct val="115000"/>
              </a:lnSpc>
              <a:buNone/>
            </a:pPr>
            <a:r>
              <a:rPr lang="en-US" sz="1000" b="1" dirty="0">
                <a:solidFill>
                  <a:srgbClr val="E8833A"/>
                </a:solidFill>
                <a:latin typeface="Calibri" pitchFamily="34" charset="0"/>
                <a:ea typeface="Calibri" pitchFamily="34" charset="-122"/>
                <a:cs typeface="Calibri" pitchFamily="34" charset="-120"/>
              </a:rPr>
              <a:t>DATA</a:t>
            </a:r>
            <a:endParaRPr lang="en-US" sz="1000" dirty="0"/>
          </a:p>
        </p:txBody>
      </p:sp>
      <p:sp>
        <p:nvSpPr>
          <p:cNvPr id="9" name="Text 7"/>
          <p:cNvSpPr txBox="1"/>
          <p:nvPr/>
        </p:nvSpPr>
        <p:spPr>
          <a:xfrm>
            <a:off x="2697480" y="3447288"/>
            <a:ext cx="2788920" cy="365760"/>
          </a:xfrm>
          <a:prstGeom prst="rect">
            <a:avLst/>
          </a:prstGeom>
          <a:noFill/>
          <a:ln/>
        </p:spPr>
        <p:txBody>
          <a:bodyPr wrap="square" lIns="0" tIns="0" rIns="0" bIns="0" rtlCol="0" anchor="t"/>
          <a:lstStyle/>
          <a:p>
            <a:pPr algn="l" indent="0" marL="0">
              <a:lnSpc>
                <a:spcPct val="105000"/>
              </a:lnSpc>
              <a:buNone/>
            </a:pPr>
            <a:r>
              <a:rPr lang="en-US" sz="1250" dirty="0">
                <a:solidFill>
                  <a:srgbClr val="FFFFFF"/>
                </a:solidFill>
                <a:latin typeface="Calibri" pitchFamily="34" charset="0"/>
                <a:ea typeface="Calibri" pitchFamily="34" charset="-122"/>
                <a:cs typeface="Calibri" pitchFamily="34" charset="-120"/>
              </a:rPr>
              <a:t>até sexta-feira, 11/09/2026</a:t>
            </a:r>
            <a:endParaRPr lang="en-US" sz="1250" dirty="0"/>
          </a:p>
        </p:txBody>
      </p:sp>
      <p:sp>
        <p:nvSpPr>
          <p:cNvPr id="10" name="Text 8"/>
          <p:cNvSpPr txBox="1"/>
          <p:nvPr/>
        </p:nvSpPr>
        <p:spPr>
          <a:xfrm>
            <a:off x="6355080" y="2148840"/>
            <a:ext cx="5212080" cy="274320"/>
          </a:xfrm>
          <a:prstGeom prst="rect">
            <a:avLst/>
          </a:prstGeom>
          <a:noFill/>
          <a:ln/>
        </p:spPr>
        <p:txBody>
          <a:bodyPr wrap="square" lIns="0" tIns="0" rIns="0" bIns="0" rtlCol="0" anchor="t"/>
          <a:lstStyle/>
          <a:p>
            <a:pPr algn="l" indent="0" marL="0">
              <a:lnSpc>
                <a:spcPct val="115000"/>
              </a:lnSpc>
              <a:buNone/>
            </a:pPr>
            <a:r>
              <a:rPr lang="en-US" sz="1000" b="1" dirty="0">
                <a:solidFill>
                  <a:srgbClr val="E8833A"/>
                </a:solidFill>
                <a:latin typeface="Calibri" pitchFamily="34" charset="0"/>
                <a:ea typeface="Calibri" pitchFamily="34" charset="-122"/>
                <a:cs typeface="Calibri" pitchFamily="34" charset="-120"/>
              </a:rPr>
              <a:t>AS 7 PERGUNTAS</a:t>
            </a:r>
            <a:endParaRPr lang="en-US" sz="1000" dirty="0"/>
          </a:p>
        </p:txBody>
      </p:sp>
      <p:sp>
        <p:nvSpPr>
          <p:cNvPr id="11" name="Text 9"/>
          <p:cNvSpPr txBox="1"/>
          <p:nvPr/>
        </p:nvSpPr>
        <p:spPr>
          <a:xfrm>
            <a:off x="6355080" y="2514600"/>
            <a:ext cx="5212080" cy="365760"/>
          </a:xfrm>
          <a:prstGeom prst="rect">
            <a:avLst/>
          </a:prstGeom>
          <a:noFill/>
          <a:ln/>
        </p:spPr>
        <p:txBody>
          <a:bodyPr wrap="square" lIns="0" tIns="0" rIns="0" bIns="0" rtlCol="0" anchor="t"/>
          <a:lstStyle/>
          <a:p>
            <a:pPr algn="l" indent="0" marL="0">
              <a:lnSpc>
                <a:spcPct val="100000"/>
              </a:lnSpc>
              <a:buNone/>
            </a:pPr>
            <a:r>
              <a:rPr lang="en-US" sz="1200" dirty="0">
                <a:solidFill>
                  <a:srgbClr val="FFFFFF"/>
                </a:solidFill>
                <a:latin typeface="Calibri" pitchFamily="34" charset="0"/>
                <a:ea typeface="Calibri" pitchFamily="34" charset="-122"/>
                <a:cs typeface="Calibri" pitchFamily="34" charset="-120"/>
              </a:rPr>
              <a:t>1.  dos 60 leads, em quantos você falou de fato</a:t>
            </a:r>
            <a:endParaRPr lang="en-US" sz="1200" dirty="0"/>
          </a:p>
        </p:txBody>
      </p:sp>
      <p:sp>
        <p:nvSpPr>
          <p:cNvPr id="12" name="Text 10"/>
          <p:cNvSpPr txBox="1"/>
          <p:nvPr/>
        </p:nvSpPr>
        <p:spPr>
          <a:xfrm>
            <a:off x="6355080" y="2916936"/>
            <a:ext cx="5212080" cy="365760"/>
          </a:xfrm>
          <a:prstGeom prst="rect">
            <a:avLst/>
          </a:prstGeom>
          <a:noFill/>
          <a:ln/>
        </p:spPr>
        <p:txBody>
          <a:bodyPr wrap="square" lIns="0" tIns="0" rIns="0" bIns="0" rtlCol="0" anchor="t"/>
          <a:lstStyle/>
          <a:p>
            <a:pPr algn="l" indent="0" marL="0">
              <a:lnSpc>
                <a:spcPct val="100000"/>
              </a:lnSpc>
              <a:buNone/>
            </a:pPr>
            <a:r>
              <a:rPr lang="en-US" sz="1200" dirty="0">
                <a:solidFill>
                  <a:srgbClr val="FFFFFF"/>
                </a:solidFill>
                <a:latin typeface="Calibri" pitchFamily="34" charset="0"/>
                <a:ea typeface="Calibri" pitchFamily="34" charset="-122"/>
                <a:cs typeface="Calibri" pitchFamily="34" charset="-120"/>
              </a:rPr>
              <a:t>2.  quantos ficaram sem nenhuma resposta</a:t>
            </a:r>
            <a:endParaRPr lang="en-US" sz="1200" dirty="0"/>
          </a:p>
        </p:txBody>
      </p:sp>
      <p:sp>
        <p:nvSpPr>
          <p:cNvPr id="13" name="Text 11"/>
          <p:cNvSpPr txBox="1"/>
          <p:nvPr/>
        </p:nvSpPr>
        <p:spPr>
          <a:xfrm>
            <a:off x="6355080" y="3319272"/>
            <a:ext cx="5212080" cy="365760"/>
          </a:xfrm>
          <a:prstGeom prst="rect">
            <a:avLst/>
          </a:prstGeom>
          <a:noFill/>
          <a:ln/>
        </p:spPr>
        <p:txBody>
          <a:bodyPr wrap="square" lIns="0" tIns="0" rIns="0" bIns="0" rtlCol="0" anchor="t"/>
          <a:lstStyle/>
          <a:p>
            <a:pPr algn="l" indent="0" marL="0">
              <a:lnSpc>
                <a:spcPct val="100000"/>
              </a:lnSpc>
              <a:buNone/>
            </a:pPr>
            <a:r>
              <a:rPr lang="en-US" sz="1200" dirty="0">
                <a:solidFill>
                  <a:srgbClr val="FFFFFF"/>
                </a:solidFill>
                <a:latin typeface="Calibri" pitchFamily="34" charset="0"/>
                <a:ea typeface="Calibri" pitchFamily="34" charset="-122"/>
                <a:cs typeface="Calibri" pitchFamily="34" charset="-120"/>
              </a:rPr>
              <a:t>3.  de onde vieram os 60 leads e os 7 contratos</a:t>
            </a:r>
            <a:endParaRPr lang="en-US" sz="1200" dirty="0"/>
          </a:p>
        </p:txBody>
      </p:sp>
      <p:sp>
        <p:nvSpPr>
          <p:cNvPr id="14" name="Text 12"/>
          <p:cNvSpPr txBox="1"/>
          <p:nvPr/>
        </p:nvSpPr>
        <p:spPr>
          <a:xfrm>
            <a:off x="6355080" y="3721608"/>
            <a:ext cx="5212080" cy="365760"/>
          </a:xfrm>
          <a:prstGeom prst="rect">
            <a:avLst/>
          </a:prstGeom>
          <a:noFill/>
          <a:ln/>
        </p:spPr>
        <p:txBody>
          <a:bodyPr wrap="square" lIns="0" tIns="0" rIns="0" bIns="0" rtlCol="0" anchor="t"/>
          <a:lstStyle/>
          <a:p>
            <a:pPr algn="l" indent="0" marL="0">
              <a:lnSpc>
                <a:spcPct val="100000"/>
              </a:lnSpc>
              <a:buNone/>
            </a:pPr>
            <a:r>
              <a:rPr lang="en-US" sz="1200" dirty="0">
                <a:solidFill>
                  <a:srgbClr val="FFFFFF"/>
                </a:solidFill>
                <a:latin typeface="Calibri" pitchFamily="34" charset="0"/>
                <a:ea typeface="Calibri" pitchFamily="34" charset="-122"/>
                <a:cs typeface="Calibri" pitchFamily="34" charset="-120"/>
              </a:rPr>
              <a:t>4.  quantos clientes instalados e orçamentos guardados</a:t>
            </a:r>
            <a:endParaRPr lang="en-US" sz="1200" dirty="0"/>
          </a:p>
        </p:txBody>
      </p:sp>
      <p:sp>
        <p:nvSpPr>
          <p:cNvPr id="15" name="Text 13"/>
          <p:cNvSpPr txBox="1"/>
          <p:nvPr/>
        </p:nvSpPr>
        <p:spPr>
          <a:xfrm>
            <a:off x="6355080" y="4123944"/>
            <a:ext cx="5212080" cy="365760"/>
          </a:xfrm>
          <a:prstGeom prst="rect">
            <a:avLst/>
          </a:prstGeom>
          <a:noFill/>
          <a:ln/>
        </p:spPr>
        <p:txBody>
          <a:bodyPr wrap="square" lIns="0" tIns="0" rIns="0" bIns="0" rtlCol="0" anchor="t"/>
          <a:lstStyle/>
          <a:p>
            <a:pPr algn="l" indent="0" marL="0">
              <a:lnSpc>
                <a:spcPct val="100000"/>
              </a:lnSpc>
              <a:buNone/>
            </a:pPr>
            <a:r>
              <a:rPr lang="en-US" sz="1200" dirty="0">
                <a:solidFill>
                  <a:srgbClr val="FFFFFF"/>
                </a:solidFill>
                <a:latin typeface="Calibri" pitchFamily="34" charset="0"/>
                <a:ea typeface="Calibri" pitchFamily="34" charset="-122"/>
                <a:cs typeface="Calibri" pitchFamily="34" charset="-120"/>
              </a:rPr>
              <a:t>5.  qual o desconto médio</a:t>
            </a:r>
            <a:endParaRPr lang="en-US" sz="1200" dirty="0"/>
          </a:p>
        </p:txBody>
      </p:sp>
      <p:sp>
        <p:nvSpPr>
          <p:cNvPr id="16" name="Text 14"/>
          <p:cNvSpPr txBox="1"/>
          <p:nvPr/>
        </p:nvSpPr>
        <p:spPr>
          <a:xfrm>
            <a:off x="6355080" y="4526280"/>
            <a:ext cx="5212080" cy="365760"/>
          </a:xfrm>
          <a:prstGeom prst="rect">
            <a:avLst/>
          </a:prstGeom>
          <a:noFill/>
          <a:ln/>
        </p:spPr>
        <p:txBody>
          <a:bodyPr wrap="square" lIns="0" tIns="0" rIns="0" bIns="0" rtlCol="0" anchor="t"/>
          <a:lstStyle/>
          <a:p>
            <a:pPr algn="l" indent="0" marL="0">
              <a:lnSpc>
                <a:spcPct val="100000"/>
              </a:lnSpc>
              <a:buNone/>
            </a:pPr>
            <a:r>
              <a:rPr lang="en-US" sz="1200" dirty="0">
                <a:solidFill>
                  <a:srgbClr val="FFFFFF"/>
                </a:solidFill>
                <a:latin typeface="Calibri" pitchFamily="34" charset="0"/>
                <a:ea typeface="Calibri" pitchFamily="34" charset="-122"/>
                <a:cs typeface="Calibri" pitchFamily="34" charset="-120"/>
              </a:rPr>
              <a:t>6.  esse mês foi típico</a:t>
            </a:r>
            <a:endParaRPr lang="en-US" sz="1200" dirty="0"/>
          </a:p>
        </p:txBody>
      </p:sp>
      <p:sp>
        <p:nvSpPr>
          <p:cNvPr id="17" name="Text 15"/>
          <p:cNvSpPr txBox="1"/>
          <p:nvPr/>
        </p:nvSpPr>
        <p:spPr>
          <a:xfrm>
            <a:off x="6355080" y="4928616"/>
            <a:ext cx="5212080" cy="365760"/>
          </a:xfrm>
          <a:prstGeom prst="rect">
            <a:avLst/>
          </a:prstGeom>
          <a:noFill/>
          <a:ln/>
        </p:spPr>
        <p:txBody>
          <a:bodyPr wrap="square" lIns="0" tIns="0" rIns="0" bIns="0" rtlCol="0" anchor="t"/>
          <a:lstStyle/>
          <a:p>
            <a:pPr algn="l" indent="0" marL="0">
              <a:lnSpc>
                <a:spcPct val="100000"/>
              </a:lnSpc>
              <a:buNone/>
            </a:pPr>
            <a:r>
              <a:rPr lang="en-US" sz="1200" dirty="0">
                <a:solidFill>
                  <a:srgbClr val="FFFFFF"/>
                </a:solidFill>
                <a:latin typeface="Calibri" pitchFamily="34" charset="0"/>
                <a:ea typeface="Calibri" pitchFamily="34" charset="-122"/>
                <a:cs typeface="Calibri" pitchFamily="34" charset="-120"/>
              </a:rPr>
              <a:t>7.  qual o raio de atendimento</a:t>
            </a:r>
            <a:endParaRPr lang="en-US" sz="1200" dirty="0"/>
          </a:p>
        </p:txBody>
      </p:sp>
      <p:sp>
        <p:nvSpPr>
          <p:cNvPr id="18" name="Shape 16"/>
          <p:cNvSpPr/>
          <p:nvPr/>
        </p:nvSpPr>
        <p:spPr>
          <a:xfrm>
            <a:off x="594360" y="4343400"/>
            <a:ext cx="5120640" cy="1325880"/>
          </a:xfrm>
          <a:prstGeom prst="roundRect">
            <a:avLst>
              <a:gd name="adj" fmla="val 5517"/>
            </a:avLst>
          </a:prstGeom>
          <a:solidFill>
            <a:srgbClr val="2E3A4A"/>
          </a:solidFill>
          <a:ln/>
        </p:spPr>
      </p:sp>
      <p:sp>
        <p:nvSpPr>
          <p:cNvPr id="19" name="Text 17"/>
          <p:cNvSpPr txBox="1"/>
          <p:nvPr/>
        </p:nvSpPr>
        <p:spPr>
          <a:xfrm>
            <a:off x="960120" y="4553712"/>
            <a:ext cx="4389120" cy="914400"/>
          </a:xfrm>
          <a:prstGeom prst="rect">
            <a:avLst/>
          </a:prstGeom>
          <a:noFill/>
          <a:ln/>
        </p:spPr>
        <p:txBody>
          <a:bodyPr wrap="square" lIns="0" tIns="0" rIns="0" bIns="0" rtlCol="0" anchor="t"/>
          <a:lstStyle/>
          <a:p>
            <a:pPr algn="l" indent="0" marL="0">
              <a:lnSpc>
                <a:spcPct val="130000"/>
              </a:lnSpc>
              <a:buNone/>
            </a:pPr>
            <a:r>
              <a:rPr lang="en-US" sz="1350" b="1" dirty="0">
                <a:solidFill>
                  <a:srgbClr val="FFFFFF"/>
                </a:solidFill>
                <a:latin typeface="Calibri" pitchFamily="34" charset="0"/>
                <a:ea typeface="Calibri" pitchFamily="34" charset="-122"/>
                <a:cs typeface="Calibri" pitchFamily="34" charset="-120"/>
              </a:rPr>
              <a:t>Eu não vou te pedir para fechar hoje.</a:t>
            </a:r>
            <a:endParaRPr lang="en-US" sz="1350" dirty="0"/>
          </a:p>
          <a:p>
            <a:pPr algn="l" indent="0" marL="0">
              <a:lnSpc>
                <a:spcPct val="130000"/>
              </a:lnSpc>
              <a:buNone/>
            </a:pPr>
            <a:r>
              <a:rPr lang="en-US" sz="1350" b="1" dirty="0">
                <a:solidFill>
                  <a:srgbClr val="FFFFFF"/>
                </a:solidFill>
                <a:latin typeface="Calibri" pitchFamily="34" charset="0"/>
                <a:ea typeface="Calibri" pitchFamily="34" charset="-122"/>
                <a:cs typeface="Calibri" pitchFamily="34" charset="-120"/>
              </a:rPr>
              <a:t>Depois da call eu volto com os números fechados, e aí você decide.</a:t>
            </a:r>
            <a:endParaRPr lang="en-US" sz="1350" dirty="0"/>
          </a:p>
        </p:txBody>
      </p:sp>
      <p:sp>
        <p:nvSpPr>
          <p:cNvPr id="20" name="Text 18"/>
          <p:cNvSpPr txBox="1"/>
          <p:nvPr/>
        </p:nvSpPr>
        <p:spPr>
          <a:xfrm>
            <a:off x="594360" y="6144768"/>
            <a:ext cx="11002975" cy="457200"/>
          </a:xfrm>
          <a:prstGeom prst="rect">
            <a:avLst/>
          </a:prstGeom>
          <a:noFill/>
          <a:ln/>
        </p:spPr>
        <p:txBody>
          <a:bodyPr wrap="square" lIns="0" tIns="0" rIns="0" bIns="0" rtlCol="0" anchor="t"/>
          <a:lstStyle/>
          <a:p>
            <a:pPr algn="l" indent="0" marL="0">
              <a:lnSpc>
                <a:spcPct val="105000"/>
              </a:lnSpc>
              <a:buNone/>
            </a:pPr>
            <a:r>
              <a:rPr lang="en-US" sz="950" b="1" dirty="0">
                <a:solidFill>
                  <a:srgbClr val="E8833A"/>
                </a:solidFill>
                <a:latin typeface="Calibri" pitchFamily="34" charset="0"/>
                <a:ea typeface="Calibri" pitchFamily="34" charset="-122"/>
                <a:cs typeface="Calibri" pitchFamily="34" charset="-120"/>
              </a:rPr>
              <a:t>premissa  </a:t>
            </a:r>
            <a:pPr algn="l" indent="0" marL="0">
              <a:lnSpc>
                <a:spcPct val="105000"/>
              </a:lnSpc>
              <a:buNone/>
            </a:pPr>
            <a:r>
              <a:rPr lang="en-US" sz="950" dirty="0">
                <a:solidFill>
                  <a:srgbClr val="9AA6B2"/>
                </a:solidFill>
                <a:latin typeface="Calibri" pitchFamily="34" charset="0"/>
                <a:ea typeface="Calibri" pitchFamily="34" charset="-122"/>
                <a:cs typeface="Calibri" pitchFamily="34" charset="-120"/>
              </a:rPr>
              <a:t>com as respostas, o programa começa em 14/09/2026 e o bloco 1 fecha em 13/10/2026 com as três etapas medidas pela primeira vez em 6 anos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Diagnóstico Wattiq 360 — LEOSOL</dc:title>
  <dc:subject>PptxGenJS Presentation</dc:subject>
  <dc:creator>Wattiq</dc:creator>
  <cp:lastModifiedBy>Wattiq</cp:lastModifiedBy>
  <cp:revision>1</cp:revision>
  <dcterms:created xsi:type="dcterms:W3CDTF">2026-09-08T12:15:49Z</dcterms:created>
  <dcterms:modified xsi:type="dcterms:W3CDTF">2026-09-08T12:15:49Z</dcterms:modified>
</cp:coreProperties>
</file>