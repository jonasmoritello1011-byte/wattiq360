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Crescimento comercial Leosol Energia Solar
FONTE: Wattiq 360 · Diagnóstico preenchido + Raio-X + pesquisa pública · setembro de 2026
Esta revisão combina três fontes diferentes: o diagnóstico preenchido dos últimos 30 dias, o Raio-X histórico de WhatsApp com corte em 10/09/2026 e a pesquisa pública consultada em 11/09/2026. Dados declarados, observações públicas e recomendações não devem ser confundidos. O objetivo é definir a primeira sequência de execução, com responsáveis e medição.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Leosol já transforma leads em contratos
FONTE: Diagnóstico preenchido · Leosol · 11/09/2026 · dados declarados dos últimos 30 dias
Os volumes são declarados pela Leosol. Cálculos: 70/100 = 70%; 30/70 = 42,9%; 10/30 = 33,3%; 10/100 = 10%. São razões entre volumes do período. Só serão conversões de uma mesma coorte depois de vincular entrada do lead, proposta e contrato. A diferença entre 70 qualificados e 30 propostas não equivale a 40 vendas perdidas.
Preservar a proposta em reunião e o atendimento rápido informado. Confirmar o tempo de resposta por logs e investigar os critérios de encaminhamento ao vendedor.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meta equivale a 12 contratos no ticket atual
FONTE: Diagnóstico preenchido · Leosol · 11/09/2026 · dados declarados dos últimos 30 dias
Faturamento mensal, em ordem de grandeza: entre R$ 80 mil e R$ 180 mil (R$ 1 a 2 milhões por ano), cruzando o diagnóstico declarado com o Raio-X comercial. Tratar como ordem de grandeza, não como número fechado — a incerteza é de quase 2×, o intervalo observado é de apenas 2 meses, e o número não tem qualquer ajuste de sazonalidade.
Meta de R$ 300 mil dividida pelo ticket de R$ 25 mil equivale a 12 contratos. Os 10 contratos do período implicam R$ 250 mil pela conta simples (10 × R$ 25 mil), mas essa multiplicação não comprova faturamento contábil, recebimento ou margem — por isso a estimativa acima, mais ampla, é a que deve ser usada como referência de faturamento real. As duas rotas de leads são cenários matemáticos, não previsões: 120 leads a 10% ou 100 leads a 12%.
O CPL de mídia é R$ 1.500 / 70 = R$ 21,43, condicionado à mesma janela e atribuição correta. Não calcular CAC pago dividindo mídia por todos os contratos, pois a origem das vendas não foi separada. O campo "Meta e ads" não esclarece quais plataformas recebem a verba.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começa pela continuidade da venda
FONTE: Diagnóstico preenchido · Leosol · 11/09/2026 · dados declarados dos últimos 30 dias + Raio-X Comercial
O diagnóstico preenchido confirma que as propostas já são apresentadas em reunião e incluem laudo, ART e memorial técnico. Também confirma ausência de sequência de follow-up, programa de indicação e manutenção recorrente.
Preço e crédito são motivos declarados pelo gestor. No Raio-X, 2 casos citam preço explicitamente maior e 14 têm trava de dinheiro/crédito. As fontes têm universos e métodos diferentes; uma não invalida a outra. Registrar motivo, etapa, evidência e próximo passo no CRM.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clientes podem alimentar três frentes
FONTE: Diagnóstico preenchido · Leosol · 11/09/2026 · dados declarados dos últimos 30 dias
450 é a base instalada total declarada. Os 36 clientes no Raio-X são um recorte dessa base, não um número adicional a somar. Selecionar 50 clientes para um piloto é uma meta de atividade proposta, não uma expectativa de vendas.
Resolver pendências antes de oferecer expansão ou pedir indicação. O interessado deve iniciar contato ou autorizar a apresentação. Eventual benefício por indicação convertida depende de regra e margem. Manutenção precisa de escopo, custo técnico e capacidade. Diferenciar serviço adicional de garantia e suporte já incluídos.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filas para trabalhar agora
FONTE: Raio-X Comercial · corte 10/09/2026 · histórico distinto do diagnóstico mensal
As três filas se sobrepõem: 15 aguardam retorno da empresa, 19 são quentes e 72 estão há 30 dias ou mais sem mensagem. Deduplicar antes de distribuir. Dos 15 retornos, 10 são clientes existentes e 5 prospects.
O Raio-X contém 160 registros, incluindo 2 perdidas e 1 pós-venda; não equivale aos 100 leads mensais. O total de R$ 530.049,74 tem 41 registros com valor e 119 sem valor, embora a abertura da fonte diga 42. Mistura valores citados, parcelas, concorrentes e estimativas por conta de luz × 19,5. Não usar como meta de recuperação.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praças pedem abordagens diferentes
FONTE: leosol.com.br · sindifranca.org.br · parauapebas.pa.gov.br · consulta 11/09/2026
O site informa matriz em Franca e filial em Parauapebas. O diagnóstico declara raio de 150 km sem definir o ponto de origem. Confirmar rotas por unidade antes de geolocalizar campanhas. DDD não confirma endereço da obra.
O perfil calçadista de Franca sustenta uma hipótese B2B. A Prefeitura de Parauapebas relatou em 2025 mais de 40 empresas no distrito industrial, um contexto para pesquisa, não prova de demanda solar. No Raio-X, comercial tem 6 quentes em 13 casos, mas há demandas de clientes existentes. Validar novas vendas, consumo e viabilidade antes de priorizar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Engenharia e economia já fazem parte da disputa
FONTE: flixsolar.com.br · maestrosolar.com.br · uniquearsolar.com.br · consulta 11/09/2026
A amostra reúne Flix e Maestro, em Franca, e Unique como referência regional de Ribeirão Preto. A comparação usa o que cada empresa anuncia, sem auditar execução, preço, conversão ou participação de mercado.
Flix destaca engenharia própria e simulação via WhatsApp. Maestro apresenta pós-venda e carregadores. Unique tem jornada comercial e manutenção preventiva. A resposta sugerida é demonstrar escopo, caso comparável e acompanhamento. Não afirmar que concorrentes são melhores ou que compram anúncios sem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Pós-venda pode ser oferta e canal de crescimento
FONTE: investsolar.com.br · linkedin.com/company/eco-engenharia-e-energia-solar · consulta 11/09/2026
A Invest Solar anuncia monitoramento inicial e uma assinatura posterior. Sua presença em Parauapebas consta no perfil corporativo (LinkedIn). Não adotamos como fatos suas alegações de liderança, premiação ou retorno financeiro.
A ECO Engenharia descreve construção civil, solar, homologação e manutenção, com atendimento em Parauapebas, Canaã e Eldorado. A oportunidade sugerida para a Leosol é testar serviço recorrente e aproximação com construção. Validar compromissos de suporte já contratados antes de cobrar por novas entregas.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site pode conectar melhor oferta, região e vendedor
FONTE: leosol.com.br · consulta 11/09/2026
O site oficial permite observar formulário de simulação, projetos, depoimentos e contatos das unidades. Não foi testado o envio de formulários ou a integração com o CRM.
O Instagram fornecido e o link compartilhado do Google não ficaram legíveis nesta consulta. Não foram verificados seguidores, engajamento, nota, avaliações ou frequência de postagem. Auditar com o gestor no kickoff. As ações nesses canais são recomendações, não defeitos comprovados.
O site também oferece assinatura de energia. Validar parceiro, cobertura, elegibilidade e remuneração antes de encaminhar leads para essa oferta.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Prioridade por evidência, esforço e capacidade
FONTE: Diagnóstico Leosol + Raio-X · priorização consultiva proposta
Prioridade qualitativa: reativação e indicação têm base concreta e menor dependência de nova mídia. Exigem trabalho comercial e possíveis custos, portanto não são gratuitas. Google local, parcerias e B2B precisam de teste, pois demanda e custo ainda não foram medidos.
As metas de 50 clientes, 10 parceiros e 20 contas são propostas de atividade. Separar indicação, orgânico e plataformas pagas no CRM. Confirmar se já existe Google Ads; se existir, o trabalho será otimizar, não inaugurar o canal. Comparar contratos e qualidade, não apenas quantidade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canais, com quem faz o quê — sem esperar por mais mídia
FONTE: Diagnóstico Leosol + Raio-X Comercial + ACI Franca · Sindifranca · ACIP · consulta 11/09/2026
Estas seis ações vêm do que já foi mapeado: 106 das 160 oportunidades do Raio-X ainda estão em aberto (15 aguardando a Leosol + 19 quentes + 72 dormentes, deduplicando sobreposições); a base de 450 clientes não tem programa de indicação; o Google Meu Negócio não foi localizado nesta consulta; e três portas institucionais têm acesso público confirmado — ACI Franca (Programa Empreender e Construfran), Sindifranca (indústria calçadista) e ACIP em Parauapebas (Café com Negócios).
São portas de acesso possíveis, não parceiros firmados — confirmar agenda e condições antes de prometer volume. Nenhuma delas exige aumento de verba de mídia; todas exigem uma pessoa dedicada, ainda que poucas horas por semana, para não recair só sobre o dono.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ciclo cabe em 15 dias
FONTE: Plano de ação proposto · base instalada e carteira histórica
Dono da execução: comercial Leosol. Wattiq apoia roteiro e CRM; engenharia assume demandas técnicas. Primeiro revisar a carteira, depois executar contatos e avaliar o piloto.
A regra de indicação deve esclarecer elegibilidade, evento que gera benefício, prazo, teto ligado à margem e duplicidades. O pedido de avaliação no Google é independente e não recebe incentivo. Para manutenção, mapear necessidades e custos antes de oferecer assinatura. Os 15 dias são uma proposta de calendário, sujeita à capacidade.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oferta, uma praça e uma próxima ação
FONTE: support.google.com/business · avaliações · consulta 11/09/2026
Concentrar o teste em uma praça, uma oferta, uma página e um responsável. Validar termos de busca, volume disponível, negativas e atribuição antes de investir. Não foram estimados CPC ou volume de buscas.
O piloto editorial sugere três conteúdos semanais: caso comprovável, dúvida de decisão/pagamento e prova de atendimento. Usar imagens e resultados autorizados. Medir contatos, reuniões e contratos.
Para avaliações no Google, pedir relatos autênticos, sem incentivo ou seleção por nota, conforme a orientação oficial. A indicação remunerada de um novo cliente não deve ser confundida com avaliação remunerada.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Redes locais podem abrir portas para o comercial
FONTE: acifranca.com.br · sindifranca.org.br · acipnet.com.br · consulta 11/09/2026
ACI Franca mantém o Programa Empreender e cita o Construfran. Sindifranca representa a indústria calçadista. ACIP divulga Café com Negócios e outros programas empresariais. São portas de aproximação, não parceiros firmados; confirmar agenda e condições de participação.
Proposta: mapear 10 parceiros e pesquisar 20 contas B2B por consumo, horário de operação, imóvel, estrutura, orçamento e acesso ao decisor. Wattiq apoia a abordagem; o gestor Leosol conduz as relações. Não presumir acesso a listas de clientes ou contratos com grandes mineradoras.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reunião precisa deixar um próximo passo
FONTE: Diagnóstico preenchido + Playbook Wattiq 360 · processo proposto
Preservar a reunião comercial. Ao final, registrar ação, responsável e data, com ciência do cliente. A IA entrega contexto e o vendedor aprofunda, sem repetir toda a qualificação.
Preço exige comparar escopo equivalente. Crédito exige alternativas reais e simulação sujeita à aprovação do parceiro financeiro, sem promessa de taxa, parcela ou aprovação. Assinatura de energia também depende de elegibilidade própria.
A cadência vem do Playbook e deve ser adaptada ao prazo, ao canal e à preferência do cliente. A melhoria proposta é a continuidade depois da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Testar novos canais com controle de investimento
FONTE: Plano proposto · verba de mídia declarada no diagnóstico
A distribuição de R$ 1.000 no canal validado e R$ 500 num teste de busca é um exemplo para aprovação, após conferir as contas e os resultados. Não dividir o teste por várias cidades e produtos. Se volume ou CPC impedirem aprendizado útil, redesenhar o teste e priorizar base e canais orgânicos.
Os R$ 1.500 são somente mídia. Não incluem honorários, criação, CRM, ferramentas, benefícios de indicação ou deslocamentos. Esses custos precisam de escopo. Escalar apenas com capacidade, contratos e margem. O teto de CAC depende de margem ainda não informada.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R$ 300 mil é o primeiro degrau. R$ 500–600 mil pede três mudanças, não mais leads
FONTE: Leitura consultiva · combina diagnóstico declarado, Raio-X e pesquisa pública · 11/09/2026
A conta, com o ticket residencial declarado de R$ 25 mil e as taxas de conversão do próprio diagnóstico (70% leads→qualificados, 42,9% qualificados→propostas, 33,3% propostas→contratos): R$ 500 mil exigem 20 contratos/mês, ou seja, 60 propostas, 140 qualificados e 200 leads. R$ 600 mil exigem 24 contratos, 72 propostas, 168 qualificados e 240 leads. Isso é mais que dobrar cada etapa do funil ao mesmo tempo, partindo de 100 leads e 30 propostas hoje.
Essa é uma extrapolação aritmética simples sobre dados declarados — não uma medição de capacidade real, e as taxas de conversão tendem a mudar (para pior ou para melhor) num volume tão maior. Ela serve para mostrar a ordem de grandeza do problema, não para prometer o número exato.
O ticket médio de referência para projetos comerciais/industriais (R$ 40 a 50 mil) é estimativa de mercado, não medição da Leosol — usar como direção, não como orçamento fechado. Subir o ticket médio reduz a quantidade de contratos necessários (de 20-24 para 10-15), mas não elimina a necessidade de mais capacidade de venda e de entrega técnica.
As três mudanças propostas — capacidade de venda, ticket via B2B, canais que não dependem do dono — não são alternativas entre si. As três precisam avançar juntas para o patamar de R$ 500-600 mil ser sustentável, não só atingido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Medir contratos por canal e por unidade
FONTE: Playbook Wattiq 360 + plano de ação Leosol
Acompanhar leads, qualificados, reuniões, propostas, contratos, ticket, margem, motivos de perda, tarefas vencidas e tempo de decisão por canal e unidade. Comparar coortes e janelas compatíveis.
Custo por qualificado = verba / qualificados atribuídos. CAC de mídia = verba / contratos atribuídos; o CAC completo inclui outros custos comerciais. Não dividir mídia por contratos de origens misturadas.
Wattiq estrutura processo, treinamento, agentes e gestão. Execução de mídia e integrações dependem do escopo. Leosol nomeia responsáveis, fornece acessos e executa atendimento, venda 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plano comercial que usa melhor os ativos da Leosol
FONTE: Wattiq 360 · método oficial + plano proposto para a Leosol
A proposta usa ativos já existentes: demanda, capacidade de fechar, documentação técnica e base instalada. O primeiro aceite deve definir praça piloto, responsáveis, metas de atividade e orçamento.
As seis frentes reproduzem o índice do Playbook oficial. Honorários não constam nos materiais e não foram inventados. Formalizar entregáveis, mídia, tecnologia e responsabilidades. Não prometer dois contratos adicionais, faturamento ou retorno em 90 dias.
Pergunta de fechamento: "Faz sentido começarmos pela organização da carteira e pelo piloto de indicação, com uma revisão dos resultados ao final do primeiro ciclo?"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E PLANO DE 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502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65960"/>
            <a:ext cx="111858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comercial
</a:t>
            </a:r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C62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Energia Solar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02920" y="3794760"/>
            <a:ext cx="1005840" cy="45720"/>
          </a:xfrm>
          <a:prstGeom prst="roundRect">
            <a:avLst/>
          </a:prstGeom>
          <a:solidFill>
            <a:srgbClr val="5B36C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0690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Canais de aquisição, concorrência regional e prioridades de execução</a:t>
            </a:r>
            <a:endParaRPr lang="en-US" sz="17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os próximos 90 dias.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Franca / SP + Parauapebas / PA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11335" y="5760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 · Diagnóstico preenchido + Raio-X + pesquisa pública · setembro de 2026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01 / 20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LINHA DE BASE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Leosol já transforma leads em contratos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59304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74520"/>
            <a:ext cx="225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578608"/>
            <a:ext cx="225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recebidos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944368"/>
            <a:ext cx="2256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30 dias, informado pela Leosol.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5104" y="1737360"/>
            <a:ext cx="2659304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6272" y="1874520"/>
            <a:ext cx="225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546272" y="2578608"/>
            <a:ext cx="225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Qualificados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46272" y="2944368"/>
            <a:ext cx="2256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dos leads recebidos.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1737360"/>
            <a:ext cx="2659304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8456" y="1874520"/>
            <a:ext cx="225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388456" y="2578608"/>
            <a:ext cx="225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apresentadas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388456" y="2944368"/>
            <a:ext cx="2256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42,9% sobre os qualificados.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9471" y="1737360"/>
            <a:ext cx="2659304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0639" y="1874520"/>
            <a:ext cx="225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9230639" y="2578608"/>
            <a:ext cx="225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assinados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30639" y="2944368"/>
            <a:ext cx="2256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33,3% sobre propostas. 10% sobre leads.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536432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931920"/>
            <a:ext cx="5364328" cy="1417320"/>
          </a:xfrm>
          <a:prstGeom prst="roundRect">
            <a:avLst>
              <a:gd name="adj" fmla="val 6452"/>
            </a:avLst>
          </a:prstGeom>
          <a:solidFill>
            <a:srgbClr val="ECE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1480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98848"/>
            <a:ext cx="490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em 2 minutos e proposta apresentada em reunião, segundo o diagnóstico.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24448" y="3977640"/>
            <a:ext cx="5090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CONSULTIVA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324448" y="4297680"/>
            <a:ext cx="509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Preservar essas práticas e investigar a passagem de qualificação para proposta e a continuidade depois da reunião.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preenchido · Leosol · 11/09/2026 · dados declarados dos últimos 30 dias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02 / 20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META E AQUISIÇÃO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meta equivale a 12 contratos no ticket atual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90195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514600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declarado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852928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por projeto.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2498" y="1737360"/>
            <a:ext cx="3606698" cy="1874520"/>
          </a:xfrm>
          <a:prstGeom prst="roundRect">
            <a:avLst>
              <a:gd name="adj" fmla="val 4878"/>
            </a:avLst>
          </a:prstGeom>
          <a:solidFill>
            <a:srgbClr val="F3EEFC"/>
          </a:solidFill>
          <a:ln w="12700">
            <a:solidFill>
              <a:srgbClr val="DDD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3666" y="190195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300" b="1" dirty="0">
                <a:solidFill>
                  <a:srgbClr val="C62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R$ 80–180 mil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493666" y="2514600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 mensal estimado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93666" y="2852928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Ordem de grandeza. Ver nota para o método e a incerteza.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2077" y="1737360"/>
            <a:ext cx="360669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83245" y="190195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283245" y="2514600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para chegar à meta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83245" y="2852928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R$ 25 mil = R$ 300 mil.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536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AQUISIÇÃO DECLARADA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133088"/>
            <a:ext cx="5364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R$ 1.500/mês em mídia e 70 leads pagos.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CPL de mídia estimado: R$ 21,43.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Outros 30 leads vêm de indicação/orgânico.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24448" y="3767328"/>
            <a:ext cx="5364328" cy="1554480"/>
          </a:xfrm>
          <a:prstGeom prst="roundRect">
            <a:avLst>
              <a:gd name="adj" fmla="val 4706"/>
            </a:avLst>
          </a:prstGeom>
          <a:solidFill>
            <a:srgbClr val="ECE7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53048" y="3931920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rotas matemáticas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279392"/>
            <a:ext cx="4907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leads × 10% = 12 contratos.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100 leads × 12% = 12 contratos.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53048" y="4864608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de referência. Validar coortes, ticket e capacidade de entrega.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preenchido · Leosol · 11/09/2026 · dados declarados dos últimos 30 dias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03 / 20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GARGALOS CONFIRMADOS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começa pela continuidade da venda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81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B97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PRESERVAR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 operacionais declarados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Resposta em cerca de 2 minutos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729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Proposta apresentada em reunião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48456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Laudo, ART e memorial técnico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23944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Base de 450 clientes instalados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24448" y="173736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3EEFC"/>
          </a:solidFill>
          <a:ln w="12700">
            <a:solidFill>
              <a:srgbClr val="DDD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8768" y="1938528"/>
            <a:ext cx="481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62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IMPLEMENTAR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2402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Lacunas declaradas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69748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Não existe sequência de follow-up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31729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Não existe indicação estruturada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3648456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Não existe manutenção recorrente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4123944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Preço e crédito aparecem como perdas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85855" cy="1051560"/>
          </a:xfrm>
          <a:prstGeom prst="roundRect">
            <a:avLst>
              <a:gd name="adj" fmla="val 5217"/>
            </a:avLst>
          </a:prstGeom>
          <a:solidFill>
            <a:srgbClr val="ECE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5029200"/>
            <a:ext cx="45720" cy="105156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120640"/>
            <a:ext cx="10774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e crédito precisam de tratamento comercial.
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e novos canais precisam de processo, responsável e mensuração.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preenchido · Leosol · 11/09/2026 · dados declarados dos últimos 30 dias + Raio-X Comercial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04 / 20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BASE INSTALADA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clientes podem alimentar três frentes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C62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8288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instalados declarados.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194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 mais concreto para começar sem ampliar a verba de anúncios.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04495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383280"/>
            <a:ext cx="32043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Solicitar apresentações a novos interessados, registrar origem e acompanhar até o contrato.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2498" y="288036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93666" y="304495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3666" y="3383280"/>
            <a:ext cx="32043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aumento de consumo, novos equipamentos ou outras unidades do cliente.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82077" y="288036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3245" y="304495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Serviços recorrentes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83245" y="3383280"/>
            <a:ext cx="32043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manutenção e monitoramento com escopo, custo técnico e preço definidos.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526280"/>
            <a:ext cx="11185855" cy="868680"/>
          </a:xfrm>
          <a:prstGeom prst="roundRect">
            <a:avLst>
              <a:gd name="adj" fmla="val 6316"/>
            </a:avLst>
          </a:prstGeom>
          <a:solidFill>
            <a:srgbClr val="ECE7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4526280"/>
            <a:ext cx="45720" cy="86868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617720"/>
            <a:ext cx="10774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piloto: revisar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clientes elegíveis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validar satisfação e necessidades e medir a resposta a cada oferta.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4864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é uma meta de atividade proposta. Não representa demanda comprovada nem número esperado de vendas.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preenchido · Leosol · 11/09/2026 · dados declarados dos últimos 30 dias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05 / 20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CARTEIRA EXISTENTE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filas para trabalhar agora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7452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45059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Aguardam a Leosol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77063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clientes e 5 prospects. Resolver retorno, visita ou informação.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2498" y="1737360"/>
            <a:ext cx="360669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3666" y="187452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493666" y="245059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Classificadas como quentes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93666" y="277063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intenção atual e agendar o próximo passo.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82077" y="1737360"/>
            <a:ext cx="360669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83245" y="187452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8283245" y="2450592"/>
            <a:ext cx="32043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30+ dias sem mensagem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83245" y="2770632"/>
            <a:ext cx="32043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com motivo, reprogramar ou encerrar com registro.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611880"/>
            <a:ext cx="536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inicial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7764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Deduplicar filas, separar suporte de venda e atribuir responsável e data. Revisar pendências diariamente.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24448" y="3520440"/>
            <a:ext cx="5364328" cy="1051560"/>
          </a:xfrm>
          <a:prstGeom prst="roundRect">
            <a:avLst>
              <a:gd name="adj" fmla="val 6957"/>
            </a:avLst>
          </a:prstGeom>
          <a:solidFill>
            <a:srgbClr val="ECE7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53048" y="3703320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de 160 estão no início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050792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dados faltantes e critérios para encaminhamento ao vendedor.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histórico: não somar aos 100 leads mensais. Os grupos se sobrepõem. R$ 530 mil na fonte é agregado de referência, não receita recuperável confirmada.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Comercial · corte 10/09/2026 · histórico distinto do diagnóstico mensal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06 / 20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PRIORIDADE TERRITORIAL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praças pedem abordagens diferentes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364328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81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FRANCA E ENTORNO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e base instalada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481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B2B com indústrias de calçados e negócios locais. Acionar contadores, construção e redes empresariais.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03320"/>
            <a:ext cx="4815688" cy="1371600"/>
          </a:xfrm>
          <a:prstGeom prst="roundRect">
            <a:avLst>
              <a:gd name="adj" fmla="val 5333"/>
            </a:avLst>
          </a:prstGeom>
          <a:solidFill>
            <a:srgbClr val="ECE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88620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Sinal da carteira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187952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DDD 16: 52 casos, 12 quentes.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Proporção de 23%, a validar por endereço.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24448" y="1737360"/>
            <a:ext cx="5364328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8768" y="1938528"/>
            <a:ext cx="481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PARAUAPEBAS E ENTORNO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2402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 com continuidade local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651760"/>
            <a:ext cx="481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com clínicas, academias, comércio e prestadores. Combinar prova regional com diagnóstico de pagamento.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98768" y="3703320"/>
            <a:ext cx="4815688" cy="1371600"/>
          </a:xfrm>
          <a:prstGeom prst="roundRect">
            <a:avLst>
              <a:gd name="adj" fmla="val 5333"/>
            </a:avLst>
          </a:prstGeom>
          <a:solidFill>
            <a:srgbClr val="ECE7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27368" y="388620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Sinal da carteira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27368" y="4187952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Pará: 80 casos, 5 quentes.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qualidade e progressão.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7150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em Franca e filial em Parauapebas constam no site. Raio declarado: 150 km; confirmar o ponto de origem e as rotas de cada unidade.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Leosol · Sindifranca · Prefeitura de Parauapebas · consulta 11/09/2026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07 / 20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CONCORRÊNCIA · SP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e economia já fazem parte da disputa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033635"/>
                <a:gridCol w="37747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Empresa / praça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Posicionamento público observado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Resposta proposta para a Leosol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Flix Solar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Franca</a:t>
                      </a:r>
                      <a:endParaRPr lang="en-US" sz="12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Engenharia própria, projetos e homologação. Entrada por simulação no WhatsApp.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Mostrar documentação em linguagem simples e associar a um caso verificável do segmento.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Maestro Solar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Franca</a:t>
                      </a:r>
                      <a:endParaRPr lang="en-US" sz="12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Orçamento personalizado, pós-venda e instalação de carregador veicular.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Trabalhar expansão na base. Validar capacidade antes de oferecer novos produtos.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Unique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Ribeirão Preto / região</a:t>
                      </a:r>
                      <a:endParaRPr lang="en-US" sz="12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Página específica para empresas e oferta de manutenção preventiva.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Criar jornada comercial própria e piloto de serviço recorrente com escopo claro.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16052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ECE7F7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4160520"/>
            <a:ext cx="45720" cy="77724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251960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ART é um ativo.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diferenciar, é preciso demonstrar o que o projeto entrega e como a Leosol acompanha o cliente.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de comunicação pública. Não é ranking de qualidade, preço, participação de mercado ou desempenho.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Flix Solar · Maestro Solar · Unique · consulta 11/09/2026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08 / 20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CONCORRÊNCIA · PA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Pós-venda pode ser oferta e canal de crescimento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033635"/>
                <a:gridCol w="37747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Empresa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Posicionamento público observado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Ação proposta para a Leosol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Invest Solar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Presença em Parauapebas</a:t>
                      </a:r>
                      <a:endParaRPr lang="en-US" sz="12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Divulga acompanhamento de geração e assinatura após o período inicial de monitoramento.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Desenhar manutenção recorrente para a base, com entrega mensurável e custo de atendimento.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ECO Engenharia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36C8"/>
                          </a:solidFill>
                        </a:rPr>
                        <a:t>Parauapebas</a:t>
                      </a:r>
                      <a:endParaRPr lang="en-US" sz="12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Apresenta construção civil, solar, homologação e manutenção. Cita Canaã e Eldorado no atendimento.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Prospectar parceiros de construção e organizar rotas por praça, com escopo e prazo definidos.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069080"/>
            <a:ext cx="5364328" cy="1417320"/>
          </a:xfrm>
          <a:prstGeom prst="roundRect">
            <a:avLst>
              <a:gd name="adj" fmla="val 5161"/>
            </a:avLst>
          </a:prstGeom>
          <a:solidFill>
            <a:srgbClr val="ECE7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4251960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9432"/>
            <a:ext cx="4907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 suporte e manutenção em uma jornada contínua de relacionamento, retenção e indicação.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4160520"/>
            <a:ext cx="5090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NA COMPARAÇÃO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4480560"/>
            <a:ext cx="509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Leosol já promete acompanhamento no site. O piloto precisa acrescentar entregas, respeitando o que já foi contratado.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Invest Solar · ECO Engenharia · Invest · unidades · consulta 11/09/2026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09 / 20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PRESENÇA DIGITAL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site pode conectar melhor oferta, região e vendedor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3240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· OBSERVADO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estrutura para captação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0360"/>
            <a:ext cx="32409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com formulário de simulação, projetos por perfil, depoimentos e contatos das duas unidades.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32409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Ação: testar jornadas por região e objetivo, com origem registrada no CRM.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2498" y="173736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75378" y="1920240"/>
            <a:ext cx="3240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· A VALIDAR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475378" y="224028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que abre conversa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75378" y="2880360"/>
            <a:ext cx="32409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Recomendar prova local, perguntas sobre pagamento e chamadas para diagnóstico.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75378" y="3977640"/>
            <a:ext cx="32409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Validar: bio, destaques, link, conteúdo recente e leads gerados.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82077" y="173736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64957" y="1920240"/>
            <a:ext cx="3240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A VALIDAR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264957" y="224028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com intenção local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64957" y="2880360"/>
            <a:ext cx="32409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serviços, área atendida, fotos, avaliações e encaminhamento para a unidade certa.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64957" y="3977640"/>
            <a:ext cx="32409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Medir: contatos, qualificados e contratos por origem.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1663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e link compartilhado do Google não ficaram legíveis nesta consulta. Não foram verificados seguidores, engajamento, nota ou quantidade de avaliações.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Leosol · consulta 11/09/2026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10 / 20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CANAIS DE AQUISIÇÃO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por evidência, esforço e capacidade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4698059"/>
                <a:gridCol w="310451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Prioridade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Canal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Por que testar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Primeira entrega / indicador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P0 · agora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Reativação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Há interesse e pendências registrados.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Fila deduplicada / reuniões retomadas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P0 · agora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Indicação da base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450 clientes; programa inexistente.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Piloto com 50 elegíveis / indicações qualificadas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P1 · 30 dias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Google local + site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Captar intenção na praça efetivamente atendida.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Jornada local / contatos e propostas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P1 · 30 dias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Parcerias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Acesso por confiança e relacionamento regional.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10 parceiros mapeados / leads por parceiro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P2 · 30–60 dias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B2B segmentado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Sinal no comercial e perfis regionais aderentes.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20 contas-alvo / diagnósticos com decisor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36C8"/>
                          </a:solidFill>
                        </a:rPr>
                        <a:t>P2 · após medição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526"/>
                          </a:solidFill>
                        </a:rPr>
                        <a:t>Mídia segmentada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70% dos leads informados vêm de anúncios.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526"/>
                          </a:solidFill>
                        </a:rPr>
                        <a:t>Teste de uma oferta / custo por qualificado</a:t>
                      </a:r>
                      <a:endParaRPr lang="en-US" sz="10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6235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de atividade propostas, a ajustar à capacidade. Prioridade não representa ROI calculado. Mídia, indicação e orgânico devem ter atribuição separada.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Leosol + Raio-X · priorização consultiva proposta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11 / 20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10B / SEIS AÇÕES ESTA SEMANA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canais, com quem faz o quê — sem esperar por mais mídia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8585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698059"/>
                <a:gridCol w="4018916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Canal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Ação concreta nesta semana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F6A7D"/>
                          </a:solidFill>
                        </a:rPr>
                        <a:t>Quem faz (sem tirar o dono da venda)</a:t>
                      </a:r>
                      <a:endParaRPr lang="en-US" sz="9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Base histórica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106 de 160 em aberto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Retomar as 19 quentes e as 15 pendências — contato direto, hoje.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Alguém tria e agenda; o dono só entra na negociação.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Indicação da base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450 clientes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Criar uma regra simples de recompensa e pedir a 50 clientes elegíveis.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Uma pessoa liga ou manda mensagem; o dono aprova a regra uma vez.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Google Meu Negócio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Reivindicar o perfil, publicar 5 obras com potência e geração, pedir avaliação.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Qualquer pessoa da equipe com acesso às fotos das obras.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ACI Franca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Empreender / Construfran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Marcar uma roda de diagnóstico com lojistas e construtoras.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Dono ou gestor comercial — uma reunião.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Sindifranca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indústria calçadista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Levar uma simulação de economia para três fábricas associadas.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Dono, com apoio técnico para o estudo.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ACIP Parauapebas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36C8"/>
                          </a:solidFill>
                        </a:rPr>
                        <a:t>Café com Negócios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Apresentar um caso local em um encontro da rede.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1526"/>
                          </a:solidFill>
                        </a:rPr>
                        <a:t>Gestor da unidade de Parauapebas, ou o dono na próxima visita.</a:t>
                      </a:r>
                      <a:endParaRPr lang="en-US" sz="11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440680"/>
            <a:ext cx="11185855" cy="594360"/>
          </a:xfrm>
          <a:prstGeom prst="roundRect">
            <a:avLst>
              <a:gd name="adj" fmla="val 9231"/>
            </a:avLst>
          </a:prstGeom>
          <a:solidFill>
            <a:srgbClr val="ECE7F7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5440680"/>
            <a:ext cx="45720" cy="59436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5532120"/>
            <a:ext cx="10774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dessas seis ações espera por mais orçamento de mídia.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competem pelo tempo de alguém que não seja só o dono.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1264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Ordenado pelo que já existe (base e carteira) antes do que precisa ser construído (parcerias institucionais). Metas de atividade, não de venda.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Leosol + Raio-X + pesquisa pública · priorização consultiva proposta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12 / 20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P0 · BASE E INDICAÇÃO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ciclo cabe em 15 dias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920240"/>
            <a:ext cx="32043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1–3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94560"/>
            <a:ext cx="32043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as listas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9748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Deduplicar retornos e quentes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3264408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Separar suporte, venda e financeiro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831336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Selecionar 50 clientes para o piloto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398264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Definir responsável e próxima ação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2498" y="1737360"/>
            <a:ext cx="3606698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3666" y="1920240"/>
            <a:ext cx="32043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4–10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493666" y="2194560"/>
            <a:ext cx="32043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conversas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93666" y="269748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Resolver as pendências da empresa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493666" y="3264408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Confirmar interesse e prazo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493666" y="3831336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Perguntar sobre aumento de consumo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93666" y="4398264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Convidar à indicação com regra clara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82077" y="1737360"/>
            <a:ext cx="3606698" cy="3566160"/>
          </a:xfrm>
          <a:prstGeom prst="roundRect">
            <a:avLst>
              <a:gd name="adj" fmla="val 2564"/>
            </a:avLst>
          </a:prstGeom>
          <a:solidFill>
            <a:srgbClr val="F3EEFC"/>
          </a:solidFill>
          <a:ln w="12700">
            <a:solidFill>
              <a:srgbClr val="DDD2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83245" y="1920240"/>
            <a:ext cx="32043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11–15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283245" y="2194560"/>
            <a:ext cx="32043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e ajustar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83245" y="2697480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Contatos efetivos e reuniões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283245" y="3264408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Indicações com perfil elegível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83245" y="3831336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Avaliações técnicas de expansão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283245" y="4398264"/>
            <a:ext cx="32043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Propostas, contratos e margem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Dono: comercial Leosol. Apoio: Wattiq no roteiro e CRM; engenharia nas demandas técnicas. Recompensa por indicação convertida depende de margem e aprovação.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ação proposto · base instalada e carteira histórica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13 / 20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P1 · GOOGLE, SITE E INSTAGRAM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oferta, uma praça e uma próxima ação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local e busca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“energia solar em Franca” ou a praça validada, com uma página correspondente.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546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perfil, fotos e serviços. Pedir avaliações autênticas após atendimento.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2498" y="1737360"/>
            <a:ext cx="360669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5378" y="1920240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e WhatsApp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75378" y="233172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perfil atendido, prova local e o que a avaliação entrega.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475378" y="31546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Encaminhar à unidade certa, preservando campanha, contexto e horário.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2077" y="1737360"/>
            <a:ext cx="360669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64957" y="1920240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e remarketing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64957" y="233172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semanal: um caso, um conteúdo sobre dúvida e uma prova de atendimento.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64957" y="31546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Chamada única: agendar avaliação. Medir leads e reuniões, além do alcance.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ECE7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4297680"/>
            <a:ext cx="45720" cy="77724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389120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de convite: 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“Seu consumo aumentou? Avaliamos se ampliar seu sistema faz sentido.”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2120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proposto. Verba pequena pede teste concentrado. Conteúdo e oferta dependem de casos autorizados e capacidade real de atendimento.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Google · avaliações · consulta 11/09/2026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14 / 20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P1–P2 · PARCERIAS E B2B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locais podem abrir portas para o comercial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698059"/>
                <a:gridCol w="36531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Praça / acesso a explorar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Público-alvo sugerido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Proposta de entrada</a:t>
                      </a:r>
                      <a:endParaRPr lang="en-US" sz="100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Franca · ACI Franca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Empreender e Construfran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Lojas de materiais, construtoras, arquitetos e negócios locais.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Roda de diagnóstico e fluxo de indicação rastreado.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Franca · Sindifranca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Articulação institucional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Indústrias de calçados e atividades relacionadas, conforme perfil de consumo.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Conversa sobre custos de energia com estudo individual de viabilidade.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Parauapebas · ACIP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B36C8"/>
                          </a:solidFill>
                        </a:rPr>
                        <a:t>Café com Negócios / rede local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Comércio, clínicas, academias e prestadores com imóvel e decisão acessíveis.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Apresentação de caso local e agenda de diagnósticos.</a:t>
                      </a:r>
                      <a:endParaRPr lang="en-US" sz="1150" dirty="0"/>
                    </a:p>
                  </a:txBody>
                  <a:tcPr marL="101600" marR="101600" marT="101600" marB="1016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251960"/>
            <a:ext cx="11185855" cy="822960"/>
          </a:xfrm>
          <a:prstGeom prst="roundRect">
            <a:avLst>
              <a:gd name="adj" fmla="val 6667"/>
            </a:avLst>
          </a:prstGeom>
          <a:solidFill>
            <a:srgbClr val="ECE7F7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4251960"/>
            <a:ext cx="45720" cy="82296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343400"/>
            <a:ext cx="10774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proposto: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parceiros mapeados + 20 contas B2B pesquisadas.
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Avançar somente com consumo, responsável pela decisão e viabilidade identificados.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são portas de acesso possíveis, não parceiros firmados. Condições de participação e agenda devem ser confirmadas.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ACI Franca · Sindifranca · ACIP · consulta 11/09/2026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15 / 20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PROCESSO DE VENDA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reunião precisa deixar um próximo passo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3736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e crédito, com diagnóstico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53288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escopo, equipamento, serviço e condições equivalentes.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299384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99384" y="253288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elegibilidade e testar alternativas reais com o parceiro financeiro.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47472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767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participantes, dúvida principal e prazo.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99384" y="347472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Handoff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299384" y="3767328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entrega contexto, responsável e ação com data.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24448" y="1737360"/>
            <a:ext cx="5364328" cy="4114800"/>
          </a:xfrm>
          <a:prstGeom prst="roundRect">
            <a:avLst>
              <a:gd name="adj" fmla="val 2222"/>
            </a:avLst>
          </a:prstGeom>
          <a:solidFill>
            <a:srgbClr val="F3EEFC"/>
          </a:solidFill>
          <a:ln w="12700">
            <a:solidFill>
              <a:srgbClr val="DDD2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92024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Cadência proposta após reunião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98768" y="2761488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98768" y="23957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421728" y="2395728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e ação acordada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98768" y="3182112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8768" y="2816352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21728" y="2816352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 e cenário do cliente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98768" y="3602736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98768" y="323697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21728" y="3236976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comparável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98768" y="4023360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98768" y="36576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21728" y="3657600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Objeção principal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98768" y="4443984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98768" y="4078224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21728" y="4078224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avanço ou espera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98768" y="4864608"/>
            <a:ext cx="4815688" cy="0"/>
          </a:xfrm>
          <a:prstGeom prst="line">
            <a:avLst/>
          </a:prstGeom>
          <a:noFill/>
          <a:ln w="6350">
            <a:solidFill>
              <a:srgbClr val="E6E2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98768" y="449884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21728" y="4498848"/>
            <a:ext cx="3992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Reativação com motivo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598768" y="507492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ao prazo e ao canal do cliente. Vendedor conduz negociação e decisão.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preenchido + Playbook Wattiq 360 · processo proposto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16 / 20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EXECUÇÃO · 90 DIAS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novos canais com controle de investimento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06698" cy="374904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01952"/>
            <a:ext cx="32409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 dias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7627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e medir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33472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Revisar filas e base instalada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17520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Implantar follow-up e atribuição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401568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Executar piloto de indicação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85616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Auditar perfis e jornadas locais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169664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Mapear 10 parceiros e custos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3240938" cy="914400"/>
          </a:xfrm>
          <a:prstGeom prst="roundRect">
            <a:avLst>
              <a:gd name="adj" fmla="val 6000"/>
            </a:avLst>
          </a:prstGeom>
          <a:solidFill>
            <a:srgbClr val="ECE7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0392" y="4553712"/>
            <a:ext cx="2911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avanço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" y="480060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revisados com próxima ação e origem. Relatório do piloto concluído.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2498" y="1737360"/>
            <a:ext cx="3606698" cy="374904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75378" y="1901952"/>
            <a:ext cx="32409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31–60 dias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75378" y="217627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aquisição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75378" y="2633472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Uma praça e uma oferta em busca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475378" y="3017520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Abordar 20 contas B2B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475378" y="3401568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Ativar parceria piloto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475378" y="3785616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Testar manutenção elegível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475378" y="4169664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Comparar custo e qualidade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75378" y="4434840"/>
            <a:ext cx="3240938" cy="914400"/>
          </a:xfrm>
          <a:prstGeom prst="roundRect">
            <a:avLst>
              <a:gd name="adj" fmla="val 6000"/>
            </a:avLst>
          </a:prstGeom>
          <a:solidFill>
            <a:srgbClr val="ECE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39970" y="4553712"/>
            <a:ext cx="2911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avanço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639970" y="480060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Reuniões com perfil e custos mensurados. Aprovação técnica e comercial.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82077" y="1737360"/>
            <a:ext cx="3606698" cy="374904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4957" y="1901952"/>
            <a:ext cx="32409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61–90 dias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64957" y="217627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Concentrar esforço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64957" y="2633472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Reforçar canais com resultado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64957" y="3017520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Revisar propostas e crédito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264957" y="3401568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Treinar objeções recorrentes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264957" y="3785616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Comparar coortes por unidade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4957" y="4169664"/>
            <a:ext cx="3240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Ajustar orçamento e capacidade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64957" y="4434840"/>
            <a:ext cx="3240938" cy="914400"/>
          </a:xfrm>
          <a:prstGeom prst="roundRect">
            <a:avLst>
              <a:gd name="adj" fmla="val 6000"/>
            </a:avLst>
          </a:prstGeom>
          <a:solidFill>
            <a:srgbClr val="ECE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29549" y="4553712"/>
            <a:ext cx="2911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avanço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29549" y="480060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apoiada em contratos, margem e capacidade de atender.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56235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 atual: R$ 1.500/mês. Exemplo a aprovar: R$ 1.000 no canal validado + R$ 500 em um teste de busca. Sem aumento automático do orçamento.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proposto · verba de mídia declarada no diagnóstico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17 / 20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15B / O PRÓXIMO PATAMAR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R$ 300 mil é o primeiro degrau. R$ 500–600 mil pede três mudanças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3EEFC"/>
          </a:solidFill>
          <a:ln w="12700">
            <a:solidFill>
              <a:srgbClr val="DDD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874520"/>
            <a:ext cx="4852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TUDO FICAR IGUAL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167128"/>
            <a:ext cx="4852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ticket residencial de hoje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532888"/>
            <a:ext cx="485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R$ 500–600 mil exigem 20 a 24 contratos/mês — nas taxas atuais, isso é 60 a 72 propostas, 140 a 168 qualificados e 200 a 240 leads/mês.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172968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os 100 leads e 30 propostas de hoje: mais que dobrar cada etapa do funil, ao mesmo tempo.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324448" y="169164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0480" y="1874520"/>
            <a:ext cx="4852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TETO DE UMA PESSOA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580480" y="2167128"/>
            <a:ext cx="4852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isso não cabe numa agenda só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0480" y="2532888"/>
            <a:ext cx="485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Diagnosticar, apresentar, negociar, fechar e acompanhar a entrega de 60 a 72 propostas por mês não cabe na agenda de quem também dirige a empresa.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80480" y="3172968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teto observado hoje é de 30 propostas/mês, feitas por uma pessoa.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611880"/>
            <a:ext cx="11185855" cy="658368"/>
          </a:xfrm>
          <a:prstGeom prst="roundRect">
            <a:avLst>
              <a:gd name="adj" fmla="val 8333"/>
            </a:avLst>
          </a:prstGeom>
          <a:solidFill>
            <a:srgbClr val="ECE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3611880"/>
            <a:ext cx="45720" cy="658368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703320"/>
            <a:ext cx="10774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R$ 500–600 mil não vem de girar a mesma engrenagem mais rápido. 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 três mudanças ao mesmo tempo — não de escolher uma.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59943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Mais um par de mãos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834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assume a qualificação. Quando o volume justificar, entra um segundo vendedor ou um closer por praça.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92498" y="443484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75378" y="459943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Ticket maior via B2B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75378" y="49834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Combinar residencial com projetos comerciais e industriais em Franca e Parauapebas, usando o laudo, ART e memorial já emitidos.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2077" y="4434840"/>
            <a:ext cx="360669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64957" y="4599432"/>
            <a:ext cx="324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Canais sem depender do dono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64957" y="498348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 estruturada, parcerias institucionais e presença digital geram lead sem consumir a agenda dele.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estratégica, não cronograma fechado. O ritmo depende de quando a capacidade — gente e engenharia — acompanha a demanda.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consultiva · combina diagnóstico, Raio-X e pesquisa pública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18 / 20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GESTÃO E RESPONSABILIDADES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contratos por canal e por unidade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94560"/>
                <a:gridCol w="633953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Frente</a:t>
                      </a:r>
                      <a:endParaRPr lang="en-US" sz="10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Responsável principal</a:t>
                      </a:r>
                      <a:endParaRPr lang="en-US" sz="10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F6A7D"/>
                          </a:solidFill>
                        </a:rPr>
                        <a:t>Entrega e indicador</a:t>
                      </a:r>
                      <a:endParaRPr lang="en-US" sz="100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1526"/>
                          </a:solidFill>
                        </a:rPr>
                        <a:t>Carteira e follow-up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F6A7D"/>
                          </a:solidFill>
                        </a:rPr>
                        <a:t>Comercial Leosol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Próximas ações em dia; reuniões retomadas; contratos.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1526"/>
                          </a:solidFill>
                        </a:rPr>
                        <a:t>Campanhas e atribuição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F6A7D"/>
                          </a:solidFill>
                        </a:rPr>
                        <a:t>Marketing + Wattiq*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Origem registrada; custo por qualificado e por proposta.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1526"/>
                          </a:solidFill>
                        </a:rPr>
                        <a:t>Indicação e parceiros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F6A7D"/>
                          </a:solidFill>
                        </a:rPr>
                        <a:t>Gestor Leosol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Parceiros ativos; indicações elegíveis; vendas por origem.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1526"/>
                          </a:solidFill>
                        </a:rPr>
                        <a:t>Manutenção e expansão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F6A7D"/>
                          </a:solidFill>
                        </a:rPr>
                        <a:t>Engenharia Leosol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Escopo, custo técnico, margem e capacidade.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1526"/>
                          </a:solidFill>
                        </a:rPr>
                        <a:t>CRM, treinamento e rotina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F6A7D"/>
                          </a:solidFill>
                        </a:rPr>
                        <a:t>Wattiq + gestor Leosol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526"/>
                          </a:solidFill>
                        </a:rPr>
                        <a:t>Dashboard; revisão semanal de 30min; ação e prazo.</a:t>
                      </a:r>
                      <a:endParaRPr lang="en-US" sz="1150" dirty="0"/>
                    </a:p>
                  </a:txBody>
                  <a:tcPr marL="88900" marR="88900" marT="88900" marB="88900" anchor="t">
                    <a:lnL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93776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ECE7F7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4937760"/>
            <a:ext cx="45720" cy="77724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5029200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declarada: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R$ 300 mil/mês.
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ticket, contratos, margem e tempo de decisão, além do número de leads.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*Divisão de execução a formalizar. Fechamento por canal exige vincular contrato à origem e comparar períodos compatíveis.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 Wattiq 360 + plano de ação Leosol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19 / 20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6711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WATTIQ 360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0271455" y="365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comercial que usa melhor os ativos da Leosol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5850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</a:t>
            </a:r>
            <a:pPr indent="0" marL="0">
              <a:buNone/>
            </a:pPr>
            <a:r>
              <a:rPr lang="en-US" sz="340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68880"/>
            <a:ext cx="5850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instalada, aquisição regional e vendas no mesmo processo de gestão.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ciclo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3246120"/>
            <a:ext cx="4204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e indicação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033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ciclo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3703320"/>
            <a:ext cx="4204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local, parceiros e B2B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60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ciclo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4160520"/>
            <a:ext cx="4204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dos canais validados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800600"/>
            <a:ext cx="5850468" cy="1005840"/>
          </a:xfrm>
          <a:prstGeom prst="roundRect">
            <a:avLst>
              <a:gd name="adj" fmla="val 5455"/>
            </a:avLst>
          </a:prstGeom>
          <a:solidFill>
            <a:srgbClr val="ECE7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4800600"/>
            <a:ext cx="45720" cy="1005840"/>
          </a:xfrm>
          <a:prstGeom prst="rect">
            <a:avLst/>
          </a:prstGeom>
          <a:solidFill>
            <a:srgbClr val="C62F9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892040"/>
            <a:ext cx="54389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objetivo é aproximar a operação da meta com </a:t>
            </a:r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continuidade e fontes de clientes mensuráveis.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02028" y="1783080"/>
            <a:ext cx="4786747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6E2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6348" y="2011680"/>
            <a:ext cx="42381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DO PLAYBOOK OFICIAL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7176348" y="235915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Diagnóstico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76348" y="272491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Geração de Demanda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6348" y="309067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Qualificação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176348" y="345643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Papel do Vendedor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76348" y="382219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O Vendedor Após a Qualificação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6348" y="4187952"/>
            <a:ext cx="42381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7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Gestão Semanal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76348" y="4617720"/>
            <a:ext cx="4238107" cy="1097280"/>
          </a:xfrm>
          <a:prstGeom prst="roundRect">
            <a:avLst>
              <a:gd name="adj" fmla="val 6667"/>
            </a:avLst>
          </a:prstGeom>
          <a:solidFill>
            <a:srgbClr val="5B36C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04948" y="4773168"/>
            <a:ext cx="37809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para o kickoff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4948" y="5074920"/>
            <a:ext cx="37809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praça piloto, responsáveis, metas de atividade e orçamento do primeiro ciclo.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6455664"/>
            <a:ext cx="11185855" cy="0"/>
          </a:xfrm>
          <a:prstGeom prst="line">
            <a:avLst/>
          </a:prstGeom>
          <a:noFill/>
          <a:ln w="9525">
            <a:solidFill>
              <a:srgbClr val="E6E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6510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F6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Wattiq 360 · método oficial + plano proposto para a Leosol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10225735" y="6510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B3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LEOSOL · 20 / 20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360 — LEOSOL</dc:title>
  <dc:subject>PptxGenJS Presentation</dc:subject>
  <dc:creator>Wattiq</dc:creator>
  <cp:lastModifiedBy>Wattiq</cp:lastModifiedBy>
  <cp:revision>1</cp:revision>
  <dcterms:created xsi:type="dcterms:W3CDTF">2026-09-11T19:01:37Z</dcterms:created>
  <dcterms:modified xsi:type="dcterms:W3CDTF">2026-09-11T19:01:37Z</dcterms:modified>
</cp:coreProperties>
</file>